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257" r:id="rId2"/>
    <p:sldId id="545" r:id="rId3"/>
    <p:sldId id="546" r:id="rId4"/>
    <p:sldId id="549" r:id="rId5"/>
    <p:sldId id="548" r:id="rId6"/>
    <p:sldId id="553" r:id="rId7"/>
    <p:sldId id="547" r:id="rId8"/>
    <p:sldId id="551" r:id="rId9"/>
    <p:sldId id="552" r:id="rId10"/>
    <p:sldId id="554" r:id="rId11"/>
    <p:sldId id="550" r:id="rId12"/>
    <p:sldId id="557" r:id="rId13"/>
    <p:sldId id="555" r:id="rId14"/>
    <p:sldId id="558" r:id="rId15"/>
    <p:sldId id="598" r:id="rId16"/>
    <p:sldId id="561" r:id="rId17"/>
    <p:sldId id="560" r:id="rId18"/>
    <p:sldId id="562" r:id="rId19"/>
    <p:sldId id="563" r:id="rId20"/>
    <p:sldId id="564" r:id="rId21"/>
    <p:sldId id="565" r:id="rId22"/>
    <p:sldId id="566" r:id="rId23"/>
    <p:sldId id="567" r:id="rId24"/>
    <p:sldId id="568" r:id="rId25"/>
    <p:sldId id="569" r:id="rId26"/>
    <p:sldId id="570" r:id="rId27"/>
    <p:sldId id="571" r:id="rId28"/>
    <p:sldId id="572" r:id="rId29"/>
    <p:sldId id="609" r:id="rId30"/>
    <p:sldId id="610" r:id="rId31"/>
    <p:sldId id="611" r:id="rId32"/>
    <p:sldId id="612" r:id="rId33"/>
    <p:sldId id="613" r:id="rId34"/>
    <p:sldId id="614" r:id="rId35"/>
    <p:sldId id="615" r:id="rId36"/>
    <p:sldId id="575" r:id="rId37"/>
    <p:sldId id="576" r:id="rId38"/>
    <p:sldId id="603" r:id="rId39"/>
    <p:sldId id="602" r:id="rId40"/>
    <p:sldId id="605" r:id="rId41"/>
    <p:sldId id="606" r:id="rId42"/>
    <p:sldId id="607" r:id="rId43"/>
    <p:sldId id="604" r:id="rId44"/>
    <p:sldId id="577" r:id="rId45"/>
    <p:sldId id="578" r:id="rId46"/>
    <p:sldId id="579" r:id="rId47"/>
    <p:sldId id="580" r:id="rId48"/>
    <p:sldId id="581" r:id="rId49"/>
    <p:sldId id="582" r:id="rId50"/>
    <p:sldId id="583" r:id="rId51"/>
    <p:sldId id="587" r:id="rId52"/>
    <p:sldId id="601" r:id="rId53"/>
    <p:sldId id="585" r:id="rId54"/>
    <p:sldId id="586" r:id="rId55"/>
    <p:sldId id="588" r:id="rId56"/>
    <p:sldId id="591" r:id="rId57"/>
    <p:sldId id="592" r:id="rId58"/>
    <p:sldId id="593" r:id="rId59"/>
    <p:sldId id="594" r:id="rId60"/>
    <p:sldId id="599" r:id="rId61"/>
    <p:sldId id="600" r:id="rId62"/>
    <p:sldId id="595" r:id="rId63"/>
    <p:sldId id="596" r:id="rId64"/>
    <p:sldId id="608"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9100"/>
    <a:srgbClr val="548235"/>
    <a:srgbClr val="EEB2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00" autoAdjust="0"/>
    <p:restoredTop sz="95374"/>
  </p:normalViewPr>
  <p:slideViewPr>
    <p:cSldViewPr snapToGrid="0">
      <p:cViewPr varScale="1">
        <p:scale>
          <a:sx n="122" d="100"/>
          <a:sy n="122" d="100"/>
        </p:scale>
        <p:origin x="78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675D4-F5F7-9C49-94C0-FB829D1C6B90}" type="datetimeFigureOut">
              <a:rPr lang="en-US" smtClean="0"/>
              <a:t>10/31/25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461AD-FDBE-8E4B-A15E-091E7AC08CD0}" type="slidenum">
              <a:rPr lang="en-US" smtClean="0"/>
              <a:t>‹#›</a:t>
            </a:fld>
            <a:endParaRPr lang="en-US"/>
          </a:p>
        </p:txBody>
      </p:sp>
    </p:spTree>
    <p:extLst>
      <p:ext uri="{BB962C8B-B14F-4D97-AF65-F5344CB8AC3E}">
        <p14:creationId xmlns:p14="http://schemas.microsoft.com/office/powerpoint/2010/main" val="70918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E461AD-FDBE-8E4B-A15E-091E7AC08CD0}" type="slidenum">
              <a:rPr lang="en-US" smtClean="0"/>
              <a:t>1</a:t>
            </a:fld>
            <a:endParaRPr lang="en-US"/>
          </a:p>
        </p:txBody>
      </p:sp>
    </p:spTree>
    <p:extLst>
      <p:ext uri="{BB962C8B-B14F-4D97-AF65-F5344CB8AC3E}">
        <p14:creationId xmlns:p14="http://schemas.microsoft.com/office/powerpoint/2010/main" val="3633305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12165-2B1D-D511-6F97-B1B5FEDDE8F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11C2D4B-D4C3-077A-B40F-7172661DF0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CC1DBC2-27C5-B3B7-A234-D959E0D80830}"/>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5" name="Footer Placeholder 4">
            <a:extLst>
              <a:ext uri="{FF2B5EF4-FFF2-40B4-BE49-F238E27FC236}">
                <a16:creationId xmlns:a16="http://schemas.microsoft.com/office/drawing/2014/main" id="{989ADB8E-B7F3-7355-6C4B-3693AC8863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CD230-EBE0-B0D4-7146-08DB6997EE11}"/>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169131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B135E-94E1-2FCE-D652-96E7BC36D6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F1D7AB-1E48-7740-54FA-766430C39C7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8CCF4EB-69B5-7173-58A0-5114180873C5}"/>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5" name="Footer Placeholder 4">
            <a:extLst>
              <a:ext uri="{FF2B5EF4-FFF2-40B4-BE49-F238E27FC236}">
                <a16:creationId xmlns:a16="http://schemas.microsoft.com/office/drawing/2014/main" id="{317DB3E4-7AAF-F931-70D6-0F926D330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D1712-DF77-1BF3-7403-89076B5AC753}"/>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260294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55CC2-BB84-7E27-B90B-2E44CFE478F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CB9AFCC-818C-9BC0-24F5-A79662935C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ED9046B-48FF-D2E3-E863-AA640765F420}"/>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5" name="Footer Placeholder 4">
            <a:extLst>
              <a:ext uri="{FF2B5EF4-FFF2-40B4-BE49-F238E27FC236}">
                <a16:creationId xmlns:a16="http://schemas.microsoft.com/office/drawing/2014/main" id="{7C28312E-4177-AFF3-F34C-9FF723B089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C875A2-7929-CDFC-625C-CDCDC710A8BA}"/>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4192320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02579-618E-D8BD-BB97-14B36E7103A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84921B5-0E9F-5A89-17CB-EB3E6B2965E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15F8C85-7B69-D073-2BBE-4C323B46BE2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28A878D-48D9-20D6-CDDD-6DA47A469556}"/>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6" name="Footer Placeholder 5">
            <a:extLst>
              <a:ext uri="{FF2B5EF4-FFF2-40B4-BE49-F238E27FC236}">
                <a16:creationId xmlns:a16="http://schemas.microsoft.com/office/drawing/2014/main" id="{2E15AF68-ECBF-8B85-1F94-87392B4BEC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D92993-5275-ACF6-3881-5D19D6B0A4CB}"/>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479235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9ED2-FD3B-8687-B673-498800B8AD1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C92944C-7963-DF7E-973A-8A4D3E2A24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71E5931-F4D4-DA6A-AC7A-ACCBF05D91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52C2AD3-5198-1698-15DD-246EDAC57A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48E8576-7CEB-A229-59C2-1E8ABB8ABF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A66A448-592D-EE3C-2DFE-635C5D42E5C6}"/>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8" name="Footer Placeholder 7">
            <a:extLst>
              <a:ext uri="{FF2B5EF4-FFF2-40B4-BE49-F238E27FC236}">
                <a16:creationId xmlns:a16="http://schemas.microsoft.com/office/drawing/2014/main" id="{8E9972E9-AE8A-E44A-9FDD-D8A00D5810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EAC20F-AA52-9EFA-FA15-63185D1C3E4B}"/>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139615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36B4E-6426-DC73-966A-4A854FA19E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51F7E62-F237-2381-56B7-3E72F8C6B2F1}"/>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4" name="Footer Placeholder 3">
            <a:extLst>
              <a:ext uri="{FF2B5EF4-FFF2-40B4-BE49-F238E27FC236}">
                <a16:creationId xmlns:a16="http://schemas.microsoft.com/office/drawing/2014/main" id="{1D695F83-09AD-64D6-3EE5-1D76624548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2B8BC2-49B1-1B1B-89E6-A34EC4EF422C}"/>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808336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27A29E-9E97-CF8D-B8D3-82FF61162B4B}"/>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3" name="Footer Placeholder 2">
            <a:extLst>
              <a:ext uri="{FF2B5EF4-FFF2-40B4-BE49-F238E27FC236}">
                <a16:creationId xmlns:a16="http://schemas.microsoft.com/office/drawing/2014/main" id="{BD902593-6AF6-A489-C2A8-7DE6C0979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925385-1F04-DC6E-51C6-29F6FF4DE576}"/>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316908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7A23-CBEA-36AE-E252-A8498F1E242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04E384D-6688-8123-AEA2-B1EEF3CBF2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5BE7BEF-AE97-2EE9-EF62-5C54592434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DC8826E-3AFE-1E31-95A7-2547E89C5DB5}"/>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6" name="Footer Placeholder 5">
            <a:extLst>
              <a:ext uri="{FF2B5EF4-FFF2-40B4-BE49-F238E27FC236}">
                <a16:creationId xmlns:a16="http://schemas.microsoft.com/office/drawing/2014/main" id="{A0D7094C-9F84-F809-194C-E78CD4C4CC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8A69D-FE16-EBB5-5C2A-B82C5869E066}"/>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70686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F5AEF-FBAD-2F8A-CB7E-1EDD4C1E5B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1A27080-9C1A-961E-5833-CDC094DDD3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E1C890-04A7-A521-B2CB-B0FB8CE23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D946C55-C78F-AC73-84BD-2DAF2CE8109D}"/>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6" name="Footer Placeholder 5">
            <a:extLst>
              <a:ext uri="{FF2B5EF4-FFF2-40B4-BE49-F238E27FC236}">
                <a16:creationId xmlns:a16="http://schemas.microsoft.com/office/drawing/2014/main" id="{EFAE468E-CD93-D999-FA8A-7EEACB47EA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1E1490-3FC2-33ED-7516-E7B502E36F70}"/>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3681330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984F-E1C0-4F2A-7998-10968B95FF9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A89EE2-A610-A935-D747-CC65D82B94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F652D9-39B6-D1A0-5296-F7C74B6D90D9}"/>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5" name="Footer Placeholder 4">
            <a:extLst>
              <a:ext uri="{FF2B5EF4-FFF2-40B4-BE49-F238E27FC236}">
                <a16:creationId xmlns:a16="http://schemas.microsoft.com/office/drawing/2014/main" id="{C72F2913-6486-A662-3AB1-C80A0FF589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DF024-234D-BCB0-4167-2DC5A9BD80C8}"/>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949776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8648E9-D3B0-25A3-5B9E-5567B6FAD30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DDD3DC-02C8-62B7-F0DB-489482C7021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0A3748-30B6-576F-7106-6AE1E7FE4A65}"/>
              </a:ext>
            </a:extLst>
          </p:cNvPr>
          <p:cNvSpPr>
            <a:spLocks noGrp="1"/>
          </p:cNvSpPr>
          <p:nvPr>
            <p:ph type="dt" sz="half" idx="10"/>
          </p:nvPr>
        </p:nvSpPr>
        <p:spPr/>
        <p:txBody>
          <a:bodyPr/>
          <a:lstStyle/>
          <a:p>
            <a:fld id="{CB5983D9-7403-CC4D-BF52-29573146D871}" type="datetimeFigureOut">
              <a:rPr lang="en-US" smtClean="0"/>
              <a:t>10/31/25</a:t>
            </a:fld>
            <a:endParaRPr lang="en-US"/>
          </a:p>
        </p:txBody>
      </p:sp>
      <p:sp>
        <p:nvSpPr>
          <p:cNvPr id="5" name="Footer Placeholder 4">
            <a:extLst>
              <a:ext uri="{FF2B5EF4-FFF2-40B4-BE49-F238E27FC236}">
                <a16:creationId xmlns:a16="http://schemas.microsoft.com/office/drawing/2014/main" id="{A32B7AEF-B6AF-2E30-130E-0E6D2DB3B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461A5B-1A4C-0E4D-6967-A538295639EA}"/>
              </a:ext>
            </a:extLst>
          </p:cNvPr>
          <p:cNvSpPr>
            <a:spLocks noGrp="1"/>
          </p:cNvSpPr>
          <p:nvPr>
            <p:ph type="sldNum" sz="quarter" idx="12"/>
          </p:nvPr>
        </p:nvSpPr>
        <p:spPr/>
        <p:txBody>
          <a:bodyPr/>
          <a:lstStyle/>
          <a:p>
            <a:fld id="{1185DBD4-44C9-AE44-BB30-ACCE78A0FF51}" type="slidenum">
              <a:rPr lang="en-US" smtClean="0"/>
              <a:t>‹#›</a:t>
            </a:fld>
            <a:endParaRPr lang="en-US"/>
          </a:p>
        </p:txBody>
      </p:sp>
    </p:spTree>
    <p:extLst>
      <p:ext uri="{BB962C8B-B14F-4D97-AF65-F5344CB8AC3E}">
        <p14:creationId xmlns:p14="http://schemas.microsoft.com/office/powerpoint/2010/main" val="2332529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B638DE-5A26-F87C-2197-0A3E58690F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EEDBA88-F48C-13D4-65C6-FF671E92D2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83C3980-0DE4-C2C7-B0AC-194EC6ED15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5983D9-7403-CC4D-BF52-29573146D871}" type="datetimeFigureOut">
              <a:rPr lang="en-US" smtClean="0"/>
              <a:t>10/31/25</a:t>
            </a:fld>
            <a:endParaRPr lang="en-US"/>
          </a:p>
        </p:txBody>
      </p:sp>
      <p:sp>
        <p:nvSpPr>
          <p:cNvPr id="5" name="Footer Placeholder 4">
            <a:extLst>
              <a:ext uri="{FF2B5EF4-FFF2-40B4-BE49-F238E27FC236}">
                <a16:creationId xmlns:a16="http://schemas.microsoft.com/office/drawing/2014/main" id="{9D0F4F0E-EB3C-5505-3772-C4F5DAE6EA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DDFC2B-1111-0DB1-4B2A-400D14EA7F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85DBD4-44C9-AE44-BB30-ACCE78A0FF51}" type="slidenum">
              <a:rPr lang="en-US" smtClean="0"/>
              <a:t>‹#›</a:t>
            </a:fld>
            <a:endParaRPr lang="en-US"/>
          </a:p>
        </p:txBody>
      </p:sp>
    </p:spTree>
    <p:extLst>
      <p:ext uri="{BB962C8B-B14F-4D97-AF65-F5344CB8AC3E}">
        <p14:creationId xmlns:p14="http://schemas.microsoft.com/office/powerpoint/2010/main" val="843714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046C48-7E1A-C777-699A-E28BBACC894A}"/>
              </a:ext>
            </a:extLst>
          </p:cNvPr>
          <p:cNvSpPr txBox="1"/>
          <p:nvPr/>
        </p:nvSpPr>
        <p:spPr>
          <a:xfrm>
            <a:off x="657621" y="1859599"/>
            <a:ext cx="11291363" cy="1938992"/>
          </a:xfrm>
          <a:prstGeom prst="rect">
            <a:avLst/>
          </a:prstGeom>
          <a:noFill/>
        </p:spPr>
        <p:txBody>
          <a:bodyPr wrap="square">
            <a:spAutoFit/>
          </a:bodyPr>
          <a:lstStyle/>
          <a:p>
            <a:pPr algn="ctr"/>
            <a:r>
              <a:rPr lang="en-GB" sz="6000" kern="12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rPr>
              <a:t>I’ve built a model. What does it say?</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2" name="Rectangle 11">
            <a:extLst>
              <a:ext uri="{FF2B5EF4-FFF2-40B4-BE49-F238E27FC236}">
                <a16:creationId xmlns:a16="http://schemas.microsoft.com/office/drawing/2014/main" id="{CA023E8E-CE0F-755B-BE85-4C00717E05F7}"/>
              </a:ext>
            </a:extLst>
          </p:cNvPr>
          <p:cNvSpPr/>
          <p:nvPr/>
        </p:nvSpPr>
        <p:spPr>
          <a:xfrm>
            <a:off x="311692" y="4998401"/>
            <a:ext cx="11637292" cy="1588069"/>
          </a:xfrm>
          <a:prstGeom prst="rect">
            <a:avLst/>
          </a:prstGeom>
          <a:solidFill>
            <a:schemeClr val="accent6">
              <a:lumMod val="60000"/>
              <a:lumOff val="40000"/>
              <a:alpha val="50196"/>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200" dirty="0">
                <a:solidFill>
                  <a:schemeClr val="accent6">
                    <a:lumMod val="50000"/>
                  </a:schemeClr>
                </a:solidFill>
                <a:latin typeface="Avenir" panose="02000503020000020003" pitchFamily="2" charset="0"/>
                <a:ea typeface="Helvetica Neue Condensed" panose="02000503000000020004" pitchFamily="2" charset="0"/>
                <a:cs typeface="Helvetica Neue Condensed" panose="02000503000000020004" pitchFamily="2" charset="0"/>
              </a:rPr>
              <a:t>Data Science</a:t>
            </a:r>
          </a:p>
          <a:p>
            <a:pPr lvl="0" algn="ctr"/>
            <a:r>
              <a:rPr lang="en-US" sz="2200" dirty="0">
                <a:solidFill>
                  <a:schemeClr val="accent6">
                    <a:lumMod val="50000"/>
                  </a:schemeClr>
                </a:solidFill>
                <a:latin typeface="Avenir" panose="02000503020000020003" pitchFamily="2" charset="0"/>
                <a:ea typeface="Helvetica Neue Condensed" panose="02000503000000020004" pitchFamily="2" charset="0"/>
                <a:cs typeface="Helvetica Neue Condensed" panose="02000503000000020004" pitchFamily="2" charset="0"/>
              </a:rPr>
              <a:t>Week 7</a:t>
            </a:r>
          </a:p>
        </p:txBody>
      </p:sp>
    </p:spTree>
    <p:extLst>
      <p:ext uri="{BB962C8B-B14F-4D97-AF65-F5344CB8AC3E}">
        <p14:creationId xmlns:p14="http://schemas.microsoft.com/office/powerpoint/2010/main" val="877539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9430-46FC-42D3-5204-16A6027193D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2E44136-C2D7-A202-23D0-E3E0C53D556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Models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3" name="TextBox 2">
            <a:extLst>
              <a:ext uri="{FF2B5EF4-FFF2-40B4-BE49-F238E27FC236}">
                <a16:creationId xmlns:a16="http://schemas.microsoft.com/office/drawing/2014/main" id="{355DC4B2-0BEC-F6B9-5D83-E295BDDE4172}"/>
              </a:ext>
            </a:extLst>
          </p:cNvPr>
          <p:cNvSpPr txBox="1"/>
          <p:nvPr/>
        </p:nvSpPr>
        <p:spPr>
          <a:xfrm>
            <a:off x="589816" y="1601285"/>
            <a:ext cx="11291362" cy="5170646"/>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Today we will go through</a:t>
            </a:r>
          </a:p>
          <a:p>
            <a:endParaRPr lang="en-US" sz="3000" dirty="0">
              <a:solidFill>
                <a:schemeClr val="accent6">
                  <a:lumMod val="50000"/>
                </a:schemeClr>
              </a:solidFill>
              <a:latin typeface="Avenir Book" panose="02000503020000020003" pitchFamily="2" charset="0"/>
            </a:endParaRP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What all of those numbers mean in the model output</a:t>
            </a:r>
          </a:p>
          <a:p>
            <a:pPr marL="914400" lvl="1"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P VALUES ARE NOT INTERESTING</a:t>
            </a:r>
          </a:p>
          <a:p>
            <a:pPr marL="914400" lvl="1"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Understanding estimates of continuous and categorical predictors</a:t>
            </a:r>
          </a:p>
          <a:p>
            <a:pPr marL="914400" lvl="1"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Interaction terms</a:t>
            </a:r>
          </a:p>
          <a:p>
            <a:pPr marL="914400" lvl="1"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GLM conversions</a:t>
            </a:r>
          </a:p>
          <a:p>
            <a:pPr marL="457200" indent="-457200">
              <a:buFont typeface="Arial" panose="020B0604020202020204" pitchFamily="34" charset="0"/>
              <a:buChar char="•"/>
            </a:pPr>
            <a:r>
              <a:rPr lang="en-US" sz="3000" dirty="0">
                <a:solidFill>
                  <a:schemeClr val="accent6">
                    <a:lumMod val="50000"/>
                  </a:schemeClr>
                </a:solidFill>
                <a:latin typeface="Avenir Book" panose="02000503020000020003" pitchFamily="2" charset="0"/>
              </a:rPr>
              <a:t>Presenting results: Plots and Tables</a:t>
            </a:r>
          </a:p>
          <a:p>
            <a:pPr marL="457200" indent="-457200">
              <a:buFont typeface="Arial" panose="020B0604020202020204" pitchFamily="34" charset="0"/>
              <a:buChar char="•"/>
            </a:pPr>
            <a:endParaRPr lang="en-US" sz="3000" dirty="0">
              <a:solidFill>
                <a:schemeClr val="accent6">
                  <a:lumMod val="50000"/>
                </a:schemeClr>
              </a:solidFill>
              <a:latin typeface="Avenir Book" panose="02000503020000020003" pitchFamily="2" charset="0"/>
            </a:endParaRPr>
          </a:p>
          <a:p>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1294079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8B0AD-11AC-2F85-F2D5-9CC4A61833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A27F141-C09B-7342-540E-6D822AAC040C}"/>
              </a:ext>
            </a:extLst>
          </p:cNvPr>
          <p:cNvSpPr txBox="1"/>
          <p:nvPr/>
        </p:nvSpPr>
        <p:spPr>
          <a:xfrm>
            <a:off x="450318" y="385786"/>
            <a:ext cx="11291363" cy="1938992"/>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“All models are wrong, </a:t>
            </a:r>
          </a:p>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					some are useful”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5" name="TextBox 4">
            <a:extLst>
              <a:ext uri="{FF2B5EF4-FFF2-40B4-BE49-F238E27FC236}">
                <a16:creationId xmlns:a16="http://schemas.microsoft.com/office/drawing/2014/main" id="{E76DD0EE-61A2-69FE-47DA-F8EB29F76275}"/>
              </a:ext>
            </a:extLst>
          </p:cNvPr>
          <p:cNvSpPr txBox="1"/>
          <p:nvPr/>
        </p:nvSpPr>
        <p:spPr>
          <a:xfrm>
            <a:off x="609232" y="3340650"/>
            <a:ext cx="10973534" cy="3785652"/>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A model is not a wizard. It does not magically reveal things in the data that aren’t already there. </a:t>
            </a:r>
          </a:p>
          <a:p>
            <a:endParaRPr lang="en-US" sz="3000" dirty="0">
              <a:solidFill>
                <a:schemeClr val="accent6">
                  <a:lumMod val="50000"/>
                </a:schemeClr>
              </a:solidFill>
              <a:latin typeface="Avenir Book" panose="02000503020000020003" pitchFamily="2" charset="0"/>
            </a:endParaRPr>
          </a:p>
          <a:p>
            <a:r>
              <a:rPr lang="en-US" sz="3000" dirty="0">
                <a:solidFill>
                  <a:schemeClr val="accent6">
                    <a:lumMod val="50000"/>
                  </a:schemeClr>
                </a:solidFill>
                <a:latin typeface="Avenir Book" panose="02000503020000020003" pitchFamily="2" charset="0"/>
              </a:rPr>
              <a:t>It’s just a means of simplifying and summarizing relationships.</a:t>
            </a:r>
          </a:p>
          <a:p>
            <a:endParaRPr lang="en-US" sz="3000" dirty="0">
              <a:solidFill>
                <a:schemeClr val="accent6">
                  <a:lumMod val="50000"/>
                </a:schemeClr>
              </a:solidFill>
              <a:latin typeface="Avenir Book" panose="02000503020000020003" pitchFamily="2" charset="0"/>
            </a:endParaRPr>
          </a:p>
          <a:p>
            <a:pPr algn="ctr"/>
            <a:r>
              <a:rPr lang="en-US" sz="3000" dirty="0">
                <a:solidFill>
                  <a:schemeClr val="accent6">
                    <a:lumMod val="50000"/>
                  </a:schemeClr>
                </a:solidFill>
                <a:latin typeface="Avenir Book" panose="02000503020000020003" pitchFamily="2" charset="0"/>
              </a:rPr>
              <a:t>Interpret with care!!!</a:t>
            </a: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a:p>
            <a:pPr marL="514350" indent="-514350">
              <a:buFont typeface="+mj-lt"/>
              <a:buAutoNum type="arabicPeriod"/>
            </a:pPr>
            <a:endParaRPr lang="en-US" sz="3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3545388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A72D5-2B49-D09F-BA0A-96B78BB3987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2179E6-A013-28CB-10AD-3A175F7EE979}"/>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What’s not especially useful?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945B8A93-73C9-099E-BFF2-8DDF5119E785}"/>
              </a:ext>
            </a:extLst>
          </p:cNvPr>
          <p:cNvSpPr txBox="1"/>
          <p:nvPr/>
        </p:nvSpPr>
        <p:spPr>
          <a:xfrm>
            <a:off x="4407462" y="3429000"/>
            <a:ext cx="337707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P Values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631440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A4146-0901-513B-B875-4E3DD6892CD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4D9C3D-F180-3EF1-0A33-75B5EDF5ED6C}"/>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What’s not especially useful?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B56EBF7D-FA96-C2A6-3FDF-1E15AD44E632}"/>
              </a:ext>
            </a:extLst>
          </p:cNvPr>
          <p:cNvSpPr txBox="1"/>
          <p:nvPr/>
        </p:nvSpPr>
        <p:spPr>
          <a:xfrm>
            <a:off x="4407462" y="3429000"/>
            <a:ext cx="3377073" cy="2862322"/>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P Values</a:t>
            </a:r>
          </a:p>
          <a:p>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a:p>
            <a:pPr algn="ctr"/>
            <a:r>
              <a:rPr lang="en-GB" sz="3000" dirty="0">
                <a:solidFill>
                  <a:srgbClr val="548235"/>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rPr>
              <a:t>(</a:t>
            </a:r>
            <a:r>
              <a:rPr lang="en-GB" sz="3000" dirty="0" err="1">
                <a:solidFill>
                  <a:srgbClr val="548235"/>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rPr>
              <a:t>es</a:t>
            </a:r>
            <a:r>
              <a:rPr lang="en-GB" sz="3000" dirty="0" err="1">
                <a:solidFill>
                  <a:srgbClr val="548235"/>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p</a:t>
            </a:r>
            <a:r>
              <a:rPr lang="en-GB" sz="3000" dirty="0">
                <a:solidFill>
                  <a:srgbClr val="548235"/>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 with bigger datasets)</a:t>
            </a:r>
            <a:endParaRPr lang="en-GB" sz="3000" dirty="0">
              <a:solidFill>
                <a:srgbClr val="548235"/>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4004953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DACD7-E0B4-C579-FCFF-517E4B2FCEA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958C466-322C-13D5-706D-A205B8CB4F9F}"/>
              </a:ext>
            </a:extLst>
          </p:cNvPr>
          <p:cNvSpPr txBox="1"/>
          <p:nvPr/>
        </p:nvSpPr>
        <p:spPr>
          <a:xfrm>
            <a:off x="609233" y="2921168"/>
            <a:ext cx="10973534" cy="1015663"/>
          </a:xfrm>
          <a:prstGeom prst="rect">
            <a:avLst/>
          </a:prstGeom>
          <a:noFill/>
        </p:spPr>
        <p:txBody>
          <a:bodyPr wrap="square">
            <a:spAutoFit/>
          </a:bodyPr>
          <a:lstStyle/>
          <a:p>
            <a:pPr algn="ctr"/>
            <a:r>
              <a:rPr lang="en-US" sz="3000" dirty="0">
                <a:solidFill>
                  <a:schemeClr val="accent6">
                    <a:lumMod val="50000"/>
                  </a:schemeClr>
                </a:solidFill>
                <a:latin typeface="Avenir Book" panose="02000503020000020003" pitchFamily="2" charset="0"/>
              </a:rPr>
              <a:t>THE FOLLOWING PLOTS ARE ILLUSTRATIVE ONLY (I have not checked the numbers but the general point stands</a:t>
            </a:r>
          </a:p>
        </p:txBody>
      </p:sp>
    </p:spTree>
    <p:extLst>
      <p:ext uri="{BB962C8B-B14F-4D97-AF65-F5344CB8AC3E}">
        <p14:creationId xmlns:p14="http://schemas.microsoft.com/office/powerpoint/2010/main" val="3159018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507E1-545A-71B3-59F9-E759701B4B3B}"/>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DC2F6421-C03D-9D03-B56C-EFDF3234725F}"/>
              </a:ext>
            </a:extLst>
          </p:cNvPr>
          <p:cNvGrpSpPr/>
          <p:nvPr/>
        </p:nvGrpSpPr>
        <p:grpSpPr>
          <a:xfrm>
            <a:off x="662152" y="1507972"/>
            <a:ext cx="5619403" cy="3842056"/>
            <a:chOff x="-71356" y="2616948"/>
            <a:chExt cx="11324572" cy="3842056"/>
          </a:xfrm>
        </p:grpSpPr>
        <p:grpSp>
          <p:nvGrpSpPr>
            <p:cNvPr id="6" name="Group 5">
              <a:extLst>
                <a:ext uri="{FF2B5EF4-FFF2-40B4-BE49-F238E27FC236}">
                  <a16:creationId xmlns:a16="http://schemas.microsoft.com/office/drawing/2014/main" id="{A365B48F-FCD4-2E6A-6002-4DB7C8527CE7}"/>
                </a:ext>
              </a:extLst>
            </p:cNvPr>
            <p:cNvGrpSpPr/>
            <p:nvPr/>
          </p:nvGrpSpPr>
          <p:grpSpPr>
            <a:xfrm>
              <a:off x="2217420" y="2616948"/>
              <a:ext cx="9035796" cy="3438144"/>
              <a:chOff x="1402080" y="2616948"/>
              <a:chExt cx="9851136" cy="3438144"/>
            </a:xfrm>
          </p:grpSpPr>
          <p:cxnSp>
            <p:nvCxnSpPr>
              <p:cNvPr id="10" name="Straight Arrow Connector 9">
                <a:extLst>
                  <a:ext uri="{FF2B5EF4-FFF2-40B4-BE49-F238E27FC236}">
                    <a16:creationId xmlns:a16="http://schemas.microsoft.com/office/drawing/2014/main" id="{20A3E2D8-40EE-5D5D-8320-C8B25019EC86}"/>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B9E8D43-BDBF-5861-0F15-9CF9B22F5E9D}"/>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7F173F0C-55A3-02F2-AEE4-5FE7FE0A463B}"/>
                </a:ext>
              </a:extLst>
            </p:cNvPr>
            <p:cNvSpPr txBox="1"/>
            <p:nvPr/>
          </p:nvSpPr>
          <p:spPr>
            <a:xfrm>
              <a:off x="6510052" y="6135839"/>
              <a:ext cx="3671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Predictor</a:t>
              </a:r>
            </a:p>
          </p:txBody>
        </p:sp>
        <p:sp>
          <p:nvSpPr>
            <p:cNvPr id="8" name="TextBox 7">
              <a:extLst>
                <a:ext uri="{FF2B5EF4-FFF2-40B4-BE49-F238E27FC236}">
                  <a16:creationId xmlns:a16="http://schemas.microsoft.com/office/drawing/2014/main" id="{F9CC608B-4963-C38B-7F68-23CB95FD4D90}"/>
                </a:ext>
              </a:extLst>
            </p:cNvPr>
            <p:cNvSpPr txBox="1"/>
            <p:nvPr/>
          </p:nvSpPr>
          <p:spPr>
            <a:xfrm>
              <a:off x="-71356" y="3825140"/>
              <a:ext cx="2315005"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Response</a:t>
              </a:r>
            </a:p>
          </p:txBody>
        </p:sp>
        <p:cxnSp>
          <p:nvCxnSpPr>
            <p:cNvPr id="9" name="Straight Connector 8">
              <a:extLst>
                <a:ext uri="{FF2B5EF4-FFF2-40B4-BE49-F238E27FC236}">
                  <a16:creationId xmlns:a16="http://schemas.microsoft.com/office/drawing/2014/main" id="{57E14385-63DB-F3ED-F242-998B1F225A90}"/>
                </a:ext>
              </a:extLst>
            </p:cNvPr>
            <p:cNvCxnSpPr>
              <a:cxnSpLocks/>
            </p:cNvCxnSpPr>
            <p:nvPr/>
          </p:nvCxnSpPr>
          <p:spPr>
            <a:xfrm flipV="1">
              <a:off x="2838459" y="3005894"/>
              <a:ext cx="7343185" cy="2654156"/>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2" name="Oval 11">
            <a:extLst>
              <a:ext uri="{FF2B5EF4-FFF2-40B4-BE49-F238E27FC236}">
                <a16:creationId xmlns:a16="http://schemas.microsoft.com/office/drawing/2014/main" id="{813804CA-8A71-6873-AA51-67E68B11C6FD}"/>
              </a:ext>
            </a:extLst>
          </p:cNvPr>
          <p:cNvSpPr/>
          <p:nvPr/>
        </p:nvSpPr>
        <p:spPr>
          <a:xfrm>
            <a:off x="2106041" y="351290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8C0E4B2-75A5-A28D-7E3D-99C2D32FB678}"/>
              </a:ext>
            </a:extLst>
          </p:cNvPr>
          <p:cNvSpPr/>
          <p:nvPr/>
        </p:nvSpPr>
        <p:spPr>
          <a:xfrm>
            <a:off x="2565507" y="257149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5CCE084-8980-A1A1-41AA-578E66D76056}"/>
              </a:ext>
            </a:extLst>
          </p:cNvPr>
          <p:cNvSpPr/>
          <p:nvPr/>
        </p:nvSpPr>
        <p:spPr>
          <a:xfrm>
            <a:off x="3380637" y="447319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13F7E1A-3AA6-73DC-40E8-1CB97ADCA521}"/>
              </a:ext>
            </a:extLst>
          </p:cNvPr>
          <p:cNvSpPr/>
          <p:nvPr/>
        </p:nvSpPr>
        <p:spPr>
          <a:xfrm>
            <a:off x="3633705" y="151579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2803C1E-B3B1-2127-D068-36FBE97113C8}"/>
              </a:ext>
            </a:extLst>
          </p:cNvPr>
          <p:cNvSpPr/>
          <p:nvPr/>
        </p:nvSpPr>
        <p:spPr>
          <a:xfrm>
            <a:off x="3564237" y="299316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3820494-C67B-0AE0-8895-12BAC9DBF6D3}"/>
              </a:ext>
            </a:extLst>
          </p:cNvPr>
          <p:cNvSpPr/>
          <p:nvPr/>
        </p:nvSpPr>
        <p:spPr>
          <a:xfrm>
            <a:off x="5031716" y="270054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29BFAE6-3960-150F-FE42-0AD9DD5F5F1B}"/>
              </a:ext>
            </a:extLst>
          </p:cNvPr>
          <p:cNvSpPr/>
          <p:nvPr/>
        </p:nvSpPr>
        <p:spPr>
          <a:xfrm>
            <a:off x="4548105" y="383444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5520E09-EE58-81D7-894D-152C52D51D23}"/>
              </a:ext>
            </a:extLst>
          </p:cNvPr>
          <p:cNvSpPr/>
          <p:nvPr/>
        </p:nvSpPr>
        <p:spPr>
          <a:xfrm>
            <a:off x="4939916" y="118031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E77B44C-588A-9BE0-BC95-93FE315F6B04}"/>
              </a:ext>
            </a:extLst>
          </p:cNvPr>
          <p:cNvSpPr/>
          <p:nvPr/>
        </p:nvSpPr>
        <p:spPr>
          <a:xfrm>
            <a:off x="5619137" y="242526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A4771181-3127-6EEF-7C27-C880F76A78E8}"/>
              </a:ext>
            </a:extLst>
          </p:cNvPr>
          <p:cNvSpPr txBox="1"/>
          <p:nvPr/>
        </p:nvSpPr>
        <p:spPr>
          <a:xfrm>
            <a:off x="7541172" y="1202327"/>
            <a:ext cx="3841531" cy="147732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This is probably a significant relationship</a:t>
            </a:r>
          </a:p>
        </p:txBody>
      </p:sp>
    </p:spTree>
    <p:extLst>
      <p:ext uri="{BB962C8B-B14F-4D97-AF65-F5344CB8AC3E}">
        <p14:creationId xmlns:p14="http://schemas.microsoft.com/office/powerpoint/2010/main" val="3911565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65936-EDEB-D15A-F4EF-BC06F4193181}"/>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9B5D5953-A1AE-CFED-A61D-9B782045C98F}"/>
              </a:ext>
            </a:extLst>
          </p:cNvPr>
          <p:cNvGrpSpPr/>
          <p:nvPr/>
        </p:nvGrpSpPr>
        <p:grpSpPr>
          <a:xfrm>
            <a:off x="1797873" y="1507972"/>
            <a:ext cx="4483682" cy="3438144"/>
            <a:chOff x="1402080" y="2616948"/>
            <a:chExt cx="9851136" cy="3438144"/>
          </a:xfrm>
        </p:grpSpPr>
        <p:cxnSp>
          <p:nvCxnSpPr>
            <p:cNvPr id="10" name="Straight Arrow Connector 9">
              <a:extLst>
                <a:ext uri="{FF2B5EF4-FFF2-40B4-BE49-F238E27FC236}">
                  <a16:creationId xmlns:a16="http://schemas.microsoft.com/office/drawing/2014/main" id="{B058DFFB-993D-52E0-1066-22AEF9735C10}"/>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C018770-E242-47FE-EC56-3D3331697636}"/>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31B663A9-77DA-17E6-CCCE-6B2809DD1AAA}"/>
              </a:ext>
            </a:extLst>
          </p:cNvPr>
          <p:cNvSpPr txBox="1"/>
          <p:nvPr/>
        </p:nvSpPr>
        <p:spPr>
          <a:xfrm>
            <a:off x="3927934" y="502686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Predictor</a:t>
            </a:r>
          </a:p>
        </p:txBody>
      </p:sp>
      <p:sp>
        <p:nvSpPr>
          <p:cNvPr id="8" name="TextBox 7">
            <a:extLst>
              <a:ext uri="{FF2B5EF4-FFF2-40B4-BE49-F238E27FC236}">
                <a16:creationId xmlns:a16="http://schemas.microsoft.com/office/drawing/2014/main" id="{CB6BEB45-61DB-FCDB-CD18-5CBBDF30E922}"/>
              </a:ext>
            </a:extLst>
          </p:cNvPr>
          <p:cNvSpPr txBox="1"/>
          <p:nvPr/>
        </p:nvSpPr>
        <p:spPr>
          <a:xfrm>
            <a:off x="662152" y="271616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Response</a:t>
            </a:r>
          </a:p>
        </p:txBody>
      </p:sp>
      <p:cxnSp>
        <p:nvCxnSpPr>
          <p:cNvPr id="9" name="Straight Connector 8">
            <a:extLst>
              <a:ext uri="{FF2B5EF4-FFF2-40B4-BE49-F238E27FC236}">
                <a16:creationId xmlns:a16="http://schemas.microsoft.com/office/drawing/2014/main" id="{AFF5F06C-B1D5-C72B-780F-88249AF65010}"/>
              </a:ext>
            </a:extLst>
          </p:cNvPr>
          <p:cNvCxnSpPr>
            <a:cxnSpLocks/>
          </p:cNvCxnSpPr>
          <p:nvPr/>
        </p:nvCxnSpPr>
        <p:spPr>
          <a:xfrm flipV="1">
            <a:off x="2106041" y="4249134"/>
            <a:ext cx="4175514" cy="30194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55DBD721-5245-D58A-4BF3-D4C0DA80C464}"/>
              </a:ext>
            </a:extLst>
          </p:cNvPr>
          <p:cNvSpPr/>
          <p:nvPr/>
        </p:nvSpPr>
        <p:spPr>
          <a:xfrm>
            <a:off x="2156979" y="432853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6A48888-7C0A-CF79-8277-ACA82542F5CD}"/>
              </a:ext>
            </a:extLst>
          </p:cNvPr>
          <p:cNvSpPr/>
          <p:nvPr/>
        </p:nvSpPr>
        <p:spPr>
          <a:xfrm>
            <a:off x="2782250" y="424662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6BC688F-D07A-ECDB-10E5-9AD8F9A8A9B0}"/>
              </a:ext>
            </a:extLst>
          </p:cNvPr>
          <p:cNvSpPr/>
          <p:nvPr/>
        </p:nvSpPr>
        <p:spPr>
          <a:xfrm>
            <a:off x="3380637" y="447319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357F275-B937-38FD-9FDF-479D26586976}"/>
              </a:ext>
            </a:extLst>
          </p:cNvPr>
          <p:cNvSpPr/>
          <p:nvPr/>
        </p:nvSpPr>
        <p:spPr>
          <a:xfrm>
            <a:off x="3596575" y="423686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27F845E-EF86-7B27-FA19-8D41B7739708}"/>
              </a:ext>
            </a:extLst>
          </p:cNvPr>
          <p:cNvSpPr/>
          <p:nvPr/>
        </p:nvSpPr>
        <p:spPr>
          <a:xfrm>
            <a:off x="4008635" y="423673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6EF9486-C77F-B235-04DE-149C12BD9C8B}"/>
              </a:ext>
            </a:extLst>
          </p:cNvPr>
          <p:cNvSpPr/>
          <p:nvPr/>
        </p:nvSpPr>
        <p:spPr>
          <a:xfrm>
            <a:off x="5123516" y="396753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59444FB-4042-3BEE-3A49-AECEE629D9C3}"/>
              </a:ext>
            </a:extLst>
          </p:cNvPr>
          <p:cNvSpPr/>
          <p:nvPr/>
        </p:nvSpPr>
        <p:spPr>
          <a:xfrm>
            <a:off x="4604295" y="436747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4BC3867-7AE1-8121-68C7-BBD8AC1FE3CA}"/>
              </a:ext>
            </a:extLst>
          </p:cNvPr>
          <p:cNvSpPr/>
          <p:nvPr/>
        </p:nvSpPr>
        <p:spPr>
          <a:xfrm>
            <a:off x="6135643" y="444109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43C67F2-200F-7784-1F53-581E2EB7292D}"/>
              </a:ext>
            </a:extLst>
          </p:cNvPr>
          <p:cNvSpPr/>
          <p:nvPr/>
        </p:nvSpPr>
        <p:spPr>
          <a:xfrm>
            <a:off x="5545564" y="443022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0E317706-9A19-6505-8B73-C945AB86BC85}"/>
              </a:ext>
            </a:extLst>
          </p:cNvPr>
          <p:cNvSpPr txBox="1"/>
          <p:nvPr/>
        </p:nvSpPr>
        <p:spPr>
          <a:xfrm>
            <a:off x="7541172" y="1202327"/>
            <a:ext cx="384153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 is this.</a:t>
            </a:r>
          </a:p>
        </p:txBody>
      </p:sp>
    </p:spTree>
    <p:extLst>
      <p:ext uri="{BB962C8B-B14F-4D97-AF65-F5344CB8AC3E}">
        <p14:creationId xmlns:p14="http://schemas.microsoft.com/office/powerpoint/2010/main" val="1250427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077EE-390D-8F94-CDED-F5F791E85FB4}"/>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17807A84-37B8-4EBC-2FCB-66E5D4C302E6}"/>
              </a:ext>
            </a:extLst>
          </p:cNvPr>
          <p:cNvGrpSpPr/>
          <p:nvPr/>
        </p:nvGrpSpPr>
        <p:grpSpPr>
          <a:xfrm>
            <a:off x="1797873" y="1507972"/>
            <a:ext cx="4483682" cy="3438144"/>
            <a:chOff x="1402080" y="2616948"/>
            <a:chExt cx="9851136" cy="3438144"/>
          </a:xfrm>
        </p:grpSpPr>
        <p:cxnSp>
          <p:nvCxnSpPr>
            <p:cNvPr id="10" name="Straight Arrow Connector 9">
              <a:extLst>
                <a:ext uri="{FF2B5EF4-FFF2-40B4-BE49-F238E27FC236}">
                  <a16:creationId xmlns:a16="http://schemas.microsoft.com/office/drawing/2014/main" id="{3EEE1B95-C46C-3136-62FD-12D2984B7F12}"/>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6B108D1-6530-48D0-2E16-82F726CF3F4D}"/>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A7A16AD3-190B-19E1-639D-02A5EF08C261}"/>
              </a:ext>
            </a:extLst>
          </p:cNvPr>
          <p:cNvSpPr txBox="1"/>
          <p:nvPr/>
        </p:nvSpPr>
        <p:spPr>
          <a:xfrm>
            <a:off x="3927934" y="5026863"/>
            <a:ext cx="1434030"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Predictor</a:t>
            </a:r>
          </a:p>
        </p:txBody>
      </p:sp>
      <p:sp>
        <p:nvSpPr>
          <p:cNvPr id="8" name="TextBox 7">
            <a:extLst>
              <a:ext uri="{FF2B5EF4-FFF2-40B4-BE49-F238E27FC236}">
                <a16:creationId xmlns:a16="http://schemas.microsoft.com/office/drawing/2014/main" id="{F1AA619E-5227-6911-D923-B9BD00D232AC}"/>
              </a:ext>
            </a:extLst>
          </p:cNvPr>
          <p:cNvSpPr txBox="1"/>
          <p:nvPr/>
        </p:nvSpPr>
        <p:spPr>
          <a:xfrm>
            <a:off x="662152" y="271616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Response</a:t>
            </a:r>
          </a:p>
        </p:txBody>
      </p:sp>
      <p:cxnSp>
        <p:nvCxnSpPr>
          <p:cNvPr id="9" name="Straight Connector 8">
            <a:extLst>
              <a:ext uri="{FF2B5EF4-FFF2-40B4-BE49-F238E27FC236}">
                <a16:creationId xmlns:a16="http://schemas.microsoft.com/office/drawing/2014/main" id="{38393A16-1FEC-F38A-9AB1-321D8F0C1589}"/>
              </a:ext>
            </a:extLst>
          </p:cNvPr>
          <p:cNvCxnSpPr>
            <a:cxnSpLocks/>
          </p:cNvCxnSpPr>
          <p:nvPr/>
        </p:nvCxnSpPr>
        <p:spPr>
          <a:xfrm flipV="1">
            <a:off x="2158059" y="3261102"/>
            <a:ext cx="4175514" cy="30194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DC06BB6D-8D0D-EBF1-D34A-69C220D67A14}"/>
              </a:ext>
            </a:extLst>
          </p:cNvPr>
          <p:cNvSpPr/>
          <p:nvPr/>
        </p:nvSpPr>
        <p:spPr>
          <a:xfrm>
            <a:off x="2156979" y="432853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F570362-883A-0D70-A0FB-6557ADA701FA}"/>
              </a:ext>
            </a:extLst>
          </p:cNvPr>
          <p:cNvSpPr/>
          <p:nvPr/>
        </p:nvSpPr>
        <p:spPr>
          <a:xfrm>
            <a:off x="2782250" y="424662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E1F06DF-231A-43B5-CB56-E1DC6EC91E14}"/>
              </a:ext>
            </a:extLst>
          </p:cNvPr>
          <p:cNvSpPr/>
          <p:nvPr/>
        </p:nvSpPr>
        <p:spPr>
          <a:xfrm>
            <a:off x="3380637" y="447319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4BCFC84-D45C-805D-66E2-BBE4384488F6}"/>
              </a:ext>
            </a:extLst>
          </p:cNvPr>
          <p:cNvSpPr/>
          <p:nvPr/>
        </p:nvSpPr>
        <p:spPr>
          <a:xfrm>
            <a:off x="3596575" y="408972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08D3D65-E677-DB72-3088-D00B9E4700C3}"/>
              </a:ext>
            </a:extLst>
          </p:cNvPr>
          <p:cNvSpPr/>
          <p:nvPr/>
        </p:nvSpPr>
        <p:spPr>
          <a:xfrm>
            <a:off x="4008635" y="408959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6A847A4-422A-7A26-EE44-02E76FA07DA2}"/>
              </a:ext>
            </a:extLst>
          </p:cNvPr>
          <p:cNvSpPr/>
          <p:nvPr/>
        </p:nvSpPr>
        <p:spPr>
          <a:xfrm>
            <a:off x="5123516" y="382039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106110B-4E1F-2C7E-9603-6ACA5C077C6C}"/>
              </a:ext>
            </a:extLst>
          </p:cNvPr>
          <p:cNvSpPr/>
          <p:nvPr/>
        </p:nvSpPr>
        <p:spPr>
          <a:xfrm>
            <a:off x="4604295" y="422033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D9CAF65-4F9F-2842-EBC0-50A7AA653749}"/>
              </a:ext>
            </a:extLst>
          </p:cNvPr>
          <p:cNvSpPr/>
          <p:nvPr/>
        </p:nvSpPr>
        <p:spPr>
          <a:xfrm>
            <a:off x="6135643" y="427293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D79AA0C-6C83-8B7F-BADF-CCFCCE0ABF09}"/>
              </a:ext>
            </a:extLst>
          </p:cNvPr>
          <p:cNvSpPr/>
          <p:nvPr/>
        </p:nvSpPr>
        <p:spPr>
          <a:xfrm>
            <a:off x="5545564" y="411492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00740265-26E7-A375-A55E-FC69653AAC3D}"/>
              </a:ext>
            </a:extLst>
          </p:cNvPr>
          <p:cNvSpPr txBox="1"/>
          <p:nvPr/>
        </p:nvSpPr>
        <p:spPr>
          <a:xfrm>
            <a:off x="7541172" y="1202327"/>
            <a:ext cx="384153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 is this.</a:t>
            </a:r>
          </a:p>
        </p:txBody>
      </p:sp>
      <p:sp>
        <p:nvSpPr>
          <p:cNvPr id="2" name="Oval 1">
            <a:extLst>
              <a:ext uri="{FF2B5EF4-FFF2-40B4-BE49-F238E27FC236}">
                <a16:creationId xmlns:a16="http://schemas.microsoft.com/office/drawing/2014/main" id="{A78CF127-0889-3827-A189-7BC56DD69867}"/>
              </a:ext>
            </a:extLst>
          </p:cNvPr>
          <p:cNvSpPr/>
          <p:nvPr/>
        </p:nvSpPr>
        <p:spPr>
          <a:xfrm>
            <a:off x="2248779" y="371606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0663F450-86D5-C4CA-88C8-098E602C6645}"/>
              </a:ext>
            </a:extLst>
          </p:cNvPr>
          <p:cNvSpPr/>
          <p:nvPr/>
        </p:nvSpPr>
        <p:spPr>
          <a:xfrm>
            <a:off x="2874050" y="363416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A51FCB48-E247-559B-C085-419F566568B5}"/>
              </a:ext>
            </a:extLst>
          </p:cNvPr>
          <p:cNvSpPr/>
          <p:nvPr/>
        </p:nvSpPr>
        <p:spPr>
          <a:xfrm>
            <a:off x="3472437" y="386072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ADA2FEE-70E4-7EF9-5558-371D18E488A1}"/>
              </a:ext>
            </a:extLst>
          </p:cNvPr>
          <p:cNvSpPr/>
          <p:nvPr/>
        </p:nvSpPr>
        <p:spPr>
          <a:xfrm>
            <a:off x="3688375" y="347725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DFA23CC-FBD0-D440-EEE7-AA8D03D320B3}"/>
              </a:ext>
            </a:extLst>
          </p:cNvPr>
          <p:cNvSpPr/>
          <p:nvPr/>
        </p:nvSpPr>
        <p:spPr>
          <a:xfrm>
            <a:off x="4100435" y="347712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0EB8D3E-CFA2-0B4E-AF9D-61C4853C1BE3}"/>
              </a:ext>
            </a:extLst>
          </p:cNvPr>
          <p:cNvSpPr/>
          <p:nvPr/>
        </p:nvSpPr>
        <p:spPr>
          <a:xfrm>
            <a:off x="5215316" y="320792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711456B-AE5B-62CF-7FC0-CB917474C045}"/>
              </a:ext>
            </a:extLst>
          </p:cNvPr>
          <p:cNvSpPr/>
          <p:nvPr/>
        </p:nvSpPr>
        <p:spPr>
          <a:xfrm>
            <a:off x="4696095" y="360786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5C36270-8C5D-F094-2FA5-FF329BED2EE1}"/>
              </a:ext>
            </a:extLst>
          </p:cNvPr>
          <p:cNvSpPr/>
          <p:nvPr/>
        </p:nvSpPr>
        <p:spPr>
          <a:xfrm>
            <a:off x="6227443" y="366047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9F97A60-A033-F1E4-566F-3A4C75549414}"/>
              </a:ext>
            </a:extLst>
          </p:cNvPr>
          <p:cNvSpPr/>
          <p:nvPr/>
        </p:nvSpPr>
        <p:spPr>
          <a:xfrm>
            <a:off x="5637364" y="364960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81240F15-2D0F-E7AB-5742-BB2E1AE5D1DF}"/>
              </a:ext>
            </a:extLst>
          </p:cNvPr>
          <p:cNvSpPr/>
          <p:nvPr/>
        </p:nvSpPr>
        <p:spPr>
          <a:xfrm>
            <a:off x="1973379" y="317330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39C9289-1EC7-DFCD-A050-B000CC637DE9}"/>
              </a:ext>
            </a:extLst>
          </p:cNvPr>
          <p:cNvSpPr/>
          <p:nvPr/>
        </p:nvSpPr>
        <p:spPr>
          <a:xfrm>
            <a:off x="2598650" y="309140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5BA69DEB-ED3B-F6A5-FF0B-0D1B824DC140}"/>
              </a:ext>
            </a:extLst>
          </p:cNvPr>
          <p:cNvSpPr/>
          <p:nvPr/>
        </p:nvSpPr>
        <p:spPr>
          <a:xfrm>
            <a:off x="3197037" y="331796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CC2C849-74CA-D280-55E3-B703414EFF3E}"/>
              </a:ext>
            </a:extLst>
          </p:cNvPr>
          <p:cNvSpPr/>
          <p:nvPr/>
        </p:nvSpPr>
        <p:spPr>
          <a:xfrm>
            <a:off x="3412975" y="308163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A3F3DBA-AFE9-C189-FD96-1FBC344E348B}"/>
              </a:ext>
            </a:extLst>
          </p:cNvPr>
          <p:cNvSpPr/>
          <p:nvPr/>
        </p:nvSpPr>
        <p:spPr>
          <a:xfrm>
            <a:off x="3825035" y="293436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44FA805F-D0B8-AD96-DFC3-F89E526C8691}"/>
              </a:ext>
            </a:extLst>
          </p:cNvPr>
          <p:cNvSpPr/>
          <p:nvPr/>
        </p:nvSpPr>
        <p:spPr>
          <a:xfrm>
            <a:off x="4939916" y="266516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DEF4CBDE-6A3F-7DBC-3863-7EF3E7C0CC9C}"/>
              </a:ext>
            </a:extLst>
          </p:cNvPr>
          <p:cNvSpPr/>
          <p:nvPr/>
        </p:nvSpPr>
        <p:spPr>
          <a:xfrm>
            <a:off x="4420695" y="306510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EDB1EE8-2CE1-3FA0-767C-15366846A8FC}"/>
              </a:ext>
            </a:extLst>
          </p:cNvPr>
          <p:cNvSpPr/>
          <p:nvPr/>
        </p:nvSpPr>
        <p:spPr>
          <a:xfrm>
            <a:off x="5952043" y="311771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161C6BE-47B5-3377-6B6E-C053243EFF84}"/>
              </a:ext>
            </a:extLst>
          </p:cNvPr>
          <p:cNvSpPr/>
          <p:nvPr/>
        </p:nvSpPr>
        <p:spPr>
          <a:xfrm>
            <a:off x="5361964" y="295970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7E406832-6299-EC86-162B-FD36989E5921}"/>
              </a:ext>
            </a:extLst>
          </p:cNvPr>
          <p:cNvSpPr/>
          <p:nvPr/>
        </p:nvSpPr>
        <p:spPr>
          <a:xfrm>
            <a:off x="2263109" y="247382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F7596FA-4E5E-0E9B-A5C2-768587C6AC9E}"/>
              </a:ext>
            </a:extLst>
          </p:cNvPr>
          <p:cNvSpPr/>
          <p:nvPr/>
        </p:nvSpPr>
        <p:spPr>
          <a:xfrm>
            <a:off x="2888380" y="239191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FEB2CE8-3DF8-1596-55A5-F12C7C899A71}"/>
              </a:ext>
            </a:extLst>
          </p:cNvPr>
          <p:cNvSpPr/>
          <p:nvPr/>
        </p:nvSpPr>
        <p:spPr>
          <a:xfrm>
            <a:off x="3486767" y="261848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7A4C9C2-387F-4122-78B8-481EE85CBCC5}"/>
              </a:ext>
            </a:extLst>
          </p:cNvPr>
          <p:cNvSpPr/>
          <p:nvPr/>
        </p:nvSpPr>
        <p:spPr>
          <a:xfrm>
            <a:off x="3702705" y="223501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7F0D7515-FCD1-D805-A53E-2E88CC079E3B}"/>
              </a:ext>
            </a:extLst>
          </p:cNvPr>
          <p:cNvSpPr/>
          <p:nvPr/>
        </p:nvSpPr>
        <p:spPr>
          <a:xfrm>
            <a:off x="4114765" y="223488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934ED254-BB30-0296-EACE-838575FCFBD0}"/>
              </a:ext>
            </a:extLst>
          </p:cNvPr>
          <p:cNvSpPr/>
          <p:nvPr/>
        </p:nvSpPr>
        <p:spPr>
          <a:xfrm>
            <a:off x="5229646" y="194466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DE676EE9-BFCF-7CC6-4A14-4E6D2A747E0F}"/>
              </a:ext>
            </a:extLst>
          </p:cNvPr>
          <p:cNvSpPr/>
          <p:nvPr/>
        </p:nvSpPr>
        <p:spPr>
          <a:xfrm>
            <a:off x="4710425" y="236562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1BAEA26-BF03-A194-23BC-D86172F3B4F2}"/>
              </a:ext>
            </a:extLst>
          </p:cNvPr>
          <p:cNvSpPr/>
          <p:nvPr/>
        </p:nvSpPr>
        <p:spPr>
          <a:xfrm>
            <a:off x="6241773" y="241822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BCA5D76B-B4C4-6D30-05F4-41001EDFF20A}"/>
              </a:ext>
            </a:extLst>
          </p:cNvPr>
          <p:cNvSpPr/>
          <p:nvPr/>
        </p:nvSpPr>
        <p:spPr>
          <a:xfrm>
            <a:off x="5651694" y="240735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8728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A5D64-5CC8-F26A-CC50-5D4E7BD51CB5}"/>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185755F5-C9B9-F5C3-B687-ED9D918E7358}"/>
              </a:ext>
            </a:extLst>
          </p:cNvPr>
          <p:cNvGrpSpPr/>
          <p:nvPr/>
        </p:nvGrpSpPr>
        <p:grpSpPr>
          <a:xfrm>
            <a:off x="1797873" y="1507972"/>
            <a:ext cx="4483682" cy="3438144"/>
            <a:chOff x="1402080" y="2616948"/>
            <a:chExt cx="9851136" cy="3438144"/>
          </a:xfrm>
        </p:grpSpPr>
        <p:cxnSp>
          <p:nvCxnSpPr>
            <p:cNvPr id="10" name="Straight Arrow Connector 9">
              <a:extLst>
                <a:ext uri="{FF2B5EF4-FFF2-40B4-BE49-F238E27FC236}">
                  <a16:creationId xmlns:a16="http://schemas.microsoft.com/office/drawing/2014/main" id="{F5566DF9-9939-33E7-CC5D-3D8696A8BBD6}"/>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8AF2C15-DB51-72BA-F52B-F7DDC1F63E28}"/>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B2882186-3C6D-4E90-0895-CA4977FD366A}"/>
              </a:ext>
            </a:extLst>
          </p:cNvPr>
          <p:cNvSpPr txBox="1"/>
          <p:nvPr/>
        </p:nvSpPr>
        <p:spPr>
          <a:xfrm>
            <a:off x="3927934" y="5026863"/>
            <a:ext cx="1434030"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Predictor</a:t>
            </a:r>
          </a:p>
        </p:txBody>
      </p:sp>
      <p:sp>
        <p:nvSpPr>
          <p:cNvPr id="8" name="TextBox 7">
            <a:extLst>
              <a:ext uri="{FF2B5EF4-FFF2-40B4-BE49-F238E27FC236}">
                <a16:creationId xmlns:a16="http://schemas.microsoft.com/office/drawing/2014/main" id="{B26CE6F0-EBE2-0D13-2F30-27AFD92108BF}"/>
              </a:ext>
            </a:extLst>
          </p:cNvPr>
          <p:cNvSpPr txBox="1"/>
          <p:nvPr/>
        </p:nvSpPr>
        <p:spPr>
          <a:xfrm>
            <a:off x="662152" y="271616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Response</a:t>
            </a:r>
          </a:p>
        </p:txBody>
      </p:sp>
      <p:cxnSp>
        <p:nvCxnSpPr>
          <p:cNvPr id="9" name="Straight Connector 8">
            <a:extLst>
              <a:ext uri="{FF2B5EF4-FFF2-40B4-BE49-F238E27FC236}">
                <a16:creationId xmlns:a16="http://schemas.microsoft.com/office/drawing/2014/main" id="{89A7A6E1-3F64-A288-9B5A-A1B72919E4E2}"/>
              </a:ext>
            </a:extLst>
          </p:cNvPr>
          <p:cNvCxnSpPr>
            <a:cxnSpLocks/>
          </p:cNvCxnSpPr>
          <p:nvPr/>
        </p:nvCxnSpPr>
        <p:spPr>
          <a:xfrm flipV="1">
            <a:off x="2156979" y="1911884"/>
            <a:ext cx="3807579" cy="2600251"/>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31233FCC-A5A5-377A-B0E7-3E08C49ABC05}"/>
              </a:ext>
            </a:extLst>
          </p:cNvPr>
          <p:cNvSpPr/>
          <p:nvPr/>
        </p:nvSpPr>
        <p:spPr>
          <a:xfrm>
            <a:off x="2156979" y="432853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D9DF48-719F-F939-29E1-02CC364DD0EA}"/>
              </a:ext>
            </a:extLst>
          </p:cNvPr>
          <p:cNvSpPr/>
          <p:nvPr/>
        </p:nvSpPr>
        <p:spPr>
          <a:xfrm>
            <a:off x="2782250" y="424662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A0AD414-A07F-7A53-B39A-5CE59903A6AA}"/>
              </a:ext>
            </a:extLst>
          </p:cNvPr>
          <p:cNvSpPr/>
          <p:nvPr/>
        </p:nvSpPr>
        <p:spPr>
          <a:xfrm>
            <a:off x="3118405" y="373371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BFFB4E1-7621-64A0-CD51-38890D1BC155}"/>
              </a:ext>
            </a:extLst>
          </p:cNvPr>
          <p:cNvSpPr/>
          <p:nvPr/>
        </p:nvSpPr>
        <p:spPr>
          <a:xfrm>
            <a:off x="3596575" y="408972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18919FF-D1DC-50CA-D026-C84969B7E05C}"/>
              </a:ext>
            </a:extLst>
          </p:cNvPr>
          <p:cNvSpPr/>
          <p:nvPr/>
        </p:nvSpPr>
        <p:spPr>
          <a:xfrm>
            <a:off x="3936510" y="372264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B9C6560-6A83-F8E0-18C4-BE1C844F222E}"/>
              </a:ext>
            </a:extLst>
          </p:cNvPr>
          <p:cNvSpPr/>
          <p:nvPr/>
        </p:nvSpPr>
        <p:spPr>
          <a:xfrm>
            <a:off x="4616761" y="308774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07D994A-0924-8BC9-95BD-41FFA436B35D}"/>
              </a:ext>
            </a:extLst>
          </p:cNvPr>
          <p:cNvSpPr/>
          <p:nvPr/>
        </p:nvSpPr>
        <p:spPr>
          <a:xfrm>
            <a:off x="4088053" y="335106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8C7AC4E-5710-735A-9671-7E4C418FB5BB}"/>
              </a:ext>
            </a:extLst>
          </p:cNvPr>
          <p:cNvSpPr/>
          <p:nvPr/>
        </p:nvSpPr>
        <p:spPr>
          <a:xfrm>
            <a:off x="5261467" y="232780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CAB7B4F-4EF1-FBEB-A1C1-4B1C92C05E20}"/>
              </a:ext>
            </a:extLst>
          </p:cNvPr>
          <p:cNvSpPr/>
          <p:nvPr/>
        </p:nvSpPr>
        <p:spPr>
          <a:xfrm>
            <a:off x="5038588" y="266516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8B3D8FCB-E431-B92F-4524-51C65A6AEF7D}"/>
              </a:ext>
            </a:extLst>
          </p:cNvPr>
          <p:cNvSpPr txBox="1"/>
          <p:nvPr/>
        </p:nvSpPr>
        <p:spPr>
          <a:xfrm>
            <a:off x="7541172" y="1202327"/>
            <a:ext cx="3841531" cy="553998"/>
          </a:xfrm>
          <a:prstGeom prst="rect">
            <a:avLst/>
          </a:prstGeom>
          <a:noFill/>
        </p:spPr>
        <p:txBody>
          <a:bodyPr wrap="square">
            <a:spAutoFit/>
          </a:bodyPr>
          <a:lstStyle/>
          <a:p>
            <a:r>
              <a:rPr lang="en-US" sz="3000" dirty="0">
                <a:solidFill>
                  <a:schemeClr val="accent6">
                    <a:lumMod val="50000"/>
                  </a:schemeClr>
                </a:solidFill>
                <a:latin typeface="Avenir Book" panose="02000503020000020003" pitchFamily="2" charset="0"/>
              </a:rPr>
              <a:t>So is this.</a:t>
            </a:r>
          </a:p>
        </p:txBody>
      </p:sp>
      <p:sp>
        <p:nvSpPr>
          <p:cNvPr id="2" name="Oval 1">
            <a:extLst>
              <a:ext uri="{FF2B5EF4-FFF2-40B4-BE49-F238E27FC236}">
                <a16:creationId xmlns:a16="http://schemas.microsoft.com/office/drawing/2014/main" id="{B1A1ACA5-1B23-49E7-F7BA-FBFAD8BBCD6D}"/>
              </a:ext>
            </a:extLst>
          </p:cNvPr>
          <p:cNvSpPr/>
          <p:nvPr/>
        </p:nvSpPr>
        <p:spPr>
          <a:xfrm>
            <a:off x="2248779" y="371606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E1E15D80-C174-BCD1-CC19-D8C4C3BE7CAB}"/>
              </a:ext>
            </a:extLst>
          </p:cNvPr>
          <p:cNvSpPr/>
          <p:nvPr/>
        </p:nvSpPr>
        <p:spPr>
          <a:xfrm>
            <a:off x="2874050" y="363416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803E5937-4F1F-422C-9BCA-412F2F83D00C}"/>
              </a:ext>
            </a:extLst>
          </p:cNvPr>
          <p:cNvSpPr/>
          <p:nvPr/>
        </p:nvSpPr>
        <p:spPr>
          <a:xfrm>
            <a:off x="3472437" y="386072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E96362AC-EA16-B289-F57A-3A5EEF1E7E65}"/>
              </a:ext>
            </a:extLst>
          </p:cNvPr>
          <p:cNvSpPr/>
          <p:nvPr/>
        </p:nvSpPr>
        <p:spPr>
          <a:xfrm>
            <a:off x="3688375" y="347725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ABDF9BB-950F-9D14-F118-090C7535D9A7}"/>
              </a:ext>
            </a:extLst>
          </p:cNvPr>
          <p:cNvSpPr/>
          <p:nvPr/>
        </p:nvSpPr>
        <p:spPr>
          <a:xfrm>
            <a:off x="4100435" y="347712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FF960AE-A4E1-6B5D-63D4-4255BC455166}"/>
              </a:ext>
            </a:extLst>
          </p:cNvPr>
          <p:cNvSpPr/>
          <p:nvPr/>
        </p:nvSpPr>
        <p:spPr>
          <a:xfrm>
            <a:off x="4708340" y="175816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FC2CB85-801D-2189-07AB-F4F1B7DFCF6A}"/>
              </a:ext>
            </a:extLst>
          </p:cNvPr>
          <p:cNvSpPr/>
          <p:nvPr/>
        </p:nvSpPr>
        <p:spPr>
          <a:xfrm>
            <a:off x="4179853" y="273859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B3F11B0-ABAE-EF1B-0198-B04FF0033E1A}"/>
              </a:ext>
            </a:extLst>
          </p:cNvPr>
          <p:cNvSpPr/>
          <p:nvPr/>
        </p:nvSpPr>
        <p:spPr>
          <a:xfrm>
            <a:off x="5720467" y="221071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5F073AC-1E60-40A5-FDF2-FA3364BF124E}"/>
              </a:ext>
            </a:extLst>
          </p:cNvPr>
          <p:cNvSpPr/>
          <p:nvPr/>
        </p:nvSpPr>
        <p:spPr>
          <a:xfrm>
            <a:off x="5130388" y="219984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076B731-599E-C1A4-DCB9-28E0CEDEBA6C}"/>
              </a:ext>
            </a:extLst>
          </p:cNvPr>
          <p:cNvSpPr/>
          <p:nvPr/>
        </p:nvSpPr>
        <p:spPr>
          <a:xfrm>
            <a:off x="2456482" y="419683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0608730-FE6C-795C-C6D6-5997FF4C7B47}"/>
              </a:ext>
            </a:extLst>
          </p:cNvPr>
          <p:cNvSpPr/>
          <p:nvPr/>
        </p:nvSpPr>
        <p:spPr>
          <a:xfrm>
            <a:off x="3081753" y="411492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20388C9-75D0-DCCB-2E8C-9BE00E54B8BC}"/>
              </a:ext>
            </a:extLst>
          </p:cNvPr>
          <p:cNvSpPr/>
          <p:nvPr/>
        </p:nvSpPr>
        <p:spPr>
          <a:xfrm>
            <a:off x="3197037" y="331796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5FA4002-71FA-35AC-49B5-C0E72F6BCEFA}"/>
              </a:ext>
            </a:extLst>
          </p:cNvPr>
          <p:cNvSpPr/>
          <p:nvPr/>
        </p:nvSpPr>
        <p:spPr>
          <a:xfrm>
            <a:off x="3295344" y="293436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B9922A2B-7715-8C4D-4627-8DE574F0778D}"/>
              </a:ext>
            </a:extLst>
          </p:cNvPr>
          <p:cNvSpPr/>
          <p:nvPr/>
        </p:nvSpPr>
        <p:spPr>
          <a:xfrm>
            <a:off x="3825035" y="293436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13B01D2-9D98-674C-66D6-D19DF0892315}"/>
              </a:ext>
            </a:extLst>
          </p:cNvPr>
          <p:cNvSpPr/>
          <p:nvPr/>
        </p:nvSpPr>
        <p:spPr>
          <a:xfrm>
            <a:off x="4939916" y="266516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CFD89545-A455-FFB3-B029-C9F081FCAEAC}"/>
              </a:ext>
            </a:extLst>
          </p:cNvPr>
          <p:cNvSpPr/>
          <p:nvPr/>
        </p:nvSpPr>
        <p:spPr>
          <a:xfrm>
            <a:off x="4420695" y="306510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6DB5B4B-86B9-269F-1D84-C4412AF5766A}"/>
              </a:ext>
            </a:extLst>
          </p:cNvPr>
          <p:cNvSpPr/>
          <p:nvPr/>
        </p:nvSpPr>
        <p:spPr>
          <a:xfrm>
            <a:off x="5445067" y="166795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931B230-1E88-F0AE-4E14-CF1918B53FDE}"/>
              </a:ext>
            </a:extLst>
          </p:cNvPr>
          <p:cNvSpPr/>
          <p:nvPr/>
        </p:nvSpPr>
        <p:spPr>
          <a:xfrm>
            <a:off x="5361964" y="295970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5BC8F24E-D5B1-D78C-330E-3B6EB53DFD98}"/>
              </a:ext>
            </a:extLst>
          </p:cNvPr>
          <p:cNvSpPr/>
          <p:nvPr/>
        </p:nvSpPr>
        <p:spPr>
          <a:xfrm>
            <a:off x="2746212" y="349734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CC6CED6-23D2-0935-201E-D2AF24CBB379}"/>
              </a:ext>
            </a:extLst>
          </p:cNvPr>
          <p:cNvSpPr/>
          <p:nvPr/>
        </p:nvSpPr>
        <p:spPr>
          <a:xfrm>
            <a:off x="3371483" y="341544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17B4357-DEC2-CD9B-7B81-1E4B0F222094}"/>
              </a:ext>
            </a:extLst>
          </p:cNvPr>
          <p:cNvSpPr/>
          <p:nvPr/>
        </p:nvSpPr>
        <p:spPr>
          <a:xfrm>
            <a:off x="3844830" y="299594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FC1052D-3768-3C94-6B78-723C79E1F9BA}"/>
              </a:ext>
            </a:extLst>
          </p:cNvPr>
          <p:cNvSpPr/>
          <p:nvPr/>
        </p:nvSpPr>
        <p:spPr>
          <a:xfrm>
            <a:off x="4060768" y="261247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D7DA554-626F-AD11-597B-DEA03A2300C8}"/>
              </a:ext>
            </a:extLst>
          </p:cNvPr>
          <p:cNvSpPr/>
          <p:nvPr/>
        </p:nvSpPr>
        <p:spPr>
          <a:xfrm>
            <a:off x="4472828" y="261234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4EFBD87C-EB4B-E2E1-9C4A-CAF6D5C13518}"/>
              </a:ext>
            </a:extLst>
          </p:cNvPr>
          <p:cNvSpPr/>
          <p:nvPr/>
        </p:nvSpPr>
        <p:spPr>
          <a:xfrm>
            <a:off x="5229646" y="194466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13D5586-B899-5D10-284C-6327E89F710E}"/>
              </a:ext>
            </a:extLst>
          </p:cNvPr>
          <p:cNvSpPr/>
          <p:nvPr/>
        </p:nvSpPr>
        <p:spPr>
          <a:xfrm>
            <a:off x="4710425" y="236562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EC517727-A564-5BFE-EBC2-10739EC63F25}"/>
              </a:ext>
            </a:extLst>
          </p:cNvPr>
          <p:cNvSpPr/>
          <p:nvPr/>
        </p:nvSpPr>
        <p:spPr>
          <a:xfrm>
            <a:off x="5893194" y="202711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01B97C0C-2336-A8D2-154B-AE815800D69B}"/>
              </a:ext>
            </a:extLst>
          </p:cNvPr>
          <p:cNvSpPr/>
          <p:nvPr/>
        </p:nvSpPr>
        <p:spPr>
          <a:xfrm>
            <a:off x="5651694" y="240735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2888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DEAAB-9B95-806D-3F6C-B0870B0044A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17F6FF7-51C9-650B-287B-F468C9447E7C}"/>
              </a:ext>
            </a:extLst>
          </p:cNvPr>
          <p:cNvPicPr>
            <a:picLocks noChangeAspect="1"/>
          </p:cNvPicPr>
          <p:nvPr/>
        </p:nvPicPr>
        <p:blipFill>
          <a:blip r:embed="rId2"/>
          <a:stretch>
            <a:fillRect/>
          </a:stretch>
        </p:blipFill>
        <p:spPr>
          <a:xfrm>
            <a:off x="728238" y="69411"/>
            <a:ext cx="4464762" cy="3442609"/>
          </a:xfrm>
          <a:prstGeom prst="rect">
            <a:avLst/>
          </a:prstGeom>
        </p:spPr>
      </p:pic>
      <p:pic>
        <p:nvPicPr>
          <p:cNvPr id="7" name="Picture 6">
            <a:extLst>
              <a:ext uri="{FF2B5EF4-FFF2-40B4-BE49-F238E27FC236}">
                <a16:creationId xmlns:a16="http://schemas.microsoft.com/office/drawing/2014/main" id="{331E10D9-BE16-1156-42EA-FCF62A3AC78E}"/>
              </a:ext>
            </a:extLst>
          </p:cNvPr>
          <p:cNvPicPr>
            <a:picLocks noChangeAspect="1"/>
          </p:cNvPicPr>
          <p:nvPr/>
        </p:nvPicPr>
        <p:blipFill>
          <a:blip r:embed="rId3"/>
          <a:stretch>
            <a:fillRect/>
          </a:stretch>
        </p:blipFill>
        <p:spPr>
          <a:xfrm>
            <a:off x="5642898" y="463475"/>
            <a:ext cx="4288109" cy="2961401"/>
          </a:xfrm>
          <a:prstGeom prst="rect">
            <a:avLst/>
          </a:prstGeom>
        </p:spPr>
      </p:pic>
      <p:pic>
        <p:nvPicPr>
          <p:cNvPr id="8" name="Picture 7">
            <a:extLst>
              <a:ext uri="{FF2B5EF4-FFF2-40B4-BE49-F238E27FC236}">
                <a16:creationId xmlns:a16="http://schemas.microsoft.com/office/drawing/2014/main" id="{4CB905A2-5BAA-A0B9-4944-5BC6B923271A}"/>
              </a:ext>
            </a:extLst>
          </p:cNvPr>
          <p:cNvPicPr>
            <a:picLocks noChangeAspect="1"/>
          </p:cNvPicPr>
          <p:nvPr/>
        </p:nvPicPr>
        <p:blipFill>
          <a:blip r:embed="rId4"/>
          <a:stretch>
            <a:fillRect/>
          </a:stretch>
        </p:blipFill>
        <p:spPr>
          <a:xfrm>
            <a:off x="728238" y="3702204"/>
            <a:ext cx="4675332" cy="3086385"/>
          </a:xfrm>
          <a:prstGeom prst="rect">
            <a:avLst/>
          </a:prstGeom>
        </p:spPr>
      </p:pic>
      <p:pic>
        <p:nvPicPr>
          <p:cNvPr id="9" name="Picture 8">
            <a:extLst>
              <a:ext uri="{FF2B5EF4-FFF2-40B4-BE49-F238E27FC236}">
                <a16:creationId xmlns:a16="http://schemas.microsoft.com/office/drawing/2014/main" id="{11C3247C-FD15-47D9-64A7-897F92118A73}"/>
              </a:ext>
            </a:extLst>
          </p:cNvPr>
          <p:cNvPicPr>
            <a:picLocks noChangeAspect="1"/>
          </p:cNvPicPr>
          <p:nvPr/>
        </p:nvPicPr>
        <p:blipFill>
          <a:blip r:embed="rId5"/>
          <a:stretch>
            <a:fillRect/>
          </a:stretch>
        </p:blipFill>
        <p:spPr>
          <a:xfrm>
            <a:off x="5518993" y="3433124"/>
            <a:ext cx="4946031" cy="3424876"/>
          </a:xfrm>
          <a:prstGeom prst="rect">
            <a:avLst/>
          </a:prstGeom>
        </p:spPr>
      </p:pic>
    </p:spTree>
    <p:extLst>
      <p:ext uri="{BB962C8B-B14F-4D97-AF65-F5344CB8AC3E}">
        <p14:creationId xmlns:p14="http://schemas.microsoft.com/office/powerpoint/2010/main" val="3499865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34D7B-5053-73CD-FF0B-3AFDCA586DC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9ECB2A4-A7E2-9811-1D0D-8CDE9CF823F5}"/>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What’s more useful? </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3E7AEEF0-8177-94A6-2269-1EF3868A4285}"/>
              </a:ext>
            </a:extLst>
          </p:cNvPr>
          <p:cNvSpPr txBox="1"/>
          <p:nvPr/>
        </p:nvSpPr>
        <p:spPr>
          <a:xfrm>
            <a:off x="450318" y="2188778"/>
            <a:ext cx="3641255" cy="5632311"/>
          </a:xfrm>
          <a:prstGeom prst="rect">
            <a:avLst/>
          </a:prstGeom>
          <a:noFill/>
        </p:spPr>
        <p:txBody>
          <a:bodyPr wrap="square">
            <a:spAutoFit/>
          </a:bodyPr>
          <a:lstStyle/>
          <a:p>
            <a:r>
              <a:rPr lang="en-GB" sz="5000" dirty="0">
                <a:solidFill>
                  <a:schemeClr val="accent6">
                    <a:lumMod val="50000"/>
                  </a:schemeClr>
                </a:solidFill>
                <a:latin typeface="Avenir Book" panose="02000503020000020003" pitchFamily="2" charset="0"/>
              </a:rPr>
              <a:t>Effect Size</a:t>
            </a:r>
          </a:p>
          <a:p>
            <a:r>
              <a:rPr lang="en-GB" sz="2000" dirty="0">
                <a:solidFill>
                  <a:schemeClr val="accent6">
                    <a:lumMod val="50000"/>
                  </a:schemeClr>
                </a:solidFill>
                <a:latin typeface="Avenir Book" panose="02000503020000020003" pitchFamily="2" charset="0"/>
              </a:rPr>
              <a:t>(aka coefficient, aka estimate)</a:t>
            </a:r>
          </a:p>
          <a:p>
            <a:endParaRPr lang="en-GB" sz="5000" dirty="0">
              <a:solidFill>
                <a:schemeClr val="accent6">
                  <a:lumMod val="50000"/>
                </a:schemeClr>
              </a:solidFill>
              <a:latin typeface="Avenir Book" panose="02000503020000020003" pitchFamily="2" charset="0"/>
            </a:endParaRPr>
          </a:p>
          <a:p>
            <a:r>
              <a:rPr lang="en-GB" sz="5000" dirty="0">
                <a:solidFill>
                  <a:schemeClr val="accent6">
                    <a:lumMod val="50000"/>
                  </a:schemeClr>
                </a:solidFill>
                <a:latin typeface="Avenir Book" panose="02000503020000020003" pitchFamily="2" charset="0"/>
              </a:rPr>
              <a:t>Confidence Intervals</a:t>
            </a:r>
          </a:p>
          <a:p>
            <a:r>
              <a:rPr lang="en-GB" sz="2000" dirty="0">
                <a:solidFill>
                  <a:schemeClr val="accent6">
                    <a:lumMod val="50000"/>
                  </a:schemeClr>
                </a:solidFill>
                <a:latin typeface="Avenir Book" panose="02000503020000020003" pitchFamily="2" charset="0"/>
              </a:rPr>
              <a:t>(similar to BUT NOT THE SAME AS standard error, standard deviation)</a:t>
            </a:r>
          </a:p>
          <a:p>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a:p>
            <a:endPar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3" name="Picture 2">
            <a:extLst>
              <a:ext uri="{FF2B5EF4-FFF2-40B4-BE49-F238E27FC236}">
                <a16:creationId xmlns:a16="http://schemas.microsoft.com/office/drawing/2014/main" id="{29ACE688-E655-69DA-C94A-670720AB9484}"/>
              </a:ext>
            </a:extLst>
          </p:cNvPr>
          <p:cNvPicPr>
            <a:picLocks noChangeAspect="1"/>
          </p:cNvPicPr>
          <p:nvPr/>
        </p:nvPicPr>
        <p:blipFill>
          <a:blip r:embed="rId2"/>
          <a:stretch>
            <a:fillRect/>
          </a:stretch>
        </p:blipFill>
        <p:spPr>
          <a:xfrm>
            <a:off x="8619949" y="2188778"/>
            <a:ext cx="2356150" cy="1816737"/>
          </a:xfrm>
          <a:prstGeom prst="rect">
            <a:avLst/>
          </a:prstGeom>
        </p:spPr>
      </p:pic>
      <p:pic>
        <p:nvPicPr>
          <p:cNvPr id="5" name="Picture 4">
            <a:extLst>
              <a:ext uri="{FF2B5EF4-FFF2-40B4-BE49-F238E27FC236}">
                <a16:creationId xmlns:a16="http://schemas.microsoft.com/office/drawing/2014/main" id="{F8128F40-82B5-399C-5815-7254A7C81C4A}"/>
              </a:ext>
            </a:extLst>
          </p:cNvPr>
          <p:cNvPicPr>
            <a:picLocks noChangeAspect="1"/>
          </p:cNvPicPr>
          <p:nvPr/>
        </p:nvPicPr>
        <p:blipFill>
          <a:blip r:embed="rId3"/>
          <a:stretch>
            <a:fillRect/>
          </a:stretch>
        </p:blipFill>
        <p:spPr>
          <a:xfrm>
            <a:off x="8638953" y="4723074"/>
            <a:ext cx="2705476" cy="1873405"/>
          </a:xfrm>
          <a:prstGeom prst="rect">
            <a:avLst/>
          </a:prstGeom>
        </p:spPr>
      </p:pic>
      <p:pic>
        <p:nvPicPr>
          <p:cNvPr id="6" name="Picture 5">
            <a:extLst>
              <a:ext uri="{FF2B5EF4-FFF2-40B4-BE49-F238E27FC236}">
                <a16:creationId xmlns:a16="http://schemas.microsoft.com/office/drawing/2014/main" id="{65E2233B-5E5A-F874-37F9-509E7863DEA5}"/>
              </a:ext>
            </a:extLst>
          </p:cNvPr>
          <p:cNvPicPr>
            <a:picLocks noChangeAspect="1"/>
          </p:cNvPicPr>
          <p:nvPr/>
        </p:nvPicPr>
        <p:blipFill>
          <a:blip r:embed="rId4"/>
          <a:stretch>
            <a:fillRect/>
          </a:stretch>
        </p:blipFill>
        <p:spPr>
          <a:xfrm>
            <a:off x="4668452" y="2188778"/>
            <a:ext cx="2630636" cy="1816737"/>
          </a:xfrm>
          <a:prstGeom prst="rect">
            <a:avLst/>
          </a:prstGeom>
        </p:spPr>
      </p:pic>
      <p:pic>
        <p:nvPicPr>
          <p:cNvPr id="7" name="Picture 6">
            <a:extLst>
              <a:ext uri="{FF2B5EF4-FFF2-40B4-BE49-F238E27FC236}">
                <a16:creationId xmlns:a16="http://schemas.microsoft.com/office/drawing/2014/main" id="{C5436759-28A1-F37A-4020-F3074E775C0E}"/>
              </a:ext>
            </a:extLst>
          </p:cNvPr>
          <p:cNvPicPr>
            <a:picLocks noChangeAspect="1"/>
          </p:cNvPicPr>
          <p:nvPr/>
        </p:nvPicPr>
        <p:blipFill>
          <a:blip r:embed="rId5"/>
          <a:stretch>
            <a:fillRect/>
          </a:stretch>
        </p:blipFill>
        <p:spPr>
          <a:xfrm>
            <a:off x="4668452" y="4723074"/>
            <a:ext cx="2649640" cy="1749140"/>
          </a:xfrm>
          <a:prstGeom prst="rect">
            <a:avLst/>
          </a:prstGeom>
        </p:spPr>
      </p:pic>
      <p:sp>
        <p:nvSpPr>
          <p:cNvPr id="9" name="TextBox 8">
            <a:extLst>
              <a:ext uri="{FF2B5EF4-FFF2-40B4-BE49-F238E27FC236}">
                <a16:creationId xmlns:a16="http://schemas.microsoft.com/office/drawing/2014/main" id="{253B2689-91BC-FADA-5453-E21FAE4AC4D3}"/>
              </a:ext>
            </a:extLst>
          </p:cNvPr>
          <p:cNvSpPr txBox="1"/>
          <p:nvPr/>
        </p:nvSpPr>
        <p:spPr>
          <a:xfrm>
            <a:off x="5244713" y="1634780"/>
            <a:ext cx="6099716" cy="553998"/>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Small effect size</a:t>
            </a:r>
          </a:p>
          <a:p>
            <a:r>
              <a:rPr lang="en-GB" sz="1500" dirty="0">
                <a:solidFill>
                  <a:schemeClr val="accent6">
                    <a:lumMod val="50000"/>
                  </a:schemeClr>
                </a:solidFill>
                <a:latin typeface="Avenir Book" panose="02000503020000020003" pitchFamily="2" charset="0"/>
              </a:rPr>
              <a:t>Small confidence interval</a:t>
            </a:r>
          </a:p>
        </p:txBody>
      </p:sp>
      <p:sp>
        <p:nvSpPr>
          <p:cNvPr id="10" name="TextBox 9">
            <a:extLst>
              <a:ext uri="{FF2B5EF4-FFF2-40B4-BE49-F238E27FC236}">
                <a16:creationId xmlns:a16="http://schemas.microsoft.com/office/drawing/2014/main" id="{739322EC-1B31-404B-A38D-F927726E735F}"/>
              </a:ext>
            </a:extLst>
          </p:cNvPr>
          <p:cNvSpPr txBox="1"/>
          <p:nvPr/>
        </p:nvSpPr>
        <p:spPr>
          <a:xfrm>
            <a:off x="8870832" y="1645614"/>
            <a:ext cx="6099716" cy="553998"/>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Big effect size</a:t>
            </a:r>
          </a:p>
          <a:p>
            <a:r>
              <a:rPr lang="en-GB" sz="1500" dirty="0">
                <a:solidFill>
                  <a:schemeClr val="accent6">
                    <a:lumMod val="50000"/>
                  </a:schemeClr>
                </a:solidFill>
                <a:latin typeface="Avenir Book" panose="02000503020000020003" pitchFamily="2" charset="0"/>
              </a:rPr>
              <a:t>Big confidence interval</a:t>
            </a:r>
          </a:p>
        </p:txBody>
      </p:sp>
      <p:sp>
        <p:nvSpPr>
          <p:cNvPr id="11" name="TextBox 10">
            <a:extLst>
              <a:ext uri="{FF2B5EF4-FFF2-40B4-BE49-F238E27FC236}">
                <a16:creationId xmlns:a16="http://schemas.microsoft.com/office/drawing/2014/main" id="{002344DD-7AA7-0AC8-E0AA-1EB9F83F430C}"/>
              </a:ext>
            </a:extLst>
          </p:cNvPr>
          <p:cNvSpPr txBox="1"/>
          <p:nvPr/>
        </p:nvSpPr>
        <p:spPr>
          <a:xfrm>
            <a:off x="9044252" y="4282514"/>
            <a:ext cx="6099716" cy="553998"/>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Big effect size</a:t>
            </a:r>
          </a:p>
          <a:p>
            <a:r>
              <a:rPr lang="en-GB" sz="1500" dirty="0">
                <a:solidFill>
                  <a:schemeClr val="accent6">
                    <a:lumMod val="50000"/>
                  </a:schemeClr>
                </a:solidFill>
                <a:latin typeface="Avenir Book" panose="02000503020000020003" pitchFamily="2" charset="0"/>
              </a:rPr>
              <a:t>Small confidence interval</a:t>
            </a:r>
          </a:p>
        </p:txBody>
      </p:sp>
      <p:sp>
        <p:nvSpPr>
          <p:cNvPr id="12" name="TextBox 11">
            <a:extLst>
              <a:ext uri="{FF2B5EF4-FFF2-40B4-BE49-F238E27FC236}">
                <a16:creationId xmlns:a16="http://schemas.microsoft.com/office/drawing/2014/main" id="{5D38A636-1E49-A605-84AB-270FAB0D76B2}"/>
              </a:ext>
            </a:extLst>
          </p:cNvPr>
          <p:cNvSpPr txBox="1"/>
          <p:nvPr/>
        </p:nvSpPr>
        <p:spPr>
          <a:xfrm>
            <a:off x="5148688" y="4284523"/>
            <a:ext cx="6099716" cy="553998"/>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Small effect size</a:t>
            </a:r>
          </a:p>
          <a:p>
            <a:r>
              <a:rPr lang="en-GB" sz="1500" dirty="0">
                <a:solidFill>
                  <a:schemeClr val="accent6">
                    <a:lumMod val="50000"/>
                  </a:schemeClr>
                </a:solidFill>
                <a:latin typeface="Avenir Book" panose="02000503020000020003" pitchFamily="2" charset="0"/>
              </a:rPr>
              <a:t>Big confidence interval</a:t>
            </a:r>
          </a:p>
        </p:txBody>
      </p:sp>
    </p:spTree>
    <p:extLst>
      <p:ext uri="{BB962C8B-B14F-4D97-AF65-F5344CB8AC3E}">
        <p14:creationId xmlns:p14="http://schemas.microsoft.com/office/powerpoint/2010/main" val="2312208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95997-78BD-83E1-8F47-2CB6E27547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5656AF-512E-E52E-BEB7-F2B36BA0D32E}"/>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What’s more useful? </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2" name="TextBox 1">
            <a:extLst>
              <a:ext uri="{FF2B5EF4-FFF2-40B4-BE49-F238E27FC236}">
                <a16:creationId xmlns:a16="http://schemas.microsoft.com/office/drawing/2014/main" id="{BAF30276-8873-C574-2DA6-41A6E3855DD8}"/>
              </a:ext>
            </a:extLst>
          </p:cNvPr>
          <p:cNvSpPr txBox="1"/>
          <p:nvPr/>
        </p:nvSpPr>
        <p:spPr>
          <a:xfrm>
            <a:off x="450318" y="2188778"/>
            <a:ext cx="3641255" cy="5632311"/>
          </a:xfrm>
          <a:prstGeom prst="rect">
            <a:avLst/>
          </a:prstGeom>
          <a:noFill/>
        </p:spPr>
        <p:txBody>
          <a:bodyPr wrap="square">
            <a:spAutoFit/>
          </a:bodyPr>
          <a:lstStyle/>
          <a:p>
            <a:r>
              <a:rPr lang="en-GB" sz="5000" dirty="0">
                <a:solidFill>
                  <a:schemeClr val="accent6">
                    <a:lumMod val="50000"/>
                  </a:schemeClr>
                </a:solidFill>
                <a:latin typeface="Avenir Book" panose="02000503020000020003" pitchFamily="2" charset="0"/>
              </a:rPr>
              <a:t>Effect Size</a:t>
            </a:r>
          </a:p>
          <a:p>
            <a:r>
              <a:rPr lang="en-GB" sz="2000" dirty="0">
                <a:solidFill>
                  <a:schemeClr val="accent6">
                    <a:lumMod val="50000"/>
                  </a:schemeClr>
                </a:solidFill>
                <a:latin typeface="Avenir Book" panose="02000503020000020003" pitchFamily="2" charset="0"/>
              </a:rPr>
              <a:t>(aka coefficient, aka estimate)</a:t>
            </a:r>
          </a:p>
          <a:p>
            <a:endParaRPr lang="en-GB" sz="5000" dirty="0">
              <a:solidFill>
                <a:schemeClr val="accent6">
                  <a:lumMod val="50000"/>
                </a:schemeClr>
              </a:solidFill>
              <a:latin typeface="Avenir Book" panose="02000503020000020003" pitchFamily="2" charset="0"/>
            </a:endParaRPr>
          </a:p>
          <a:p>
            <a:r>
              <a:rPr lang="en-GB" sz="5000" dirty="0">
                <a:solidFill>
                  <a:schemeClr val="accent6">
                    <a:lumMod val="50000"/>
                  </a:schemeClr>
                </a:solidFill>
                <a:latin typeface="Avenir Book" panose="02000503020000020003" pitchFamily="2" charset="0"/>
              </a:rPr>
              <a:t>Confidence Intervals</a:t>
            </a:r>
          </a:p>
          <a:p>
            <a:r>
              <a:rPr lang="en-GB" sz="2000" dirty="0">
                <a:solidFill>
                  <a:schemeClr val="accent6">
                    <a:lumMod val="50000"/>
                  </a:schemeClr>
                </a:solidFill>
                <a:latin typeface="Avenir Book" panose="02000503020000020003" pitchFamily="2" charset="0"/>
              </a:rPr>
              <a:t>(similar to BUT NOT THE SAME AS standard error, standard deviation)</a:t>
            </a:r>
          </a:p>
          <a:p>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a:p>
            <a:endPar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3" name="Picture 2">
            <a:extLst>
              <a:ext uri="{FF2B5EF4-FFF2-40B4-BE49-F238E27FC236}">
                <a16:creationId xmlns:a16="http://schemas.microsoft.com/office/drawing/2014/main" id="{AFA7C9D0-4547-62A6-F02D-BB7E777F5F31}"/>
              </a:ext>
            </a:extLst>
          </p:cNvPr>
          <p:cNvPicPr>
            <a:picLocks noChangeAspect="1"/>
          </p:cNvPicPr>
          <p:nvPr/>
        </p:nvPicPr>
        <p:blipFill>
          <a:blip r:embed="rId2"/>
          <a:stretch>
            <a:fillRect/>
          </a:stretch>
        </p:blipFill>
        <p:spPr>
          <a:xfrm>
            <a:off x="8619949" y="2188778"/>
            <a:ext cx="2356150" cy="1816737"/>
          </a:xfrm>
          <a:prstGeom prst="rect">
            <a:avLst/>
          </a:prstGeom>
        </p:spPr>
      </p:pic>
      <p:pic>
        <p:nvPicPr>
          <p:cNvPr id="5" name="Picture 4">
            <a:extLst>
              <a:ext uri="{FF2B5EF4-FFF2-40B4-BE49-F238E27FC236}">
                <a16:creationId xmlns:a16="http://schemas.microsoft.com/office/drawing/2014/main" id="{569B0A4B-C14F-17DC-43E3-559870D2FCB4}"/>
              </a:ext>
            </a:extLst>
          </p:cNvPr>
          <p:cNvPicPr>
            <a:picLocks noChangeAspect="1"/>
          </p:cNvPicPr>
          <p:nvPr/>
        </p:nvPicPr>
        <p:blipFill>
          <a:blip r:embed="rId3"/>
          <a:stretch>
            <a:fillRect/>
          </a:stretch>
        </p:blipFill>
        <p:spPr>
          <a:xfrm>
            <a:off x="8638953" y="4723074"/>
            <a:ext cx="2705476" cy="1873405"/>
          </a:xfrm>
          <a:prstGeom prst="rect">
            <a:avLst/>
          </a:prstGeom>
        </p:spPr>
      </p:pic>
      <p:pic>
        <p:nvPicPr>
          <p:cNvPr id="6" name="Picture 5">
            <a:extLst>
              <a:ext uri="{FF2B5EF4-FFF2-40B4-BE49-F238E27FC236}">
                <a16:creationId xmlns:a16="http://schemas.microsoft.com/office/drawing/2014/main" id="{88303D6A-079B-8875-B2E0-A0186D96E6F3}"/>
              </a:ext>
            </a:extLst>
          </p:cNvPr>
          <p:cNvPicPr>
            <a:picLocks noChangeAspect="1"/>
          </p:cNvPicPr>
          <p:nvPr/>
        </p:nvPicPr>
        <p:blipFill>
          <a:blip r:embed="rId4"/>
          <a:stretch>
            <a:fillRect/>
          </a:stretch>
        </p:blipFill>
        <p:spPr>
          <a:xfrm>
            <a:off x="4668452" y="2188778"/>
            <a:ext cx="2630636" cy="1816737"/>
          </a:xfrm>
          <a:prstGeom prst="rect">
            <a:avLst/>
          </a:prstGeom>
        </p:spPr>
      </p:pic>
      <p:pic>
        <p:nvPicPr>
          <p:cNvPr id="7" name="Picture 6">
            <a:extLst>
              <a:ext uri="{FF2B5EF4-FFF2-40B4-BE49-F238E27FC236}">
                <a16:creationId xmlns:a16="http://schemas.microsoft.com/office/drawing/2014/main" id="{000CF358-D53C-0F98-4770-DD8CC38E36D2}"/>
              </a:ext>
            </a:extLst>
          </p:cNvPr>
          <p:cNvPicPr>
            <a:picLocks noChangeAspect="1"/>
          </p:cNvPicPr>
          <p:nvPr/>
        </p:nvPicPr>
        <p:blipFill>
          <a:blip r:embed="rId5"/>
          <a:stretch>
            <a:fillRect/>
          </a:stretch>
        </p:blipFill>
        <p:spPr>
          <a:xfrm>
            <a:off x="4668452" y="4723074"/>
            <a:ext cx="2649640" cy="1749140"/>
          </a:xfrm>
          <a:prstGeom prst="rect">
            <a:avLst/>
          </a:prstGeom>
        </p:spPr>
      </p:pic>
      <p:sp>
        <p:nvSpPr>
          <p:cNvPr id="9" name="TextBox 8">
            <a:extLst>
              <a:ext uri="{FF2B5EF4-FFF2-40B4-BE49-F238E27FC236}">
                <a16:creationId xmlns:a16="http://schemas.microsoft.com/office/drawing/2014/main" id="{7BE8993F-D4F3-5982-1F2D-1E769AD63B67}"/>
              </a:ext>
            </a:extLst>
          </p:cNvPr>
          <p:cNvSpPr txBox="1"/>
          <p:nvPr/>
        </p:nvSpPr>
        <p:spPr>
          <a:xfrm>
            <a:off x="5244713" y="1634780"/>
            <a:ext cx="6099716" cy="553998"/>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Small effect size</a:t>
            </a:r>
          </a:p>
          <a:p>
            <a:r>
              <a:rPr lang="en-GB" sz="1500" dirty="0">
                <a:solidFill>
                  <a:schemeClr val="accent6">
                    <a:lumMod val="50000"/>
                  </a:schemeClr>
                </a:solidFill>
                <a:latin typeface="Avenir Book" panose="02000503020000020003" pitchFamily="2" charset="0"/>
              </a:rPr>
              <a:t>Small confidence interval</a:t>
            </a:r>
          </a:p>
        </p:txBody>
      </p:sp>
      <p:sp>
        <p:nvSpPr>
          <p:cNvPr id="10" name="TextBox 9">
            <a:extLst>
              <a:ext uri="{FF2B5EF4-FFF2-40B4-BE49-F238E27FC236}">
                <a16:creationId xmlns:a16="http://schemas.microsoft.com/office/drawing/2014/main" id="{C32A2A09-D1F6-C787-AC2A-276DB4D966E8}"/>
              </a:ext>
            </a:extLst>
          </p:cNvPr>
          <p:cNvSpPr txBox="1"/>
          <p:nvPr/>
        </p:nvSpPr>
        <p:spPr>
          <a:xfrm>
            <a:off x="8870832" y="1645614"/>
            <a:ext cx="6099716" cy="553998"/>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Big effect size</a:t>
            </a:r>
          </a:p>
          <a:p>
            <a:r>
              <a:rPr lang="en-GB" sz="1500" dirty="0">
                <a:solidFill>
                  <a:schemeClr val="accent6">
                    <a:lumMod val="50000"/>
                  </a:schemeClr>
                </a:solidFill>
                <a:latin typeface="Avenir Book" panose="02000503020000020003" pitchFamily="2" charset="0"/>
              </a:rPr>
              <a:t>Big confidence interval</a:t>
            </a:r>
          </a:p>
        </p:txBody>
      </p:sp>
      <p:sp>
        <p:nvSpPr>
          <p:cNvPr id="11" name="TextBox 10">
            <a:extLst>
              <a:ext uri="{FF2B5EF4-FFF2-40B4-BE49-F238E27FC236}">
                <a16:creationId xmlns:a16="http://schemas.microsoft.com/office/drawing/2014/main" id="{CC6B7FF3-500B-9497-198C-3D76D95835C0}"/>
              </a:ext>
            </a:extLst>
          </p:cNvPr>
          <p:cNvSpPr txBox="1"/>
          <p:nvPr/>
        </p:nvSpPr>
        <p:spPr>
          <a:xfrm>
            <a:off x="9044252" y="4282514"/>
            <a:ext cx="6099716" cy="553998"/>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Big effect size</a:t>
            </a:r>
          </a:p>
          <a:p>
            <a:r>
              <a:rPr lang="en-GB" sz="1500" dirty="0">
                <a:solidFill>
                  <a:schemeClr val="accent6">
                    <a:lumMod val="50000"/>
                  </a:schemeClr>
                </a:solidFill>
                <a:latin typeface="Avenir Book" panose="02000503020000020003" pitchFamily="2" charset="0"/>
              </a:rPr>
              <a:t>Small confidence interval</a:t>
            </a:r>
          </a:p>
        </p:txBody>
      </p:sp>
      <p:sp>
        <p:nvSpPr>
          <p:cNvPr id="12" name="TextBox 11">
            <a:extLst>
              <a:ext uri="{FF2B5EF4-FFF2-40B4-BE49-F238E27FC236}">
                <a16:creationId xmlns:a16="http://schemas.microsoft.com/office/drawing/2014/main" id="{51D8622B-88FD-9D36-1CB0-4BB68EBF60D3}"/>
              </a:ext>
            </a:extLst>
          </p:cNvPr>
          <p:cNvSpPr txBox="1"/>
          <p:nvPr/>
        </p:nvSpPr>
        <p:spPr>
          <a:xfrm>
            <a:off x="5148688" y="4284523"/>
            <a:ext cx="6099716" cy="553998"/>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Small effect size</a:t>
            </a:r>
          </a:p>
          <a:p>
            <a:r>
              <a:rPr lang="en-GB" sz="1500" dirty="0">
                <a:solidFill>
                  <a:schemeClr val="accent6">
                    <a:lumMod val="50000"/>
                  </a:schemeClr>
                </a:solidFill>
                <a:latin typeface="Avenir Book" panose="02000503020000020003" pitchFamily="2" charset="0"/>
              </a:rPr>
              <a:t>Big confidence interval</a:t>
            </a:r>
          </a:p>
        </p:txBody>
      </p:sp>
      <p:sp>
        <p:nvSpPr>
          <p:cNvPr id="13" name="Oval 12">
            <a:extLst>
              <a:ext uri="{FF2B5EF4-FFF2-40B4-BE49-F238E27FC236}">
                <a16:creationId xmlns:a16="http://schemas.microsoft.com/office/drawing/2014/main" id="{45AC0DEA-AAE3-49C3-DF70-9BF056E1BDEC}"/>
              </a:ext>
            </a:extLst>
          </p:cNvPr>
          <p:cNvSpPr/>
          <p:nvPr/>
        </p:nvSpPr>
        <p:spPr>
          <a:xfrm>
            <a:off x="4571809" y="4005515"/>
            <a:ext cx="3109203" cy="259096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FF1F76B-1B75-01E5-33E1-2CC6F05A732D}"/>
              </a:ext>
            </a:extLst>
          </p:cNvPr>
          <p:cNvSpPr txBox="1"/>
          <p:nvPr/>
        </p:nvSpPr>
        <p:spPr>
          <a:xfrm>
            <a:off x="6941833" y="6587600"/>
            <a:ext cx="6099716" cy="323165"/>
          </a:xfrm>
          <a:prstGeom prst="rect">
            <a:avLst/>
          </a:prstGeom>
          <a:noFill/>
        </p:spPr>
        <p:txBody>
          <a:bodyPr wrap="square">
            <a:spAutoFit/>
          </a:bodyPr>
          <a:lstStyle/>
          <a:p>
            <a:r>
              <a:rPr lang="en-GB" sz="1500" dirty="0">
                <a:solidFill>
                  <a:srgbClr val="C00000"/>
                </a:solidFill>
                <a:latin typeface="Avenir Book" panose="02000503020000020003" pitchFamily="2" charset="0"/>
              </a:rPr>
              <a:t>It may be significant, but it’s not especially useful</a:t>
            </a:r>
          </a:p>
        </p:txBody>
      </p:sp>
      <p:cxnSp>
        <p:nvCxnSpPr>
          <p:cNvPr id="16" name="Straight Arrow Connector 15">
            <a:extLst>
              <a:ext uri="{FF2B5EF4-FFF2-40B4-BE49-F238E27FC236}">
                <a16:creationId xmlns:a16="http://schemas.microsoft.com/office/drawing/2014/main" id="{DA688231-1771-6656-F907-0A857EC1ED16}"/>
              </a:ext>
            </a:extLst>
          </p:cNvPr>
          <p:cNvCxnSpPr/>
          <p:nvPr/>
        </p:nvCxnSpPr>
        <p:spPr>
          <a:xfrm flipH="1" flipV="1">
            <a:off x="6737131" y="6596479"/>
            <a:ext cx="105103" cy="11963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0126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72141-DA80-3E19-C829-7B2195911F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CAE84A-2924-9B8D-4062-919C9C910D65}"/>
              </a:ext>
            </a:extLst>
          </p:cNvPr>
          <p:cNvSpPr txBox="1"/>
          <p:nvPr/>
        </p:nvSpPr>
        <p:spPr>
          <a:xfrm>
            <a:off x="4407462" y="1997839"/>
            <a:ext cx="3377073" cy="2862322"/>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That’s the logic. </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916806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0D793-9D3B-5E1C-1E2A-9E7A6EBFA2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7E0CA6-FD84-DA8C-8DD7-4401C9D134DB}"/>
              </a:ext>
            </a:extLst>
          </p:cNvPr>
          <p:cNvSpPr txBox="1"/>
          <p:nvPr/>
        </p:nvSpPr>
        <p:spPr>
          <a:xfrm>
            <a:off x="4407462" y="1997839"/>
            <a:ext cx="3377073" cy="2862322"/>
          </a:xfrm>
          <a:prstGeom prst="rect">
            <a:avLst/>
          </a:prstGeom>
          <a:noFill/>
        </p:spPr>
        <p:txBody>
          <a:bodyPr wrap="square">
            <a:spAutoFit/>
          </a:bodyPr>
          <a:lstStyle/>
          <a:p>
            <a:pPr algn="ctr"/>
            <a:r>
              <a:rPr lang="en-GB" sz="2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Side note: this is also why with </a:t>
            </a:r>
            <a:r>
              <a:rPr lang="en-GB" sz="2000" dirty="0" err="1">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DHARMa</a:t>
            </a:r>
            <a:r>
              <a:rPr lang="en-GB" sz="2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/other diagnostics (e.g. Shapiro test!) you should use common sense. If it’s significant, but the graphs don’t look crazy, it’s probably just cos you have a large dataset</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906258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BC7E7-257B-E525-D810-A130E7C332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BEA929-9DAB-5863-8DA4-DB326A0DBA2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502E6571-A035-9F4A-AB77-E8AE4443F0EE}"/>
              </a:ext>
            </a:extLst>
          </p:cNvPr>
          <p:cNvGraphicFramePr>
            <a:graphicFrameLocks noGrp="1"/>
          </p:cNvGraphicFramePr>
          <p:nvPr/>
        </p:nvGraphicFramePr>
        <p:xfrm>
          <a:off x="339834" y="3010921"/>
          <a:ext cx="5178100" cy="138176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bl>
          </a:graphicData>
        </a:graphic>
      </p:graphicFrame>
      <p:grpSp>
        <p:nvGrpSpPr>
          <p:cNvPr id="7" name="Group 6">
            <a:extLst>
              <a:ext uri="{FF2B5EF4-FFF2-40B4-BE49-F238E27FC236}">
                <a16:creationId xmlns:a16="http://schemas.microsoft.com/office/drawing/2014/main" id="{CC3C4BFD-EB3B-E3CF-0814-101DCBEEB5C8}"/>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B5F978E7-23FF-490C-9F11-4439DE93C81C}"/>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5119264-A0F6-BE99-14AE-95639EB0F3BD}"/>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7928B4DD-B137-88D5-969F-0C47C418C309}"/>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02D027F7-95EB-40B3-7A46-C97C9CED4826}"/>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cxnSp>
        <p:nvCxnSpPr>
          <p:cNvPr id="12" name="Straight Connector 11">
            <a:extLst>
              <a:ext uri="{FF2B5EF4-FFF2-40B4-BE49-F238E27FC236}">
                <a16:creationId xmlns:a16="http://schemas.microsoft.com/office/drawing/2014/main" id="{0C4B5D3E-38ED-BB7B-9B52-3D2B6E60F968}"/>
              </a:ext>
            </a:extLst>
          </p:cNvPr>
          <p:cNvCxnSpPr>
            <a:cxnSpLocks/>
          </p:cNvCxnSpPr>
          <p:nvPr/>
        </p:nvCxnSpPr>
        <p:spPr>
          <a:xfrm flipV="1">
            <a:off x="6941833" y="2995501"/>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762DC60-F424-4BB7-5869-0A2930CBB819}"/>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3E0D9514-3CD0-D5FC-85D6-B825C000EDBD}"/>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402588D7-3811-D1F6-AF40-C40EC5FEE91F}"/>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0F7DFBD2-7F3C-D9C6-6DFB-8B7E0E43C777}"/>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B4DB41E2-14B9-DF77-1736-E7FC4126116D}"/>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1CA73090-059D-7527-F806-A399DFA19794}"/>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C6618FAF-E988-9964-5774-225EAE586213}"/>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14" name="TextBox 13">
            <a:extLst>
              <a:ext uri="{FF2B5EF4-FFF2-40B4-BE49-F238E27FC236}">
                <a16:creationId xmlns:a16="http://schemas.microsoft.com/office/drawing/2014/main" id="{9F28DB2F-A2A1-5B32-49E8-94FC543D250B}"/>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108233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C665A-86A7-775B-E5FF-BAADFA28DB6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B9B0569-7A7F-3F4D-33AA-D8E398F7E1B1}"/>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F1537B64-5602-5A44-7BBA-E295BC58F187}"/>
              </a:ext>
            </a:extLst>
          </p:cNvPr>
          <p:cNvGraphicFramePr>
            <a:graphicFrameLocks noGrp="1"/>
          </p:cNvGraphicFramePr>
          <p:nvPr/>
        </p:nvGraphicFramePr>
        <p:xfrm>
          <a:off x="339834" y="3010921"/>
          <a:ext cx="5178100" cy="138176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bl>
          </a:graphicData>
        </a:graphic>
      </p:graphicFrame>
      <p:grpSp>
        <p:nvGrpSpPr>
          <p:cNvPr id="7" name="Group 6">
            <a:extLst>
              <a:ext uri="{FF2B5EF4-FFF2-40B4-BE49-F238E27FC236}">
                <a16:creationId xmlns:a16="http://schemas.microsoft.com/office/drawing/2014/main" id="{DFB467E6-ABDC-7B0C-D159-9DB53D45D8F7}"/>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575D9356-4B66-2E6A-C9A5-26AC936C35D7}"/>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E1DDCC6-9488-A06C-690A-FBFE1ACC0EE7}"/>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A4C7CBE3-8B9D-6572-D728-F0CCDB22E358}"/>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C3772E7F-F2E0-4651-184A-424D95102F0D}"/>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cxnSp>
        <p:nvCxnSpPr>
          <p:cNvPr id="12" name="Straight Connector 11">
            <a:extLst>
              <a:ext uri="{FF2B5EF4-FFF2-40B4-BE49-F238E27FC236}">
                <a16:creationId xmlns:a16="http://schemas.microsoft.com/office/drawing/2014/main" id="{CD527747-BC68-6338-583E-A1CF384C9828}"/>
              </a:ext>
            </a:extLst>
          </p:cNvPr>
          <p:cNvCxnSpPr>
            <a:cxnSpLocks/>
          </p:cNvCxnSpPr>
          <p:nvPr/>
        </p:nvCxnSpPr>
        <p:spPr>
          <a:xfrm flipV="1">
            <a:off x="6941833" y="2995501"/>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E9F4362-C098-AC02-8EBA-4A7083DFFCE7}"/>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B0D9EDF9-3947-C980-38BA-F7B9EFA3C7B8}"/>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D659DFAC-D196-0127-50F8-ADA2D4E1CED6}"/>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FE41F948-9533-5545-3246-40120B6F6648}"/>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93CBF2E4-C977-52BB-DDB6-CC90BA393B77}"/>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8D52C0A5-DFE7-5048-30D8-4B2D9D1E4F1C}"/>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7C0B9771-3955-A243-A870-A6D62E6A2143}"/>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3" name="Oval 2">
            <a:extLst>
              <a:ext uri="{FF2B5EF4-FFF2-40B4-BE49-F238E27FC236}">
                <a16:creationId xmlns:a16="http://schemas.microsoft.com/office/drawing/2014/main" id="{ABCC2F8D-F63B-4FA8-1F50-F24FC427E11B}"/>
              </a:ext>
            </a:extLst>
          </p:cNvPr>
          <p:cNvSpPr/>
          <p:nvPr/>
        </p:nvSpPr>
        <p:spPr>
          <a:xfrm>
            <a:off x="1513490" y="3690945"/>
            <a:ext cx="588580" cy="337003"/>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4AFEBEB-D8F3-2FD5-B581-F1E4D010AE1B}"/>
              </a:ext>
            </a:extLst>
          </p:cNvPr>
          <p:cNvSpPr txBox="1"/>
          <p:nvPr/>
        </p:nvSpPr>
        <p:spPr>
          <a:xfrm>
            <a:off x="2808235" y="4678028"/>
            <a:ext cx="6099716" cy="323165"/>
          </a:xfrm>
          <a:prstGeom prst="rect">
            <a:avLst/>
          </a:prstGeom>
          <a:noFill/>
        </p:spPr>
        <p:txBody>
          <a:bodyPr wrap="square">
            <a:spAutoFit/>
          </a:bodyPr>
          <a:lstStyle/>
          <a:p>
            <a:r>
              <a:rPr lang="en-GB" sz="1500" dirty="0">
                <a:solidFill>
                  <a:srgbClr val="C00000"/>
                </a:solidFill>
                <a:latin typeface="Avenir Book" panose="02000503020000020003" pitchFamily="2" charset="0"/>
              </a:rPr>
              <a:t>Line intercepts y axis at log(count) = 1</a:t>
            </a:r>
          </a:p>
        </p:txBody>
      </p:sp>
      <p:cxnSp>
        <p:nvCxnSpPr>
          <p:cNvPr id="6" name="Straight Arrow Connector 5">
            <a:extLst>
              <a:ext uri="{FF2B5EF4-FFF2-40B4-BE49-F238E27FC236}">
                <a16:creationId xmlns:a16="http://schemas.microsoft.com/office/drawing/2014/main" id="{C4E4DE16-B7EB-2FAF-2FD2-79C002E708B3}"/>
              </a:ext>
            </a:extLst>
          </p:cNvPr>
          <p:cNvCxnSpPr>
            <a:cxnSpLocks/>
          </p:cNvCxnSpPr>
          <p:nvPr/>
        </p:nvCxnSpPr>
        <p:spPr>
          <a:xfrm>
            <a:off x="2217683" y="3859446"/>
            <a:ext cx="4681538" cy="99365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45CF876-D727-54A2-2620-84D067088259}"/>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33835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CEBC8-A583-7495-489B-0B80BA7A367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00FA889-3F4A-2550-762C-9A83601A22E1}"/>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A1A11D99-FFD8-2806-B36B-9D5FF32EF5E2}"/>
              </a:ext>
            </a:extLst>
          </p:cNvPr>
          <p:cNvGraphicFramePr>
            <a:graphicFrameLocks noGrp="1"/>
          </p:cNvGraphicFramePr>
          <p:nvPr>
            <p:extLst>
              <p:ext uri="{D42A27DB-BD31-4B8C-83A1-F6EECF244321}">
                <p14:modId xmlns:p14="http://schemas.microsoft.com/office/powerpoint/2010/main" val="782203481"/>
              </p:ext>
            </p:extLst>
          </p:nvPr>
        </p:nvGraphicFramePr>
        <p:xfrm>
          <a:off x="339834" y="3010921"/>
          <a:ext cx="5178100" cy="138176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bl>
          </a:graphicData>
        </a:graphic>
      </p:graphicFrame>
      <p:grpSp>
        <p:nvGrpSpPr>
          <p:cNvPr id="7" name="Group 6">
            <a:extLst>
              <a:ext uri="{FF2B5EF4-FFF2-40B4-BE49-F238E27FC236}">
                <a16:creationId xmlns:a16="http://schemas.microsoft.com/office/drawing/2014/main" id="{920F8DB3-4D57-D4DD-275F-2C922E876EF2}"/>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E593E3E7-436B-2407-E38E-940B323113DE}"/>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48B8341-8217-7C68-979D-9561AA328C48}"/>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A4C03E12-89D3-9309-8305-9A0CA9B73377}"/>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66938DB4-1068-D5C6-2233-01F0FEBBFEA3}"/>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cxnSp>
        <p:nvCxnSpPr>
          <p:cNvPr id="12" name="Straight Connector 11">
            <a:extLst>
              <a:ext uri="{FF2B5EF4-FFF2-40B4-BE49-F238E27FC236}">
                <a16:creationId xmlns:a16="http://schemas.microsoft.com/office/drawing/2014/main" id="{BD1C12A0-DF0E-44C4-C2F2-41611CC0915E}"/>
              </a:ext>
            </a:extLst>
          </p:cNvPr>
          <p:cNvCxnSpPr>
            <a:cxnSpLocks/>
          </p:cNvCxnSpPr>
          <p:nvPr/>
        </p:nvCxnSpPr>
        <p:spPr>
          <a:xfrm flipV="1">
            <a:off x="6941833" y="2995501"/>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835EBF0-29F5-AF27-A026-949C0FC4BE20}"/>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C16E2A98-0311-79ED-5937-78687A70775A}"/>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720A03D8-9313-60E5-E0F3-BAC619268EE3}"/>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1531BB13-6130-AA49-8FFF-2E96544E7051}"/>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14428549-BB4E-C10C-7634-C79FD493BC08}"/>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1BD04911-4CFA-2F72-EC2F-154F95243165}"/>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BEC4802B-59B8-57ED-4564-61219C7B1F8A}"/>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3" name="Oval 2">
            <a:extLst>
              <a:ext uri="{FF2B5EF4-FFF2-40B4-BE49-F238E27FC236}">
                <a16:creationId xmlns:a16="http://schemas.microsoft.com/office/drawing/2014/main" id="{1F85E755-E238-931C-F7C6-82325477962D}"/>
              </a:ext>
            </a:extLst>
          </p:cNvPr>
          <p:cNvSpPr/>
          <p:nvPr/>
        </p:nvSpPr>
        <p:spPr>
          <a:xfrm>
            <a:off x="1629103" y="4055678"/>
            <a:ext cx="588580" cy="337003"/>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169EF39-38E4-453E-C915-DF3E32121837}"/>
              </a:ext>
            </a:extLst>
          </p:cNvPr>
          <p:cNvSpPr txBox="1"/>
          <p:nvPr/>
        </p:nvSpPr>
        <p:spPr>
          <a:xfrm>
            <a:off x="3132624" y="4495067"/>
            <a:ext cx="3001482" cy="553998"/>
          </a:xfrm>
          <a:prstGeom prst="rect">
            <a:avLst/>
          </a:prstGeom>
          <a:noFill/>
        </p:spPr>
        <p:txBody>
          <a:bodyPr wrap="square">
            <a:spAutoFit/>
          </a:bodyPr>
          <a:lstStyle/>
          <a:p>
            <a:r>
              <a:rPr lang="en-GB" sz="1500" dirty="0">
                <a:solidFill>
                  <a:srgbClr val="C00000"/>
                </a:solidFill>
                <a:latin typeface="Avenir Book" panose="02000503020000020003" pitchFamily="2" charset="0"/>
              </a:rPr>
              <a:t>log(count) goes up by 0.5 every year (so at Year 1, it’s 1.5)</a:t>
            </a:r>
          </a:p>
        </p:txBody>
      </p:sp>
      <p:cxnSp>
        <p:nvCxnSpPr>
          <p:cNvPr id="6" name="Straight Arrow Connector 5">
            <a:extLst>
              <a:ext uri="{FF2B5EF4-FFF2-40B4-BE49-F238E27FC236}">
                <a16:creationId xmlns:a16="http://schemas.microsoft.com/office/drawing/2014/main" id="{8C166738-885C-A178-502C-263D45F99480}"/>
              </a:ext>
            </a:extLst>
          </p:cNvPr>
          <p:cNvCxnSpPr>
            <a:cxnSpLocks/>
          </p:cNvCxnSpPr>
          <p:nvPr/>
        </p:nvCxnSpPr>
        <p:spPr>
          <a:xfrm>
            <a:off x="2324896" y="4245468"/>
            <a:ext cx="5173369" cy="35557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4F5381D-A267-4160-82B7-A9063F6391BA}"/>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0598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405AC-87F8-116E-A90A-A821172B58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061E106-5DFE-48ED-145B-8BBB0C1598C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01823BB4-4FC6-A36D-BF03-E6CD57B04B68}"/>
              </a:ext>
            </a:extLst>
          </p:cNvPr>
          <p:cNvGraphicFramePr>
            <a:graphicFrameLocks noGrp="1"/>
          </p:cNvGraphicFramePr>
          <p:nvPr>
            <p:extLst>
              <p:ext uri="{D42A27DB-BD31-4B8C-83A1-F6EECF244321}">
                <p14:modId xmlns:p14="http://schemas.microsoft.com/office/powerpoint/2010/main" val="2605280117"/>
              </p:ext>
            </p:extLst>
          </p:nvPr>
        </p:nvGraphicFramePr>
        <p:xfrm>
          <a:off x="339834" y="3010921"/>
          <a:ext cx="5178100" cy="138176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bl>
          </a:graphicData>
        </a:graphic>
      </p:graphicFrame>
      <p:grpSp>
        <p:nvGrpSpPr>
          <p:cNvPr id="7" name="Group 6">
            <a:extLst>
              <a:ext uri="{FF2B5EF4-FFF2-40B4-BE49-F238E27FC236}">
                <a16:creationId xmlns:a16="http://schemas.microsoft.com/office/drawing/2014/main" id="{DD1360DB-F45A-E3EF-1F7F-787E9BCBD65E}"/>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577960EE-A24A-666B-3922-023D4BCC21EF}"/>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A367733-94AB-6D84-F98C-AF36989D7C65}"/>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A45A1C21-2DDF-EA5D-6A5A-BEE02DFCD26B}"/>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0D939820-989C-F54E-4070-595BB44338D5}"/>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E717BDF6-7C93-460A-AE3B-F8A1DD7692F3}"/>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6142F338-59E8-6FAD-A8D8-ECDA92769E5F}"/>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6C54CEF8-0121-05B1-FE8C-939D88686FEE}"/>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DD0F9C56-826F-3285-9EF8-122FCDA65818}"/>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5C54CDD1-149D-7B4D-C32B-0F77D96A1122}"/>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C4727121-7A0C-88E7-7A97-714D5A153881}"/>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A4CC58EC-66AC-F72F-8304-0776E404F9D0}"/>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13" name="TextBox 12">
            <a:extLst>
              <a:ext uri="{FF2B5EF4-FFF2-40B4-BE49-F238E27FC236}">
                <a16:creationId xmlns:a16="http://schemas.microsoft.com/office/drawing/2014/main" id="{873C6EBF-6CF1-D781-D268-9AE0223868C8}"/>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454770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7117B-4EC4-7FD4-F7C9-02C355D5D3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B9CD6F-F15F-6A2F-3BA6-B038CC6B5BE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64F56521-CD1F-95A1-D285-2DF2E15866F4}"/>
              </a:ext>
            </a:extLst>
          </p:cNvPr>
          <p:cNvGraphicFramePr>
            <a:graphicFrameLocks noGrp="1"/>
          </p:cNvGraphicFramePr>
          <p:nvPr/>
        </p:nvGraphicFramePr>
        <p:xfrm>
          <a:off x="339834" y="3010921"/>
          <a:ext cx="5178100" cy="138176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bl>
          </a:graphicData>
        </a:graphic>
      </p:graphicFrame>
      <p:grpSp>
        <p:nvGrpSpPr>
          <p:cNvPr id="7" name="Group 6">
            <a:extLst>
              <a:ext uri="{FF2B5EF4-FFF2-40B4-BE49-F238E27FC236}">
                <a16:creationId xmlns:a16="http://schemas.microsoft.com/office/drawing/2014/main" id="{2D6C73A5-EBC9-2C21-C996-2458F2E8CE6A}"/>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44514C59-4914-16B0-8C2C-750F615ACAE0}"/>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CBD1C8B-1222-3E28-518D-0D8C095DB0A2}"/>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5640A98C-0AB2-D848-2C03-6405A83FA458}"/>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96E8D613-D172-F75D-6B43-1737AF4E634B}"/>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89266163-1C34-5BD3-054F-5F1D39097512}"/>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F7E8D820-4DD8-3280-1A49-0FF8A2F79D83}"/>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A8743C44-69C5-221F-7475-DD0CE9AFADBF}"/>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59B2113F-1CAE-D596-A54C-3538083284D2}"/>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8B030C01-29BA-88BE-B718-FFD36B8857BE}"/>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A732C5D4-0DC9-A2CD-8CE8-26F0474F8529}"/>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58A15E11-75F1-5949-ADCD-565DE1B21FD3}"/>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3" name="Straight Connector 2">
            <a:extLst>
              <a:ext uri="{FF2B5EF4-FFF2-40B4-BE49-F238E27FC236}">
                <a16:creationId xmlns:a16="http://schemas.microsoft.com/office/drawing/2014/main" id="{E569FE0A-0AA2-6548-0ECF-C5A63F36F6AE}"/>
              </a:ext>
            </a:extLst>
          </p:cNvPr>
          <p:cNvCxnSpPr>
            <a:cxnSpLocks/>
          </p:cNvCxnSpPr>
          <p:nvPr/>
        </p:nvCxnSpPr>
        <p:spPr>
          <a:xfrm>
            <a:off x="6958452" y="3605048"/>
            <a:ext cx="2490348" cy="187100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078E9EA-9AEC-5C4D-7EE0-01B9AA6A5C60}"/>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1719854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56581-7F08-59A9-1EDD-8E0C90838B2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A428F02-8522-1B26-58FC-9906CAF37EE0}"/>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76EFFE43-DD34-D23C-59A9-583EB950758B}"/>
              </a:ext>
            </a:extLst>
          </p:cNvPr>
          <p:cNvGraphicFramePr>
            <a:graphicFrameLocks noGrp="1"/>
          </p:cNvGraphicFramePr>
          <p:nvPr>
            <p:extLst>
              <p:ext uri="{D42A27DB-BD31-4B8C-83A1-F6EECF244321}">
                <p14:modId xmlns:p14="http://schemas.microsoft.com/office/powerpoint/2010/main" val="3153049810"/>
              </p:ext>
            </p:extLst>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E2503416-AB2E-04FC-E1ED-736E0A6542C2}"/>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B9BD6097-79BA-D168-6C61-C250945D9755}"/>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F26924C-9D56-20C4-38DF-BBCC38B99185}"/>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C85727F2-6FC9-8236-0D47-C4D6DE5E38F6}"/>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7D6BFA95-1B86-7A75-D042-A428F881A374}"/>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EB94C86D-64BE-127C-BF18-63016A9C763E}"/>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B3BA4872-76E4-92C9-B903-E5A21A8434ED}"/>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B479487F-986A-2622-39DB-CF127245A536}"/>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E579FBDF-B6DE-EE3A-6637-3FA1BA12EB29}"/>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5A396A96-F3C5-7B71-177E-12A5497C6148}"/>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61B8F88A-6C8E-BD01-484B-EB1B08D7C992}"/>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E633196F-1195-EFC7-1FBF-CF9BEB18410E}"/>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3" name="TextBox 2">
            <a:extLst>
              <a:ext uri="{FF2B5EF4-FFF2-40B4-BE49-F238E27FC236}">
                <a16:creationId xmlns:a16="http://schemas.microsoft.com/office/drawing/2014/main" id="{234F9EAF-FB7E-D70F-5AA8-B18568BD86FA}"/>
              </a:ext>
            </a:extLst>
          </p:cNvPr>
          <p:cNvSpPr txBox="1"/>
          <p:nvPr/>
        </p:nvSpPr>
        <p:spPr>
          <a:xfrm>
            <a:off x="205701" y="1956101"/>
            <a:ext cx="6099716" cy="323165"/>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We have count data across four sites: Site1, Site2, Site 3</a:t>
            </a:r>
          </a:p>
        </p:txBody>
      </p:sp>
      <p:sp>
        <p:nvSpPr>
          <p:cNvPr id="5" name="TextBox 4">
            <a:extLst>
              <a:ext uri="{FF2B5EF4-FFF2-40B4-BE49-F238E27FC236}">
                <a16:creationId xmlns:a16="http://schemas.microsoft.com/office/drawing/2014/main" id="{B1C2C993-C34C-B55C-7592-8CF7A0E529C6}"/>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sz="1800" dirty="0">
                <a:solidFill>
                  <a:schemeClr val="accent6">
                    <a:lumMod val="50000"/>
                  </a:schemeClr>
                </a:solidFill>
                <a:highlight>
                  <a:srgbClr val="FFFF00"/>
                </a:highlight>
                <a:latin typeface="Avenir Book" panose="02000503020000020003" pitchFamily="2" charset="0"/>
              </a:rPr>
              <a:t>+ Site</a:t>
            </a:r>
            <a:r>
              <a:rPr lang="en-GB" sz="1800" dirty="0">
                <a:solidFill>
                  <a:schemeClr val="accent6">
                    <a:lumMod val="50000"/>
                  </a:schemeClr>
                </a:solidFill>
                <a:latin typeface="Avenir Book" panose="02000503020000020003" pitchFamily="2" charset="0"/>
              </a:rPr>
              <a:t>,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986134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39CAD-64B4-05E7-4477-5132207C56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AC0089-E886-1B82-E061-0DDA591C0497}"/>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E81C9DD9-7AFA-AE74-70F8-A5600FE6356F}"/>
              </a:ext>
            </a:extLst>
          </p:cNvPr>
          <p:cNvGraphicFramePr>
            <a:graphicFrameLocks noGrp="1"/>
          </p:cNvGraphicFramePr>
          <p:nvPr>
            <p:extLst>
              <p:ext uri="{D42A27DB-BD31-4B8C-83A1-F6EECF244321}">
                <p14:modId xmlns:p14="http://schemas.microsoft.com/office/powerpoint/2010/main" val="2875362706"/>
              </p:ext>
            </p:extLst>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694F4F5D-36CB-4254-0CBE-B55D4E2898C0}"/>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2E8E5A79-E2A7-4901-4429-8249D9F02727}"/>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EFB8822-F421-0DD7-424A-6C141239571C}"/>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A9AAD561-0DDC-EAC5-D2F1-56A9B86D9239}"/>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747D9F9C-63E9-ED64-E61F-A078DA2AB00A}"/>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84F14B12-184E-AE6B-1143-8A9DDCD1356A}"/>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2F78CAE9-2DAB-D776-7A05-58BAC7103B18}"/>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461C465C-9BD5-8D08-9274-5B707F94D9FA}"/>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04F25367-1D83-E3DA-5B2C-3B29035F02C5}"/>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11F29521-10B3-1EB1-87EF-3CF188ED140D}"/>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B055E091-A77D-DA3C-D362-C74CCC9475D7}"/>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A78D5339-B3CA-5E55-8B74-E73EE2974A2A}"/>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3" name="TextBox 2">
            <a:extLst>
              <a:ext uri="{FF2B5EF4-FFF2-40B4-BE49-F238E27FC236}">
                <a16:creationId xmlns:a16="http://schemas.microsoft.com/office/drawing/2014/main" id="{9009D3F8-AFD7-ADD5-12F8-92FC0B970513}"/>
              </a:ext>
            </a:extLst>
          </p:cNvPr>
          <p:cNvSpPr txBox="1"/>
          <p:nvPr/>
        </p:nvSpPr>
        <p:spPr>
          <a:xfrm>
            <a:off x="205701" y="1956101"/>
            <a:ext cx="6099716" cy="323165"/>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We have count data across four sites: Site1, Site2, Site 3</a:t>
            </a:r>
          </a:p>
        </p:txBody>
      </p:sp>
      <p:sp>
        <p:nvSpPr>
          <p:cNvPr id="5" name="TextBox 4">
            <a:extLst>
              <a:ext uri="{FF2B5EF4-FFF2-40B4-BE49-F238E27FC236}">
                <a16:creationId xmlns:a16="http://schemas.microsoft.com/office/drawing/2014/main" id="{DE8CFCC3-268E-71CF-7CDD-C63534CE7DB9}"/>
              </a:ext>
            </a:extLst>
          </p:cNvPr>
          <p:cNvSpPr txBox="1"/>
          <p:nvPr/>
        </p:nvSpPr>
        <p:spPr>
          <a:xfrm>
            <a:off x="807728" y="5879209"/>
            <a:ext cx="3001482" cy="323165"/>
          </a:xfrm>
          <a:prstGeom prst="rect">
            <a:avLst/>
          </a:prstGeom>
          <a:noFill/>
        </p:spPr>
        <p:txBody>
          <a:bodyPr wrap="square">
            <a:spAutoFit/>
          </a:bodyPr>
          <a:lstStyle/>
          <a:p>
            <a:r>
              <a:rPr lang="en-GB" sz="1500" dirty="0">
                <a:solidFill>
                  <a:srgbClr val="C00000"/>
                </a:solidFill>
                <a:latin typeface="Avenir Book" panose="02000503020000020003" pitchFamily="2" charset="0"/>
              </a:rPr>
              <a:t>Where’s Site 1 gone?</a:t>
            </a:r>
          </a:p>
        </p:txBody>
      </p:sp>
      <p:cxnSp>
        <p:nvCxnSpPr>
          <p:cNvPr id="6" name="Straight Arrow Connector 5">
            <a:extLst>
              <a:ext uri="{FF2B5EF4-FFF2-40B4-BE49-F238E27FC236}">
                <a16:creationId xmlns:a16="http://schemas.microsoft.com/office/drawing/2014/main" id="{37658C29-C89D-DEAE-11B7-3AA3CFF5452A}"/>
              </a:ext>
            </a:extLst>
          </p:cNvPr>
          <p:cNvCxnSpPr>
            <a:cxnSpLocks/>
          </p:cNvCxnSpPr>
          <p:nvPr/>
        </p:nvCxnSpPr>
        <p:spPr>
          <a:xfrm flipH="1" flipV="1">
            <a:off x="966952" y="4437812"/>
            <a:ext cx="504496" cy="136532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E7C5E18-983E-ADFB-C1D1-75C4CAC8EF45}"/>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366050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0F5EB-ADE0-DB24-80EF-C4C7C08535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90EC03-5E5E-E3F5-4813-7A191A9D43CB}"/>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E43D0C8B-2255-1750-6AEC-D93436D6F50D}"/>
              </a:ext>
            </a:extLst>
          </p:cNvPr>
          <p:cNvGraphicFramePr>
            <a:graphicFrameLocks noGrp="1"/>
          </p:cNvGraphicFramePr>
          <p:nvPr>
            <p:extLst>
              <p:ext uri="{D42A27DB-BD31-4B8C-83A1-F6EECF244321}">
                <p14:modId xmlns:p14="http://schemas.microsoft.com/office/powerpoint/2010/main" val="4285004680"/>
              </p:ext>
            </p:extLst>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0B25C77C-8D4E-1ED6-7123-BD81CEEA6586}"/>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C2C1C943-9E8E-C0FE-120B-862652AB0E76}"/>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219E87C-8249-DAED-8158-78B3A3AA8F36}"/>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958A7220-5769-A96B-F325-8F6C2A1B23FD}"/>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0D76025E-15C5-D1B3-BFB7-06B230951A51}"/>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0BA06F0A-2F2F-6D7C-1D36-61F6518F5B83}"/>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C14F1568-545E-8688-70ED-762CD0E5E9C6}"/>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B477D12C-10FE-EAC4-3269-421F2B8EF8A0}"/>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B0F088CB-0D2B-79E2-C9B8-FBE1636CA478}"/>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B9D7ED81-C4C6-0928-CEDC-F0C4F61C260F}"/>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94FC2793-127A-DB6F-32BB-279A05A344A7}"/>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534523DF-2ACA-1851-3E07-C398CB392DBF}"/>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3" name="TextBox 2">
            <a:extLst>
              <a:ext uri="{FF2B5EF4-FFF2-40B4-BE49-F238E27FC236}">
                <a16:creationId xmlns:a16="http://schemas.microsoft.com/office/drawing/2014/main" id="{220B2D01-5BB1-3006-7C65-62209537EDA0}"/>
              </a:ext>
            </a:extLst>
          </p:cNvPr>
          <p:cNvSpPr txBox="1"/>
          <p:nvPr/>
        </p:nvSpPr>
        <p:spPr>
          <a:xfrm>
            <a:off x="205701" y="1956101"/>
            <a:ext cx="6099716" cy="323165"/>
          </a:xfrm>
          <a:prstGeom prst="rect">
            <a:avLst/>
          </a:prstGeom>
          <a:noFill/>
        </p:spPr>
        <p:txBody>
          <a:bodyPr wrap="square">
            <a:spAutoFit/>
          </a:bodyPr>
          <a:lstStyle/>
          <a:p>
            <a:r>
              <a:rPr lang="en-GB" sz="1500" dirty="0">
                <a:solidFill>
                  <a:schemeClr val="accent6">
                    <a:lumMod val="50000"/>
                  </a:schemeClr>
                </a:solidFill>
                <a:latin typeface="Avenir Book" panose="02000503020000020003" pitchFamily="2" charset="0"/>
              </a:rPr>
              <a:t>We have count data across four sites: Site1, Site2, Site 3</a:t>
            </a:r>
          </a:p>
        </p:txBody>
      </p:sp>
      <p:sp>
        <p:nvSpPr>
          <p:cNvPr id="5" name="TextBox 4">
            <a:extLst>
              <a:ext uri="{FF2B5EF4-FFF2-40B4-BE49-F238E27FC236}">
                <a16:creationId xmlns:a16="http://schemas.microsoft.com/office/drawing/2014/main" id="{0591C374-958D-C4C1-BCB6-AF2AA137BC2D}"/>
              </a:ext>
            </a:extLst>
          </p:cNvPr>
          <p:cNvSpPr txBox="1"/>
          <p:nvPr/>
        </p:nvSpPr>
        <p:spPr>
          <a:xfrm>
            <a:off x="807728" y="5879209"/>
            <a:ext cx="3001482" cy="1015663"/>
          </a:xfrm>
          <a:prstGeom prst="rect">
            <a:avLst/>
          </a:prstGeom>
          <a:noFill/>
        </p:spPr>
        <p:txBody>
          <a:bodyPr wrap="square">
            <a:spAutoFit/>
          </a:bodyPr>
          <a:lstStyle/>
          <a:p>
            <a:r>
              <a:rPr lang="en-GB" sz="1500" dirty="0">
                <a:solidFill>
                  <a:srgbClr val="C00000"/>
                </a:solidFill>
                <a:latin typeface="Avenir Book" panose="02000503020000020003" pitchFamily="2" charset="0"/>
              </a:rPr>
              <a:t>Where’s Site 1 gone?</a:t>
            </a:r>
          </a:p>
          <a:p>
            <a:endParaRPr lang="en-GB" sz="1500" dirty="0">
              <a:solidFill>
                <a:srgbClr val="C00000"/>
              </a:solidFill>
              <a:latin typeface="Avenir Book" panose="02000503020000020003" pitchFamily="2" charset="0"/>
            </a:endParaRPr>
          </a:p>
          <a:p>
            <a:r>
              <a:rPr lang="en-GB" sz="1500" dirty="0">
                <a:solidFill>
                  <a:srgbClr val="C00000"/>
                </a:solidFill>
                <a:latin typeface="Avenir Book" panose="02000503020000020003" pitchFamily="2" charset="0"/>
              </a:rPr>
              <a:t>Answer: it’s hiding in the intercept!</a:t>
            </a:r>
          </a:p>
        </p:txBody>
      </p:sp>
      <p:cxnSp>
        <p:nvCxnSpPr>
          <p:cNvPr id="6" name="Straight Arrow Connector 5">
            <a:extLst>
              <a:ext uri="{FF2B5EF4-FFF2-40B4-BE49-F238E27FC236}">
                <a16:creationId xmlns:a16="http://schemas.microsoft.com/office/drawing/2014/main" id="{4A96E00B-A105-76BF-6E50-911674155B9C}"/>
              </a:ext>
            </a:extLst>
          </p:cNvPr>
          <p:cNvCxnSpPr>
            <a:cxnSpLocks/>
          </p:cNvCxnSpPr>
          <p:nvPr/>
        </p:nvCxnSpPr>
        <p:spPr>
          <a:xfrm flipH="1" flipV="1">
            <a:off x="966952" y="4437812"/>
            <a:ext cx="504496" cy="136532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C88D712-0215-3096-8DDD-DE081D259093}"/>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1876237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F85A8-F3F3-A614-F6F2-81A50D6316A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0F1E0A-8B24-8C42-2BD1-DAC26DD21E04}"/>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C597E0B4-B82B-882B-1BA9-05E2054D80E1}"/>
              </a:ext>
            </a:extLst>
          </p:cNvPr>
          <p:cNvGraphicFramePr>
            <a:graphicFrameLocks noGrp="1"/>
          </p:cNvGraphicFramePr>
          <p:nvPr>
            <p:extLst>
              <p:ext uri="{D42A27DB-BD31-4B8C-83A1-F6EECF244321}">
                <p14:modId xmlns:p14="http://schemas.microsoft.com/office/powerpoint/2010/main" val="1089136705"/>
              </p:ext>
            </p:extLst>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D1B340CF-BA67-E5D8-8773-B1F42144534A}"/>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87A2B85C-47EF-CB6F-C853-884F63535430}"/>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6AFDFD0-3561-E956-6054-6C117F55D846}"/>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FC9092A-A7A5-AABF-C3D6-C39795482270}"/>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C24FB78F-A148-6DA7-6D38-B5A9BEA6C09A}"/>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4C5E8DCD-B436-59E6-A5B7-05294DCF7EFB}"/>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53D62ED1-3D8A-3965-3CC0-D9F4CA8D6F7B}"/>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68193957-1778-2054-EFBD-FBF72247F47D}"/>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2E2E605F-EB1A-FFAB-D971-FBC96913B078}"/>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D37DFFB5-CA0F-FCDE-167D-7DDA1C690893}"/>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900E10E7-8B32-20CC-359E-D1780FDA540A}"/>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A9434D12-E10E-E96D-9210-893C63AA40C6}"/>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C4CE4FC2-C06E-79EF-6C2E-98779AB933B3}"/>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5E8640C-5701-CC36-FFCC-55B01EA69F09}"/>
              </a:ext>
            </a:extLst>
          </p:cNvPr>
          <p:cNvSpPr txBox="1"/>
          <p:nvPr/>
        </p:nvSpPr>
        <p:spPr>
          <a:xfrm>
            <a:off x="2615475" y="5658176"/>
            <a:ext cx="3001482" cy="323165"/>
          </a:xfrm>
          <a:prstGeom prst="rect">
            <a:avLst/>
          </a:prstGeom>
          <a:noFill/>
        </p:spPr>
        <p:txBody>
          <a:bodyPr wrap="square">
            <a:spAutoFit/>
          </a:bodyPr>
          <a:lstStyle/>
          <a:p>
            <a:r>
              <a:rPr lang="en-GB" sz="1500" dirty="0">
                <a:solidFill>
                  <a:srgbClr val="C00000"/>
                </a:solidFill>
                <a:latin typeface="Avenir Book" panose="02000503020000020003" pitchFamily="2" charset="0"/>
              </a:rPr>
              <a:t>This is the estimate </a:t>
            </a:r>
            <a:r>
              <a:rPr lang="en-GB" sz="1500" i="1" dirty="0">
                <a:solidFill>
                  <a:srgbClr val="C00000"/>
                </a:solidFill>
                <a:latin typeface="Avenir Book" panose="02000503020000020003" pitchFamily="2" charset="0"/>
              </a:rPr>
              <a:t>for Site 1</a:t>
            </a:r>
            <a:endParaRPr lang="en-GB" sz="1500" dirty="0">
              <a:solidFill>
                <a:srgbClr val="C00000"/>
              </a:solidFill>
              <a:latin typeface="Avenir Book" panose="02000503020000020003" pitchFamily="2" charset="0"/>
            </a:endParaRPr>
          </a:p>
        </p:txBody>
      </p:sp>
      <p:cxnSp>
        <p:nvCxnSpPr>
          <p:cNvPr id="14" name="Straight Arrow Connector 13">
            <a:extLst>
              <a:ext uri="{FF2B5EF4-FFF2-40B4-BE49-F238E27FC236}">
                <a16:creationId xmlns:a16="http://schemas.microsoft.com/office/drawing/2014/main" id="{525EB223-DAD8-5DA3-423D-14283DEA058D}"/>
              </a:ext>
            </a:extLst>
          </p:cNvPr>
          <p:cNvCxnSpPr>
            <a:cxnSpLocks/>
          </p:cNvCxnSpPr>
          <p:nvPr/>
        </p:nvCxnSpPr>
        <p:spPr>
          <a:xfrm flipH="1" flipV="1">
            <a:off x="1884556" y="3958642"/>
            <a:ext cx="1394639" cy="162346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8A2D0EB-D1C3-5278-B1F4-5219D5BF6D40}"/>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sp>
        <p:nvSpPr>
          <p:cNvPr id="17" name="TextBox 16">
            <a:extLst>
              <a:ext uri="{FF2B5EF4-FFF2-40B4-BE49-F238E27FC236}">
                <a16:creationId xmlns:a16="http://schemas.microsoft.com/office/drawing/2014/main" id="{665D9D09-94C8-1506-C854-0F7C523C058D}"/>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377678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D64AC-6203-3C96-4C6F-F97AA12341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CE18B0C-98AF-5529-40DD-CFE4645D7BC9}"/>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2C002363-A346-2FBA-4586-EE7A30708BFE}"/>
              </a:ext>
            </a:extLst>
          </p:cNvPr>
          <p:cNvGraphicFramePr>
            <a:graphicFrameLocks noGrp="1"/>
          </p:cNvGraphicFramePr>
          <p:nvPr>
            <p:extLst>
              <p:ext uri="{D42A27DB-BD31-4B8C-83A1-F6EECF244321}">
                <p14:modId xmlns:p14="http://schemas.microsoft.com/office/powerpoint/2010/main" val="3667471889"/>
              </p:ext>
            </p:extLst>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60DC542F-54EE-EF31-797A-19676A2D3300}"/>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E1455C04-2DF3-0337-A4D7-07464D033CF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BFC90F3-7EC3-8BA3-D6F2-427E184F487E}"/>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9ADA6548-CAC9-6E78-73A9-73946942F713}"/>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21AA6823-2B14-6828-8B65-87BDC5625268}"/>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3BB88D11-7693-6108-3EE2-65CB8E799E72}"/>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DF621325-31E5-BE04-DEB0-E611AF0BC63D}"/>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04CAF098-6E13-8C9F-8E7F-D7689BC91E7A}"/>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7123A58C-C0C6-57D7-F5A7-360B20694FFE}"/>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7DD97E04-B08C-B4DE-F06A-4D26E895741E}"/>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185E2967-6CF5-A842-FDD0-658980C0F7BB}"/>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FB967E7D-9B1B-9F40-1880-3FFCD4B33D6E}"/>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900C6A57-8062-6B32-34E3-DFD2E129D4CF}"/>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B04A8BC-1AB5-2971-B2D4-4F5360C36B81}"/>
              </a:ext>
            </a:extLst>
          </p:cNvPr>
          <p:cNvSpPr txBox="1"/>
          <p:nvPr/>
        </p:nvSpPr>
        <p:spPr>
          <a:xfrm>
            <a:off x="3113999" y="6236856"/>
            <a:ext cx="3001482" cy="553998"/>
          </a:xfrm>
          <a:prstGeom prst="rect">
            <a:avLst/>
          </a:prstGeom>
          <a:noFill/>
        </p:spPr>
        <p:txBody>
          <a:bodyPr wrap="square">
            <a:spAutoFit/>
          </a:bodyPr>
          <a:lstStyle/>
          <a:p>
            <a:r>
              <a:rPr lang="en-GB" sz="1500" dirty="0">
                <a:solidFill>
                  <a:srgbClr val="C00000"/>
                </a:solidFill>
                <a:latin typeface="Avenir Book" panose="02000503020000020003" pitchFamily="2" charset="0"/>
              </a:rPr>
              <a:t>This is Site 2’s estimate </a:t>
            </a:r>
            <a:r>
              <a:rPr lang="en-GB" sz="1500" b="1" i="1" dirty="0">
                <a:solidFill>
                  <a:srgbClr val="C00000"/>
                </a:solidFill>
                <a:latin typeface="Avenir Book" panose="02000503020000020003" pitchFamily="2" charset="0"/>
              </a:rPr>
              <a:t>relative to Site 1</a:t>
            </a:r>
            <a:endParaRPr lang="en-GB" sz="1500" dirty="0">
              <a:solidFill>
                <a:srgbClr val="C00000"/>
              </a:solidFill>
              <a:latin typeface="Avenir Book" panose="02000503020000020003" pitchFamily="2" charset="0"/>
            </a:endParaRPr>
          </a:p>
        </p:txBody>
      </p:sp>
      <p:cxnSp>
        <p:nvCxnSpPr>
          <p:cNvPr id="14" name="Straight Arrow Connector 13">
            <a:extLst>
              <a:ext uri="{FF2B5EF4-FFF2-40B4-BE49-F238E27FC236}">
                <a16:creationId xmlns:a16="http://schemas.microsoft.com/office/drawing/2014/main" id="{0DF08468-42FD-23D3-200E-9BDA997D2735}"/>
              </a:ext>
            </a:extLst>
          </p:cNvPr>
          <p:cNvCxnSpPr>
            <a:cxnSpLocks/>
          </p:cNvCxnSpPr>
          <p:nvPr/>
        </p:nvCxnSpPr>
        <p:spPr>
          <a:xfrm flipH="1" flipV="1">
            <a:off x="2035104" y="4613392"/>
            <a:ext cx="1394639" cy="162346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4D2118B-7B40-DA12-95AD-25310788746D}"/>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sp>
        <p:nvSpPr>
          <p:cNvPr id="6" name="TextBox 5">
            <a:extLst>
              <a:ext uri="{FF2B5EF4-FFF2-40B4-BE49-F238E27FC236}">
                <a16:creationId xmlns:a16="http://schemas.microsoft.com/office/drawing/2014/main" id="{57985CB8-416A-F24B-E054-3E0BB5BAC992}"/>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2145850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FFD6F-27A5-8F63-DB31-4480DEAD732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A5A954-D2CC-6591-973C-3CA969FC942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83EEC785-513C-6E18-049D-EF3949170DBB}"/>
              </a:ext>
            </a:extLst>
          </p:cNvPr>
          <p:cNvGraphicFramePr>
            <a:graphicFrameLocks noGrp="1"/>
          </p:cNvGraphicFramePr>
          <p:nvPr>
            <p:extLst>
              <p:ext uri="{D42A27DB-BD31-4B8C-83A1-F6EECF244321}">
                <p14:modId xmlns:p14="http://schemas.microsoft.com/office/powerpoint/2010/main" val="60276186"/>
              </p:ext>
            </p:extLst>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70CB46F9-4FC6-99D5-7F12-D3940E7E0A85}"/>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F374B6FD-C167-FAD8-0551-D6A81F65958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A9084DC-CBAB-5A7E-D04A-858AD2BF6498}"/>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994932C4-66DA-D6D0-DDBD-8978CFDBF01C}"/>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DB50A7A1-DB92-3ED9-B94A-5A7EF99D09F8}"/>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06EB8C30-9874-D4EE-8275-027028B98400}"/>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186B86D0-0311-E6EF-7BBB-280965CF0B07}"/>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57208777-4ABD-E9FC-C47F-07FB7DF99D49}"/>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0860DE50-2432-38AB-23CF-2E06F68C395D}"/>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5130543A-109C-7397-0D02-6BC27D85EE13}"/>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4584FF29-E7F9-05B2-B107-FCCC5CC05478}"/>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162AF360-B7C9-F80C-B5F6-1E2AE5B8553D}"/>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12D0C020-40F7-C4E1-C3FA-BA614953714A}"/>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127B88D-B927-385C-CC3A-EB99950383F1}"/>
              </a:ext>
            </a:extLst>
          </p:cNvPr>
          <p:cNvSpPr txBox="1"/>
          <p:nvPr/>
        </p:nvSpPr>
        <p:spPr>
          <a:xfrm>
            <a:off x="5512551" y="4273246"/>
            <a:ext cx="3001482" cy="323165"/>
          </a:xfrm>
          <a:prstGeom prst="rect">
            <a:avLst/>
          </a:prstGeom>
          <a:noFill/>
        </p:spPr>
        <p:txBody>
          <a:bodyPr wrap="square">
            <a:spAutoFit/>
          </a:bodyPr>
          <a:lstStyle/>
          <a:p>
            <a:r>
              <a:rPr lang="en-GB" sz="1500" dirty="0">
                <a:solidFill>
                  <a:srgbClr val="C00000"/>
                </a:solidFill>
                <a:latin typeface="Avenir Book" panose="02000503020000020003" pitchFamily="2" charset="0"/>
              </a:rPr>
              <a:t>3 + -1 = 2</a:t>
            </a:r>
          </a:p>
        </p:txBody>
      </p:sp>
      <p:cxnSp>
        <p:nvCxnSpPr>
          <p:cNvPr id="14" name="Straight Arrow Connector 13">
            <a:extLst>
              <a:ext uri="{FF2B5EF4-FFF2-40B4-BE49-F238E27FC236}">
                <a16:creationId xmlns:a16="http://schemas.microsoft.com/office/drawing/2014/main" id="{6339DB81-F8E8-51B0-2AF1-9313BC9224D2}"/>
              </a:ext>
            </a:extLst>
          </p:cNvPr>
          <p:cNvCxnSpPr>
            <a:cxnSpLocks/>
          </p:cNvCxnSpPr>
          <p:nvPr/>
        </p:nvCxnSpPr>
        <p:spPr>
          <a:xfrm>
            <a:off x="2687444" y="4258061"/>
            <a:ext cx="4189171" cy="1816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0C682E7-D606-7D36-0BEA-63C50E724403}"/>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15972617-71BB-B773-02D6-1F339CD2C915}"/>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DE1BC60-E9F0-7131-50EA-524B88F8D73F}"/>
              </a:ext>
            </a:extLst>
          </p:cNvPr>
          <p:cNvSpPr txBox="1"/>
          <p:nvPr/>
        </p:nvSpPr>
        <p:spPr>
          <a:xfrm>
            <a:off x="10691259" y="2517833"/>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9" name="Straight Arrow Connector 18">
            <a:extLst>
              <a:ext uri="{FF2B5EF4-FFF2-40B4-BE49-F238E27FC236}">
                <a16:creationId xmlns:a16="http://schemas.microsoft.com/office/drawing/2014/main" id="{E8E2DE38-2A4E-6AEE-B31D-DE73CF5E2804}"/>
              </a:ext>
            </a:extLst>
          </p:cNvPr>
          <p:cNvCxnSpPr>
            <a:cxnSpLocks/>
          </p:cNvCxnSpPr>
          <p:nvPr/>
        </p:nvCxnSpPr>
        <p:spPr>
          <a:xfrm>
            <a:off x="1992381" y="3797448"/>
            <a:ext cx="695063" cy="41165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4BA1CF1-132E-F760-6C75-E1FBA2277E20}"/>
              </a:ext>
            </a:extLst>
          </p:cNvPr>
          <p:cNvCxnSpPr>
            <a:cxnSpLocks/>
          </p:cNvCxnSpPr>
          <p:nvPr/>
        </p:nvCxnSpPr>
        <p:spPr>
          <a:xfrm flipV="1">
            <a:off x="2013395" y="4325183"/>
            <a:ext cx="674049" cy="32614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0EB9F05-0AF7-7018-F773-A0DF89A71115}"/>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130859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78A50-5AE3-3B0B-4E0D-7B3A4543D28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8F472D8-62F0-393E-B5A2-BC0378E8E54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46A27D61-2C37-FF57-C85B-3E5C7762E37B}"/>
              </a:ext>
            </a:extLst>
          </p:cNvPr>
          <p:cNvGraphicFramePr>
            <a:graphicFrameLocks noGrp="1"/>
          </p:cNvGraphicFramePr>
          <p:nvPr>
            <p:extLst>
              <p:ext uri="{D42A27DB-BD31-4B8C-83A1-F6EECF244321}">
                <p14:modId xmlns:p14="http://schemas.microsoft.com/office/powerpoint/2010/main" val="1675552452"/>
              </p:ext>
            </p:extLst>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771FD3E9-3697-34A4-A917-63242280AD76}"/>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B7BF9A92-3968-E030-9150-EC682F57AD37}"/>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924BADD-EF64-A738-FD26-DD6C404EA5E5}"/>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7172D5F0-5303-3D0E-B8B8-E2FC4F566021}"/>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B40B8F3D-A882-E0CB-E150-6AB3EFA877C0}"/>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3B5B8628-AF2F-C136-6D92-A175C9585696}"/>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1CE07DEB-2C67-C174-3773-E3DF0517ED58}"/>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DFC37D49-1602-A0B0-CF7C-9221800995B1}"/>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5A8A389F-6846-886F-760B-D432F07F17D2}"/>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10D17069-37D5-5F9D-BEA3-D1249A7095F2}"/>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FB466DAD-89E3-2C0F-242C-FB4547B6334F}"/>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2CF0AE74-3573-237C-628C-56696CCAB0B9}"/>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A9413219-C346-7E62-7B4A-98CEFD565DF0}"/>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F4409D8-0694-7E12-7354-9E7AC9C0D264}"/>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4C394A16-0097-A642-568B-BA4AA634FC1A}"/>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5791C09-BD99-E020-B293-C45A5FD640ED}"/>
              </a:ext>
            </a:extLst>
          </p:cNvPr>
          <p:cNvSpPr txBox="1"/>
          <p:nvPr/>
        </p:nvSpPr>
        <p:spPr>
          <a:xfrm>
            <a:off x="10691259" y="2517833"/>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sp>
        <p:nvSpPr>
          <p:cNvPr id="16" name="TextBox 15">
            <a:extLst>
              <a:ext uri="{FF2B5EF4-FFF2-40B4-BE49-F238E27FC236}">
                <a16:creationId xmlns:a16="http://schemas.microsoft.com/office/drawing/2014/main" id="{C4941440-FFB2-09B9-F14B-BA3C8D10C753}"/>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276504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D40E8-EDC1-9706-97C3-716DD03648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705BDE-4C7E-6C24-D48A-044B8BE1B7A3}"/>
              </a:ext>
            </a:extLst>
          </p:cNvPr>
          <p:cNvSpPr txBox="1"/>
          <p:nvPr/>
        </p:nvSpPr>
        <p:spPr>
          <a:xfrm>
            <a:off x="145518" y="199697"/>
            <a:ext cx="1267710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if you have two categorical variables?</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ED1296F7-2E9A-8DA6-CED7-5A536683041D}"/>
              </a:ext>
            </a:extLst>
          </p:cNvPr>
          <p:cNvGraphicFramePr>
            <a:graphicFrameLocks noGrp="1"/>
          </p:cNvGraphicFramePr>
          <p:nvPr>
            <p:extLst>
              <p:ext uri="{D42A27DB-BD31-4B8C-83A1-F6EECF244321}">
                <p14:modId xmlns:p14="http://schemas.microsoft.com/office/powerpoint/2010/main" val="4292738073"/>
              </p:ext>
            </p:extLst>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C0E10DB5-1970-8D59-9CF1-68F9681CB4FB}"/>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845EE5CC-6F4E-A9C5-AF90-539E014290AE}"/>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D73BB98-4DF8-F2DF-FDA6-6A982B2435C3}"/>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36F4A731-E1CD-DA5A-CDA3-22767E2F94B4}"/>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3153FB73-AF1B-1CD0-7A46-4E3B5B567973}"/>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B052A755-C3E4-2C9E-B06B-87198E07E367}"/>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AD7F3E94-B4F9-3B2C-9D47-8EF1972ECDBB}"/>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5ED22508-509E-90F7-BC93-DC161C117866}"/>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963D4AC7-32A9-24EF-14AA-0F99239F9999}"/>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BA150AAA-D50A-4010-B792-A2E7B5C743B7}"/>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92291059-2E7C-2285-C567-C31B19309229}"/>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ADC41894-CFB3-976F-0020-25D81E608BCB}"/>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B76D4C08-7843-73DE-3AB3-8C71A7157FAC}"/>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5314107-0086-66E6-53D3-AF25747E21BC}"/>
              </a:ext>
            </a:extLst>
          </p:cNvPr>
          <p:cNvSpPr txBox="1"/>
          <p:nvPr/>
        </p:nvSpPr>
        <p:spPr>
          <a:xfrm>
            <a:off x="11182820" y="1563345"/>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Furry Sloth</a:t>
            </a:r>
          </a:p>
        </p:txBody>
      </p:sp>
      <p:cxnSp>
        <p:nvCxnSpPr>
          <p:cNvPr id="6" name="Straight Connector 5">
            <a:extLst>
              <a:ext uri="{FF2B5EF4-FFF2-40B4-BE49-F238E27FC236}">
                <a16:creationId xmlns:a16="http://schemas.microsoft.com/office/drawing/2014/main" id="{B537A74C-4029-9431-9215-FB2B6D314CC7}"/>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D928A57-82E4-CFFD-515E-9CA43B90576B}"/>
              </a:ext>
            </a:extLst>
          </p:cNvPr>
          <p:cNvSpPr txBox="1"/>
          <p:nvPr/>
        </p:nvSpPr>
        <p:spPr>
          <a:xfrm>
            <a:off x="11108388" y="224348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a:t>
            </a:r>
            <a:r>
              <a:rPr lang="en-GB" sz="1500" dirty="0" err="1">
                <a:solidFill>
                  <a:srgbClr val="00B0F0"/>
                </a:solidFill>
                <a:latin typeface="Avenir Book" panose="02000503020000020003" pitchFamily="2" charset="0"/>
              </a:rPr>
              <a:t>FurrySloths</a:t>
            </a:r>
            <a:endParaRPr lang="en-GB" sz="1500" dirty="0">
              <a:solidFill>
                <a:srgbClr val="00B0F0"/>
              </a:solidFill>
              <a:latin typeface="Avenir Book" panose="02000503020000020003" pitchFamily="2" charset="0"/>
            </a:endParaRPr>
          </a:p>
        </p:txBody>
      </p:sp>
      <p:cxnSp>
        <p:nvCxnSpPr>
          <p:cNvPr id="13" name="Straight Connector 12">
            <a:extLst>
              <a:ext uri="{FF2B5EF4-FFF2-40B4-BE49-F238E27FC236}">
                <a16:creationId xmlns:a16="http://schemas.microsoft.com/office/drawing/2014/main" id="{EA27E09C-BFDE-9A60-8B0D-7A1181BE2CA8}"/>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8831BE2-7EAA-1A2A-82B7-F9D79AA36FC6}"/>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5B10671A-A8A3-B5BD-96D5-8EC49EDABC48}"/>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 Species,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graphicFrame>
        <p:nvGraphicFramePr>
          <p:cNvPr id="29" name="Table 28">
            <a:extLst>
              <a:ext uri="{FF2B5EF4-FFF2-40B4-BE49-F238E27FC236}">
                <a16:creationId xmlns:a16="http://schemas.microsoft.com/office/drawing/2014/main" id="{504C6E3E-0C41-4333-ACB6-76E358D2EB45}"/>
              </a:ext>
            </a:extLst>
          </p:cNvPr>
          <p:cNvGraphicFramePr>
            <a:graphicFrameLocks noGrp="1"/>
          </p:cNvGraphicFramePr>
          <p:nvPr>
            <p:extLst>
              <p:ext uri="{D42A27DB-BD31-4B8C-83A1-F6EECF244321}">
                <p14:modId xmlns:p14="http://schemas.microsoft.com/office/powerpoint/2010/main" val="3213931299"/>
              </p:ext>
            </p:extLst>
          </p:nvPr>
        </p:nvGraphicFramePr>
        <p:xfrm>
          <a:off x="339832" y="5138239"/>
          <a:ext cx="5178100" cy="1483360"/>
        </p:xfrm>
        <a:graphic>
          <a:graphicData uri="http://schemas.openxmlformats.org/drawingml/2006/table">
            <a:tbl>
              <a:tblPr firstRow="1" bandRow="1">
                <a:tableStyleId>{3B4B98B0-60AC-42C2-AFA5-B58CD77FA1E5}</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r>
                        <a:rPr lang="en-US" dirty="0" err="1"/>
                        <a:t>ToedSloth</a:t>
                      </a:r>
                      <a:endParaRPr lang="en-US" dirty="0"/>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473114995"/>
                  </a:ext>
                </a:extLst>
              </a:tr>
              <a:tr h="370840">
                <a:tc>
                  <a:txBody>
                    <a:bodyPr/>
                    <a:lstStyle/>
                    <a:p>
                      <a:r>
                        <a:rPr lang="en-US" dirty="0" err="1"/>
                        <a:t>MossySloth</a:t>
                      </a:r>
                      <a:endParaRPr lang="en-US" dirty="0"/>
                    </a:p>
                  </a:txBody>
                  <a:tcPr/>
                </a:tc>
                <a:tc>
                  <a:txBody>
                    <a:bodyPr/>
                    <a:lstStyle/>
                    <a:p>
                      <a:r>
                        <a:rPr lang="en-US" dirty="0"/>
                        <a:t>-0.1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cxnSp>
        <p:nvCxnSpPr>
          <p:cNvPr id="31" name="Straight Connector 30">
            <a:extLst>
              <a:ext uri="{FF2B5EF4-FFF2-40B4-BE49-F238E27FC236}">
                <a16:creationId xmlns:a16="http://schemas.microsoft.com/office/drawing/2014/main" id="{8E2B3118-2D49-4904-AE05-8E3CEFC84B9E}"/>
              </a:ext>
            </a:extLst>
          </p:cNvPr>
          <p:cNvCxnSpPr>
            <a:cxnSpLocks/>
          </p:cNvCxnSpPr>
          <p:nvPr/>
        </p:nvCxnSpPr>
        <p:spPr>
          <a:xfrm flipV="1">
            <a:off x="6942896" y="1495178"/>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CAB3863-7C2A-4553-9AF2-610D971E9648}"/>
              </a:ext>
            </a:extLst>
          </p:cNvPr>
          <p:cNvSpPr txBox="1"/>
          <p:nvPr/>
        </p:nvSpPr>
        <p:spPr>
          <a:xfrm>
            <a:off x="11152539" y="1353319"/>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Toed Sloth</a:t>
            </a:r>
          </a:p>
        </p:txBody>
      </p:sp>
      <p:cxnSp>
        <p:nvCxnSpPr>
          <p:cNvPr id="33" name="Straight Connector 32">
            <a:extLst>
              <a:ext uri="{FF2B5EF4-FFF2-40B4-BE49-F238E27FC236}">
                <a16:creationId xmlns:a16="http://schemas.microsoft.com/office/drawing/2014/main" id="{FC26DAE3-3C1C-4663-8493-93A2B4582944}"/>
              </a:ext>
            </a:extLst>
          </p:cNvPr>
          <p:cNvCxnSpPr>
            <a:cxnSpLocks/>
          </p:cNvCxnSpPr>
          <p:nvPr/>
        </p:nvCxnSpPr>
        <p:spPr>
          <a:xfrm flipV="1">
            <a:off x="6965815" y="1910187"/>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A57305A-89F5-47CE-916A-5AE84E2FED2F}"/>
              </a:ext>
            </a:extLst>
          </p:cNvPr>
          <p:cNvSpPr txBox="1"/>
          <p:nvPr/>
        </p:nvSpPr>
        <p:spPr>
          <a:xfrm>
            <a:off x="11152539" y="1776903"/>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Mossy Sloth</a:t>
            </a:r>
          </a:p>
        </p:txBody>
      </p:sp>
      <p:cxnSp>
        <p:nvCxnSpPr>
          <p:cNvPr id="35" name="Straight Connector 34">
            <a:extLst>
              <a:ext uri="{FF2B5EF4-FFF2-40B4-BE49-F238E27FC236}">
                <a16:creationId xmlns:a16="http://schemas.microsoft.com/office/drawing/2014/main" id="{76F5A25D-7390-45CC-8929-F32301C66A34}"/>
              </a:ext>
            </a:extLst>
          </p:cNvPr>
          <p:cNvCxnSpPr>
            <a:cxnSpLocks/>
          </p:cNvCxnSpPr>
          <p:nvPr/>
        </p:nvCxnSpPr>
        <p:spPr>
          <a:xfrm flipV="1">
            <a:off x="6935531" y="2170398"/>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A54708C-CD80-4B65-B2CE-6922B9D95274}"/>
              </a:ext>
            </a:extLst>
          </p:cNvPr>
          <p:cNvSpPr txBox="1"/>
          <p:nvPr/>
        </p:nvSpPr>
        <p:spPr>
          <a:xfrm>
            <a:off x="11107872" y="203197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Toed Sloths</a:t>
            </a:r>
          </a:p>
        </p:txBody>
      </p:sp>
      <p:cxnSp>
        <p:nvCxnSpPr>
          <p:cNvPr id="37" name="Straight Connector 36">
            <a:extLst>
              <a:ext uri="{FF2B5EF4-FFF2-40B4-BE49-F238E27FC236}">
                <a16:creationId xmlns:a16="http://schemas.microsoft.com/office/drawing/2014/main" id="{697B538C-5522-4C28-8724-C838F8F33846}"/>
              </a:ext>
            </a:extLst>
          </p:cNvPr>
          <p:cNvCxnSpPr>
            <a:cxnSpLocks/>
          </p:cNvCxnSpPr>
          <p:nvPr/>
        </p:nvCxnSpPr>
        <p:spPr>
          <a:xfrm flipV="1">
            <a:off x="6886071" y="2553431"/>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FC69AD39-DA9C-42DA-A4E3-B4D3F1EA1D58}"/>
              </a:ext>
            </a:extLst>
          </p:cNvPr>
          <p:cNvSpPr txBox="1"/>
          <p:nvPr/>
        </p:nvSpPr>
        <p:spPr>
          <a:xfrm>
            <a:off x="11144761" y="2431088"/>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Mossy Sloths</a:t>
            </a:r>
          </a:p>
        </p:txBody>
      </p:sp>
      <p:sp>
        <p:nvSpPr>
          <p:cNvPr id="39" name="TextBox 38">
            <a:extLst>
              <a:ext uri="{FF2B5EF4-FFF2-40B4-BE49-F238E27FC236}">
                <a16:creationId xmlns:a16="http://schemas.microsoft.com/office/drawing/2014/main" id="{AD2B3247-4305-44F8-8BBA-09531FFBA89C}"/>
              </a:ext>
            </a:extLst>
          </p:cNvPr>
          <p:cNvSpPr txBox="1"/>
          <p:nvPr/>
        </p:nvSpPr>
        <p:spPr>
          <a:xfrm>
            <a:off x="276770" y="2137547"/>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Intercept + Year + Site + Species</a:t>
            </a:r>
          </a:p>
        </p:txBody>
      </p:sp>
      <p:sp>
        <p:nvSpPr>
          <p:cNvPr id="40" name="TextBox 39">
            <a:extLst>
              <a:ext uri="{FF2B5EF4-FFF2-40B4-BE49-F238E27FC236}">
                <a16:creationId xmlns:a16="http://schemas.microsoft.com/office/drawing/2014/main" id="{0290E65E-61A6-4D75-8783-1C340F4AB2F8}"/>
              </a:ext>
            </a:extLst>
          </p:cNvPr>
          <p:cNvSpPr txBox="1"/>
          <p:nvPr/>
        </p:nvSpPr>
        <p:spPr>
          <a:xfrm>
            <a:off x="223509" y="2468942"/>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3 + 0 + -1 + -0.1 = </a:t>
            </a:r>
          </a:p>
        </p:txBody>
      </p:sp>
      <p:cxnSp>
        <p:nvCxnSpPr>
          <p:cNvPr id="3" name="Straight Arrow Connector 2">
            <a:extLst>
              <a:ext uri="{FF2B5EF4-FFF2-40B4-BE49-F238E27FC236}">
                <a16:creationId xmlns:a16="http://schemas.microsoft.com/office/drawing/2014/main" id="{E92396CA-74E2-C965-B68A-59E0473063CE}"/>
              </a:ext>
            </a:extLst>
          </p:cNvPr>
          <p:cNvCxnSpPr>
            <a:cxnSpLocks/>
          </p:cNvCxnSpPr>
          <p:nvPr/>
        </p:nvCxnSpPr>
        <p:spPr>
          <a:xfrm flipH="1" flipV="1">
            <a:off x="1439917" y="3930869"/>
            <a:ext cx="4708635" cy="224921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C8BCBF2-ED35-6735-820D-9C153009E1E0}"/>
              </a:ext>
            </a:extLst>
          </p:cNvPr>
          <p:cNvSpPr txBox="1"/>
          <p:nvPr/>
        </p:nvSpPr>
        <p:spPr>
          <a:xfrm>
            <a:off x="6056278" y="6160332"/>
            <a:ext cx="2719860" cy="553998"/>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(Intercept) is now Y intercept for Furry Sloths in Site 1</a:t>
            </a:r>
          </a:p>
        </p:txBody>
      </p:sp>
    </p:spTree>
    <p:extLst>
      <p:ext uri="{BB962C8B-B14F-4D97-AF65-F5344CB8AC3E}">
        <p14:creationId xmlns:p14="http://schemas.microsoft.com/office/powerpoint/2010/main" val="3108032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37917-2F8B-54B5-C4C0-DDF597F269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BDA137-03AA-033E-FEA3-E1CB30687ED3}"/>
              </a:ext>
            </a:extLst>
          </p:cNvPr>
          <p:cNvSpPr txBox="1"/>
          <p:nvPr/>
        </p:nvSpPr>
        <p:spPr>
          <a:xfrm>
            <a:off x="145518" y="199697"/>
            <a:ext cx="1267710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if you have two categorical variables?</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29893426-07E4-783A-B1E1-7DA71FADCD72}"/>
              </a:ext>
            </a:extLst>
          </p:cNvPr>
          <p:cNvGraphicFramePr>
            <a:graphicFrameLocks noGrp="1"/>
          </p:cNvGraphicFramePr>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9986EA1E-BB27-0D36-AC7C-68FC58BA0E94}"/>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02B70F64-AC2C-FB7A-CC63-085D05A84740}"/>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F6356AE-8D23-9C86-DE07-B33E05CC8EC7}"/>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BA267B4C-6C39-1EAA-2C04-CAA9BB969115}"/>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367F7300-D04F-537F-BE0F-82A5DA36E15B}"/>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2D676FAB-A136-17D5-6B80-88F95FF53C4F}"/>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353814BD-746B-58DF-2D55-FB2514328FFC}"/>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E892E21B-4449-853E-5A3A-5D379997B0C2}"/>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D6FB4393-9BC8-F0FC-7CD3-1325FE325698}"/>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54432210-7284-4DA3-87D5-9DD7FCF9544B}"/>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E86F30A3-009E-A26E-7F95-EDCEB481B5D9}"/>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1C3F79F0-1DF2-DED8-55B5-7DA00AE2211D}"/>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7E4F1E5D-23F5-44AA-BB2D-C16B02FF087D}"/>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08C9A35-B5D9-B609-5159-4C46BD7C56B8}"/>
              </a:ext>
            </a:extLst>
          </p:cNvPr>
          <p:cNvSpPr txBox="1"/>
          <p:nvPr/>
        </p:nvSpPr>
        <p:spPr>
          <a:xfrm>
            <a:off x="11182820" y="1563345"/>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Furry Sloth</a:t>
            </a:r>
          </a:p>
        </p:txBody>
      </p:sp>
      <p:cxnSp>
        <p:nvCxnSpPr>
          <p:cNvPr id="6" name="Straight Connector 5">
            <a:extLst>
              <a:ext uri="{FF2B5EF4-FFF2-40B4-BE49-F238E27FC236}">
                <a16:creationId xmlns:a16="http://schemas.microsoft.com/office/drawing/2014/main" id="{6F62D4D6-A6F9-02F1-75E2-2EC84440A845}"/>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2ED5105-273C-D475-700B-8D2A0406C8D4}"/>
              </a:ext>
            </a:extLst>
          </p:cNvPr>
          <p:cNvSpPr txBox="1"/>
          <p:nvPr/>
        </p:nvSpPr>
        <p:spPr>
          <a:xfrm>
            <a:off x="11108388" y="224348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a:t>
            </a:r>
            <a:r>
              <a:rPr lang="en-GB" sz="1500" dirty="0" err="1">
                <a:solidFill>
                  <a:srgbClr val="00B0F0"/>
                </a:solidFill>
                <a:latin typeface="Avenir Book" panose="02000503020000020003" pitchFamily="2" charset="0"/>
              </a:rPr>
              <a:t>FurrySloths</a:t>
            </a:r>
            <a:endParaRPr lang="en-GB" sz="1500" dirty="0">
              <a:solidFill>
                <a:srgbClr val="00B0F0"/>
              </a:solidFill>
              <a:latin typeface="Avenir Book" panose="02000503020000020003" pitchFamily="2" charset="0"/>
            </a:endParaRPr>
          </a:p>
        </p:txBody>
      </p:sp>
      <p:cxnSp>
        <p:nvCxnSpPr>
          <p:cNvPr id="13" name="Straight Connector 12">
            <a:extLst>
              <a:ext uri="{FF2B5EF4-FFF2-40B4-BE49-F238E27FC236}">
                <a16:creationId xmlns:a16="http://schemas.microsoft.com/office/drawing/2014/main" id="{20189DC7-3635-2CB5-1411-E2EAB67C8CD9}"/>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44100DE-0F48-DBB5-E85B-C49E4A31CA2A}"/>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FE746BD4-78EB-6384-A7FC-26C4038E22EA}"/>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 Species,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graphicFrame>
        <p:nvGraphicFramePr>
          <p:cNvPr id="29" name="Table 28">
            <a:extLst>
              <a:ext uri="{FF2B5EF4-FFF2-40B4-BE49-F238E27FC236}">
                <a16:creationId xmlns:a16="http://schemas.microsoft.com/office/drawing/2014/main" id="{70D210A9-264A-E1B0-753F-972B03AE3D08}"/>
              </a:ext>
            </a:extLst>
          </p:cNvPr>
          <p:cNvGraphicFramePr>
            <a:graphicFrameLocks noGrp="1"/>
          </p:cNvGraphicFramePr>
          <p:nvPr/>
        </p:nvGraphicFramePr>
        <p:xfrm>
          <a:off x="339832" y="5138239"/>
          <a:ext cx="5178100" cy="1483360"/>
        </p:xfrm>
        <a:graphic>
          <a:graphicData uri="http://schemas.openxmlformats.org/drawingml/2006/table">
            <a:tbl>
              <a:tblPr firstRow="1" bandRow="1">
                <a:tableStyleId>{3B4B98B0-60AC-42C2-AFA5-B58CD77FA1E5}</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r>
                        <a:rPr lang="en-US" dirty="0" err="1"/>
                        <a:t>ToedSloth</a:t>
                      </a:r>
                      <a:endParaRPr lang="en-US" dirty="0"/>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473114995"/>
                  </a:ext>
                </a:extLst>
              </a:tr>
              <a:tr h="370840">
                <a:tc>
                  <a:txBody>
                    <a:bodyPr/>
                    <a:lstStyle/>
                    <a:p>
                      <a:r>
                        <a:rPr lang="en-US" dirty="0" err="1"/>
                        <a:t>MossySloth</a:t>
                      </a:r>
                      <a:endParaRPr lang="en-US" dirty="0"/>
                    </a:p>
                  </a:txBody>
                  <a:tcPr/>
                </a:tc>
                <a:tc>
                  <a:txBody>
                    <a:bodyPr/>
                    <a:lstStyle/>
                    <a:p>
                      <a:r>
                        <a:rPr lang="en-US" dirty="0"/>
                        <a:t>-0.1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cxnSp>
        <p:nvCxnSpPr>
          <p:cNvPr id="31" name="Straight Connector 30">
            <a:extLst>
              <a:ext uri="{FF2B5EF4-FFF2-40B4-BE49-F238E27FC236}">
                <a16:creationId xmlns:a16="http://schemas.microsoft.com/office/drawing/2014/main" id="{E53085FF-7B2F-00DB-5739-C1A16EB23CD6}"/>
              </a:ext>
            </a:extLst>
          </p:cNvPr>
          <p:cNvCxnSpPr>
            <a:cxnSpLocks/>
          </p:cNvCxnSpPr>
          <p:nvPr/>
        </p:nvCxnSpPr>
        <p:spPr>
          <a:xfrm flipV="1">
            <a:off x="6942896" y="1495178"/>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6F7AEF0-05A6-EB7D-8427-0394B30A7180}"/>
              </a:ext>
            </a:extLst>
          </p:cNvPr>
          <p:cNvSpPr txBox="1"/>
          <p:nvPr/>
        </p:nvSpPr>
        <p:spPr>
          <a:xfrm>
            <a:off x="11152539" y="1353319"/>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Toed Sloth</a:t>
            </a:r>
          </a:p>
        </p:txBody>
      </p:sp>
      <p:cxnSp>
        <p:nvCxnSpPr>
          <p:cNvPr id="33" name="Straight Connector 32">
            <a:extLst>
              <a:ext uri="{FF2B5EF4-FFF2-40B4-BE49-F238E27FC236}">
                <a16:creationId xmlns:a16="http://schemas.microsoft.com/office/drawing/2014/main" id="{B8227E45-FEC7-88C4-E2B4-B3BC059EEA99}"/>
              </a:ext>
            </a:extLst>
          </p:cNvPr>
          <p:cNvCxnSpPr>
            <a:cxnSpLocks/>
          </p:cNvCxnSpPr>
          <p:nvPr/>
        </p:nvCxnSpPr>
        <p:spPr>
          <a:xfrm flipV="1">
            <a:off x="6965815" y="1910187"/>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9FDBCD4-5A24-7087-33EC-BAB746188A93}"/>
              </a:ext>
            </a:extLst>
          </p:cNvPr>
          <p:cNvSpPr txBox="1"/>
          <p:nvPr/>
        </p:nvSpPr>
        <p:spPr>
          <a:xfrm>
            <a:off x="11152539" y="1776903"/>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Mossy Sloth</a:t>
            </a:r>
          </a:p>
        </p:txBody>
      </p:sp>
      <p:cxnSp>
        <p:nvCxnSpPr>
          <p:cNvPr id="35" name="Straight Connector 34">
            <a:extLst>
              <a:ext uri="{FF2B5EF4-FFF2-40B4-BE49-F238E27FC236}">
                <a16:creationId xmlns:a16="http://schemas.microsoft.com/office/drawing/2014/main" id="{E5272853-5144-E032-9CA1-39E2028040CB}"/>
              </a:ext>
            </a:extLst>
          </p:cNvPr>
          <p:cNvCxnSpPr>
            <a:cxnSpLocks/>
          </p:cNvCxnSpPr>
          <p:nvPr/>
        </p:nvCxnSpPr>
        <p:spPr>
          <a:xfrm flipV="1">
            <a:off x="6935531" y="2170398"/>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0CCD452E-6B22-1887-EF6F-71591502CE6D}"/>
              </a:ext>
            </a:extLst>
          </p:cNvPr>
          <p:cNvSpPr txBox="1"/>
          <p:nvPr/>
        </p:nvSpPr>
        <p:spPr>
          <a:xfrm>
            <a:off x="11107872" y="203197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Toed Sloths</a:t>
            </a:r>
          </a:p>
        </p:txBody>
      </p:sp>
      <p:cxnSp>
        <p:nvCxnSpPr>
          <p:cNvPr id="37" name="Straight Connector 36">
            <a:extLst>
              <a:ext uri="{FF2B5EF4-FFF2-40B4-BE49-F238E27FC236}">
                <a16:creationId xmlns:a16="http://schemas.microsoft.com/office/drawing/2014/main" id="{EE5F8FA5-6197-9607-A732-F1B7E6940A76}"/>
              </a:ext>
            </a:extLst>
          </p:cNvPr>
          <p:cNvCxnSpPr>
            <a:cxnSpLocks/>
          </p:cNvCxnSpPr>
          <p:nvPr/>
        </p:nvCxnSpPr>
        <p:spPr>
          <a:xfrm flipV="1">
            <a:off x="6886071" y="2553431"/>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8068E1-36E7-7D13-5D19-CA6B01497CDC}"/>
              </a:ext>
            </a:extLst>
          </p:cNvPr>
          <p:cNvSpPr txBox="1"/>
          <p:nvPr/>
        </p:nvSpPr>
        <p:spPr>
          <a:xfrm>
            <a:off x="11144761" y="2431088"/>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Mossy Sloths</a:t>
            </a:r>
          </a:p>
        </p:txBody>
      </p:sp>
      <p:sp>
        <p:nvSpPr>
          <p:cNvPr id="39" name="TextBox 38">
            <a:extLst>
              <a:ext uri="{FF2B5EF4-FFF2-40B4-BE49-F238E27FC236}">
                <a16:creationId xmlns:a16="http://schemas.microsoft.com/office/drawing/2014/main" id="{F01E4CA9-FE8E-A919-8A00-A478B4007BC4}"/>
              </a:ext>
            </a:extLst>
          </p:cNvPr>
          <p:cNvSpPr txBox="1"/>
          <p:nvPr/>
        </p:nvSpPr>
        <p:spPr>
          <a:xfrm>
            <a:off x="276770" y="2137547"/>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Intercept + Year + Site + Species</a:t>
            </a:r>
          </a:p>
        </p:txBody>
      </p:sp>
      <p:sp>
        <p:nvSpPr>
          <p:cNvPr id="40" name="TextBox 39">
            <a:extLst>
              <a:ext uri="{FF2B5EF4-FFF2-40B4-BE49-F238E27FC236}">
                <a16:creationId xmlns:a16="http://schemas.microsoft.com/office/drawing/2014/main" id="{17D9FC75-429F-FA5E-2EB9-FF7331409140}"/>
              </a:ext>
            </a:extLst>
          </p:cNvPr>
          <p:cNvSpPr txBox="1"/>
          <p:nvPr/>
        </p:nvSpPr>
        <p:spPr>
          <a:xfrm>
            <a:off x="223509" y="2468942"/>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3 + 0 + -1 + -0.1 = </a:t>
            </a:r>
          </a:p>
        </p:txBody>
      </p:sp>
      <p:cxnSp>
        <p:nvCxnSpPr>
          <p:cNvPr id="3" name="Straight Arrow Connector 2">
            <a:extLst>
              <a:ext uri="{FF2B5EF4-FFF2-40B4-BE49-F238E27FC236}">
                <a16:creationId xmlns:a16="http://schemas.microsoft.com/office/drawing/2014/main" id="{1D1ABA53-7109-D7A8-1E11-97B6E3D439D9}"/>
              </a:ext>
            </a:extLst>
          </p:cNvPr>
          <p:cNvCxnSpPr>
            <a:cxnSpLocks/>
          </p:cNvCxnSpPr>
          <p:nvPr/>
        </p:nvCxnSpPr>
        <p:spPr>
          <a:xfrm flipV="1">
            <a:off x="2165131" y="3426372"/>
            <a:ext cx="4729655" cy="190237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08FC2C3-A38D-783C-5EA5-6AF89CEB5448}"/>
              </a:ext>
            </a:extLst>
          </p:cNvPr>
          <p:cNvSpPr txBox="1"/>
          <p:nvPr/>
        </p:nvSpPr>
        <p:spPr>
          <a:xfrm>
            <a:off x="5486401" y="2507987"/>
            <a:ext cx="1192924" cy="1015663"/>
          </a:xfrm>
          <a:prstGeom prst="rect">
            <a:avLst/>
          </a:prstGeom>
          <a:noFill/>
        </p:spPr>
        <p:txBody>
          <a:bodyPr wrap="square">
            <a:spAutoFit/>
          </a:bodyPr>
          <a:lstStyle/>
          <a:p>
            <a:r>
              <a:rPr lang="en-US" sz="1500" dirty="0">
                <a:solidFill>
                  <a:schemeClr val="accent6">
                    <a:lumMod val="50000"/>
                  </a:schemeClr>
                </a:solidFill>
                <a:highlight>
                  <a:srgbClr val="FFFF00"/>
                </a:highlight>
                <a:latin typeface="Avenir Book" panose="02000503020000020003" pitchFamily="2" charset="0"/>
              </a:rPr>
              <a:t>Toed sloth intercept in Site 1 is 3 + 0.3</a:t>
            </a:r>
          </a:p>
        </p:txBody>
      </p:sp>
      <p:cxnSp>
        <p:nvCxnSpPr>
          <p:cNvPr id="21" name="Straight Arrow Connector 20">
            <a:extLst>
              <a:ext uri="{FF2B5EF4-FFF2-40B4-BE49-F238E27FC236}">
                <a16:creationId xmlns:a16="http://schemas.microsoft.com/office/drawing/2014/main" id="{56BFA1E8-3B3D-B640-AF7C-0D7C5D3D0A5B}"/>
              </a:ext>
            </a:extLst>
          </p:cNvPr>
          <p:cNvCxnSpPr>
            <a:cxnSpLocks/>
          </p:cNvCxnSpPr>
          <p:nvPr/>
        </p:nvCxnSpPr>
        <p:spPr>
          <a:xfrm flipV="1">
            <a:off x="2028497" y="3426372"/>
            <a:ext cx="4845269" cy="37837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6738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2EFC0-51E1-20A2-3760-656A7937402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9C09BA-105E-77D9-2C56-887E55D61914}"/>
              </a:ext>
            </a:extLst>
          </p:cNvPr>
          <p:cNvSpPr txBox="1"/>
          <p:nvPr/>
        </p:nvSpPr>
        <p:spPr>
          <a:xfrm>
            <a:off x="145518" y="199697"/>
            <a:ext cx="1267710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if you have two categorical variables?</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032E4195-FC23-43F9-1246-1C12B4A2E868}"/>
              </a:ext>
            </a:extLst>
          </p:cNvPr>
          <p:cNvGraphicFramePr>
            <a:graphicFrameLocks noGrp="1"/>
          </p:cNvGraphicFramePr>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5E520D36-B5AC-6833-DC36-4A5E1CB85B8E}"/>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5945FF17-A065-3887-C6B8-749747174D0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EE1AB0F-223C-E918-7B5A-A94C00DB8D0F}"/>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6613691B-6E45-FCB0-AFF8-F7BAA6A7BF75}"/>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4608E5AF-949C-6A51-BFE8-AEA295991C36}"/>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C36D0B5B-80F8-657C-B0F6-3672D9C5378D}"/>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9F59D56C-298F-D7AE-CCD7-C7869E096637}"/>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C686B7C3-FABA-B7B8-A98B-68B53F194A9E}"/>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F29C3EE8-97BA-257D-4C50-B5C14591D79B}"/>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5EE2E436-40C9-333E-55D1-D0C189F09864}"/>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F630453C-5F9E-FBA3-F0B7-3AC08D25D8D8}"/>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A41DAAF4-CE53-7C7B-C81B-807CBCDA859D}"/>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1308A024-DEC7-D395-D3ED-9FA265B25216}"/>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7FEAE6-F844-801E-8702-CE3E9C7FF857}"/>
              </a:ext>
            </a:extLst>
          </p:cNvPr>
          <p:cNvSpPr txBox="1"/>
          <p:nvPr/>
        </p:nvSpPr>
        <p:spPr>
          <a:xfrm>
            <a:off x="11182820" y="1563345"/>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Furry Sloth</a:t>
            </a:r>
          </a:p>
        </p:txBody>
      </p:sp>
      <p:cxnSp>
        <p:nvCxnSpPr>
          <p:cNvPr id="6" name="Straight Connector 5">
            <a:extLst>
              <a:ext uri="{FF2B5EF4-FFF2-40B4-BE49-F238E27FC236}">
                <a16:creationId xmlns:a16="http://schemas.microsoft.com/office/drawing/2014/main" id="{3ECB6AE9-36FA-AF48-67CF-56F7452A18F1}"/>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24610B2-626C-D7AD-D0D0-0C8FBC371F02}"/>
              </a:ext>
            </a:extLst>
          </p:cNvPr>
          <p:cNvSpPr txBox="1"/>
          <p:nvPr/>
        </p:nvSpPr>
        <p:spPr>
          <a:xfrm>
            <a:off x="11108388" y="224348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a:t>
            </a:r>
            <a:r>
              <a:rPr lang="en-GB" sz="1500" dirty="0" err="1">
                <a:solidFill>
                  <a:srgbClr val="00B0F0"/>
                </a:solidFill>
                <a:latin typeface="Avenir Book" panose="02000503020000020003" pitchFamily="2" charset="0"/>
              </a:rPr>
              <a:t>FurrySloths</a:t>
            </a:r>
            <a:endParaRPr lang="en-GB" sz="1500" dirty="0">
              <a:solidFill>
                <a:srgbClr val="00B0F0"/>
              </a:solidFill>
              <a:latin typeface="Avenir Book" panose="02000503020000020003" pitchFamily="2" charset="0"/>
            </a:endParaRPr>
          </a:p>
        </p:txBody>
      </p:sp>
      <p:cxnSp>
        <p:nvCxnSpPr>
          <p:cNvPr id="13" name="Straight Connector 12">
            <a:extLst>
              <a:ext uri="{FF2B5EF4-FFF2-40B4-BE49-F238E27FC236}">
                <a16:creationId xmlns:a16="http://schemas.microsoft.com/office/drawing/2014/main" id="{A0F9409A-BD7A-E32F-A460-484A304F3C52}"/>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0D6130A-D57D-419B-8AD0-E4C9C75FC1FB}"/>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CB35D032-6AF7-473E-1DBC-4611BE913817}"/>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 Species,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graphicFrame>
        <p:nvGraphicFramePr>
          <p:cNvPr id="29" name="Table 28">
            <a:extLst>
              <a:ext uri="{FF2B5EF4-FFF2-40B4-BE49-F238E27FC236}">
                <a16:creationId xmlns:a16="http://schemas.microsoft.com/office/drawing/2014/main" id="{1AD72493-38BB-D3EE-F968-E9264726727F}"/>
              </a:ext>
            </a:extLst>
          </p:cNvPr>
          <p:cNvGraphicFramePr>
            <a:graphicFrameLocks noGrp="1"/>
          </p:cNvGraphicFramePr>
          <p:nvPr/>
        </p:nvGraphicFramePr>
        <p:xfrm>
          <a:off x="339832" y="5138239"/>
          <a:ext cx="5178100" cy="1483360"/>
        </p:xfrm>
        <a:graphic>
          <a:graphicData uri="http://schemas.openxmlformats.org/drawingml/2006/table">
            <a:tbl>
              <a:tblPr firstRow="1" bandRow="1">
                <a:tableStyleId>{3B4B98B0-60AC-42C2-AFA5-B58CD77FA1E5}</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r>
                        <a:rPr lang="en-US" dirty="0" err="1"/>
                        <a:t>ToedSloth</a:t>
                      </a:r>
                      <a:endParaRPr lang="en-US" dirty="0"/>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473114995"/>
                  </a:ext>
                </a:extLst>
              </a:tr>
              <a:tr h="370840">
                <a:tc>
                  <a:txBody>
                    <a:bodyPr/>
                    <a:lstStyle/>
                    <a:p>
                      <a:r>
                        <a:rPr lang="en-US" dirty="0" err="1"/>
                        <a:t>MossySloth</a:t>
                      </a:r>
                      <a:endParaRPr lang="en-US" dirty="0"/>
                    </a:p>
                  </a:txBody>
                  <a:tcPr/>
                </a:tc>
                <a:tc>
                  <a:txBody>
                    <a:bodyPr/>
                    <a:lstStyle/>
                    <a:p>
                      <a:r>
                        <a:rPr lang="en-US" dirty="0"/>
                        <a:t>-0.1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cxnSp>
        <p:nvCxnSpPr>
          <p:cNvPr id="31" name="Straight Connector 30">
            <a:extLst>
              <a:ext uri="{FF2B5EF4-FFF2-40B4-BE49-F238E27FC236}">
                <a16:creationId xmlns:a16="http://schemas.microsoft.com/office/drawing/2014/main" id="{57E69E8F-29A4-9093-D3F8-BF2C15BC9B7B}"/>
              </a:ext>
            </a:extLst>
          </p:cNvPr>
          <p:cNvCxnSpPr>
            <a:cxnSpLocks/>
          </p:cNvCxnSpPr>
          <p:nvPr/>
        </p:nvCxnSpPr>
        <p:spPr>
          <a:xfrm flipV="1">
            <a:off x="6942896" y="1495178"/>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B5D8DAC-E7F9-A4B5-DF18-241B3464FBAF}"/>
              </a:ext>
            </a:extLst>
          </p:cNvPr>
          <p:cNvSpPr txBox="1"/>
          <p:nvPr/>
        </p:nvSpPr>
        <p:spPr>
          <a:xfrm>
            <a:off x="11152539" y="1353319"/>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Toed Sloth</a:t>
            </a:r>
          </a:p>
        </p:txBody>
      </p:sp>
      <p:cxnSp>
        <p:nvCxnSpPr>
          <p:cNvPr id="33" name="Straight Connector 32">
            <a:extLst>
              <a:ext uri="{FF2B5EF4-FFF2-40B4-BE49-F238E27FC236}">
                <a16:creationId xmlns:a16="http://schemas.microsoft.com/office/drawing/2014/main" id="{BA7361A8-885E-096F-5317-F95A3ADF6C07}"/>
              </a:ext>
            </a:extLst>
          </p:cNvPr>
          <p:cNvCxnSpPr>
            <a:cxnSpLocks/>
          </p:cNvCxnSpPr>
          <p:nvPr/>
        </p:nvCxnSpPr>
        <p:spPr>
          <a:xfrm flipV="1">
            <a:off x="6965815" y="1910187"/>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FE42098-3DFA-E57D-32A7-39DCF917014B}"/>
              </a:ext>
            </a:extLst>
          </p:cNvPr>
          <p:cNvSpPr txBox="1"/>
          <p:nvPr/>
        </p:nvSpPr>
        <p:spPr>
          <a:xfrm>
            <a:off x="11152539" y="1776903"/>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Mossy Sloth</a:t>
            </a:r>
          </a:p>
        </p:txBody>
      </p:sp>
      <p:cxnSp>
        <p:nvCxnSpPr>
          <p:cNvPr id="35" name="Straight Connector 34">
            <a:extLst>
              <a:ext uri="{FF2B5EF4-FFF2-40B4-BE49-F238E27FC236}">
                <a16:creationId xmlns:a16="http://schemas.microsoft.com/office/drawing/2014/main" id="{22691A9B-A7DE-4B88-34F6-A246802E014F}"/>
              </a:ext>
            </a:extLst>
          </p:cNvPr>
          <p:cNvCxnSpPr>
            <a:cxnSpLocks/>
          </p:cNvCxnSpPr>
          <p:nvPr/>
        </p:nvCxnSpPr>
        <p:spPr>
          <a:xfrm flipV="1">
            <a:off x="6935531" y="2170398"/>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159BC7D-6080-5A48-1B16-552C394E48AE}"/>
              </a:ext>
            </a:extLst>
          </p:cNvPr>
          <p:cNvSpPr txBox="1"/>
          <p:nvPr/>
        </p:nvSpPr>
        <p:spPr>
          <a:xfrm>
            <a:off x="11107872" y="203197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Toed Sloths</a:t>
            </a:r>
          </a:p>
        </p:txBody>
      </p:sp>
      <p:cxnSp>
        <p:nvCxnSpPr>
          <p:cNvPr id="37" name="Straight Connector 36">
            <a:extLst>
              <a:ext uri="{FF2B5EF4-FFF2-40B4-BE49-F238E27FC236}">
                <a16:creationId xmlns:a16="http://schemas.microsoft.com/office/drawing/2014/main" id="{BA44291C-DE9B-FC57-0648-F23C49DE195D}"/>
              </a:ext>
            </a:extLst>
          </p:cNvPr>
          <p:cNvCxnSpPr>
            <a:cxnSpLocks/>
          </p:cNvCxnSpPr>
          <p:nvPr/>
        </p:nvCxnSpPr>
        <p:spPr>
          <a:xfrm flipV="1">
            <a:off x="6886071" y="2553431"/>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22B889A-E544-93D9-2B2F-B6EC0FBED822}"/>
              </a:ext>
            </a:extLst>
          </p:cNvPr>
          <p:cNvSpPr txBox="1"/>
          <p:nvPr/>
        </p:nvSpPr>
        <p:spPr>
          <a:xfrm>
            <a:off x="11144761" y="2431088"/>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Mossy Sloths</a:t>
            </a:r>
          </a:p>
        </p:txBody>
      </p:sp>
      <p:sp>
        <p:nvSpPr>
          <p:cNvPr id="39" name="TextBox 38">
            <a:extLst>
              <a:ext uri="{FF2B5EF4-FFF2-40B4-BE49-F238E27FC236}">
                <a16:creationId xmlns:a16="http://schemas.microsoft.com/office/drawing/2014/main" id="{34CF8266-5DCD-CE9E-2F28-0FE67801A76C}"/>
              </a:ext>
            </a:extLst>
          </p:cNvPr>
          <p:cNvSpPr txBox="1"/>
          <p:nvPr/>
        </p:nvSpPr>
        <p:spPr>
          <a:xfrm>
            <a:off x="276770" y="2137547"/>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Intercept + Year + Site + Species</a:t>
            </a:r>
          </a:p>
        </p:txBody>
      </p:sp>
      <p:sp>
        <p:nvSpPr>
          <p:cNvPr id="40" name="TextBox 39">
            <a:extLst>
              <a:ext uri="{FF2B5EF4-FFF2-40B4-BE49-F238E27FC236}">
                <a16:creationId xmlns:a16="http://schemas.microsoft.com/office/drawing/2014/main" id="{9BA1C6EE-F4D6-BE58-8F77-40A8F7F93452}"/>
              </a:ext>
            </a:extLst>
          </p:cNvPr>
          <p:cNvSpPr txBox="1"/>
          <p:nvPr/>
        </p:nvSpPr>
        <p:spPr>
          <a:xfrm>
            <a:off x="223509" y="2468942"/>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3 + 0 + -1 + -0.1 = </a:t>
            </a:r>
          </a:p>
        </p:txBody>
      </p:sp>
      <p:cxnSp>
        <p:nvCxnSpPr>
          <p:cNvPr id="3" name="Straight Arrow Connector 2">
            <a:extLst>
              <a:ext uri="{FF2B5EF4-FFF2-40B4-BE49-F238E27FC236}">
                <a16:creationId xmlns:a16="http://schemas.microsoft.com/office/drawing/2014/main" id="{56B47D6C-B183-8F3B-9615-DD1A1168DB40}"/>
              </a:ext>
            </a:extLst>
          </p:cNvPr>
          <p:cNvCxnSpPr>
            <a:cxnSpLocks/>
          </p:cNvCxnSpPr>
          <p:nvPr/>
        </p:nvCxnSpPr>
        <p:spPr>
          <a:xfrm flipV="1">
            <a:off x="2154621" y="3815255"/>
            <a:ext cx="4771696" cy="186033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A1D9348-B5F7-7B2E-A8EF-B386AF40DCB7}"/>
              </a:ext>
            </a:extLst>
          </p:cNvPr>
          <p:cNvSpPr txBox="1"/>
          <p:nvPr/>
        </p:nvSpPr>
        <p:spPr>
          <a:xfrm>
            <a:off x="5454870" y="2749726"/>
            <a:ext cx="1192924" cy="1015663"/>
          </a:xfrm>
          <a:prstGeom prst="rect">
            <a:avLst/>
          </a:prstGeom>
          <a:noFill/>
        </p:spPr>
        <p:txBody>
          <a:bodyPr wrap="square">
            <a:spAutoFit/>
          </a:bodyPr>
          <a:lstStyle/>
          <a:p>
            <a:r>
              <a:rPr lang="en-US" sz="1500" dirty="0">
                <a:solidFill>
                  <a:schemeClr val="accent6">
                    <a:lumMod val="50000"/>
                  </a:schemeClr>
                </a:solidFill>
                <a:highlight>
                  <a:srgbClr val="FFFF00"/>
                </a:highlight>
                <a:latin typeface="Avenir Book" panose="02000503020000020003" pitchFamily="2" charset="0"/>
              </a:rPr>
              <a:t>Mossy sloth intercept in Site 1 is 3 - 0.1</a:t>
            </a:r>
          </a:p>
        </p:txBody>
      </p:sp>
      <p:cxnSp>
        <p:nvCxnSpPr>
          <p:cNvPr id="21" name="Straight Arrow Connector 20">
            <a:extLst>
              <a:ext uri="{FF2B5EF4-FFF2-40B4-BE49-F238E27FC236}">
                <a16:creationId xmlns:a16="http://schemas.microsoft.com/office/drawing/2014/main" id="{4D8525A0-0EEE-82FC-C6EA-A7536E097EB2}"/>
              </a:ext>
            </a:extLst>
          </p:cNvPr>
          <p:cNvCxnSpPr>
            <a:cxnSpLocks/>
          </p:cNvCxnSpPr>
          <p:nvPr/>
        </p:nvCxnSpPr>
        <p:spPr>
          <a:xfrm>
            <a:off x="2028497" y="3804745"/>
            <a:ext cx="4803227"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705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E4154-43B8-59B3-B0D9-F8DCAF0D26D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8C4ACB-C60E-7E32-D63C-7F7AFAD47532}"/>
              </a:ext>
            </a:extLst>
          </p:cNvPr>
          <p:cNvSpPr txBox="1"/>
          <p:nvPr/>
        </p:nvSpPr>
        <p:spPr>
          <a:xfrm>
            <a:off x="145518" y="199697"/>
            <a:ext cx="1267710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if you have two categorical variables?</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38554EDC-EBE4-3696-31CB-571282F3669E}"/>
              </a:ext>
            </a:extLst>
          </p:cNvPr>
          <p:cNvGraphicFramePr>
            <a:graphicFrameLocks noGrp="1"/>
          </p:cNvGraphicFramePr>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6B342F5D-DAA0-F6D1-0F70-E9580A509F88}"/>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D06614BA-7EFE-64AB-F5FA-6C1E34036AD4}"/>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C2DC2A0-806F-BF63-0879-D6C285C5DAFE}"/>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4C9BEB1F-A3AB-F30A-6806-3902F6D50396}"/>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66915975-78F7-7D59-C8B2-5FAFB779D040}"/>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08E91A59-5B3F-CA7B-1C7B-A199CE972C16}"/>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4AC2C5FF-1DF9-4AE4-4B71-373004F208B3}"/>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5B81956B-A716-6E5B-2E07-6427C8A2F3D5}"/>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5828DDAD-F733-8616-AA97-AD308D364370}"/>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C5CC1D77-93CF-B69F-BECB-587C5EA45CF5}"/>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AA379C46-5970-92C4-067E-957DB2459CD5}"/>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7BF6E8B9-EA81-19DC-72F9-67C82C5FF108}"/>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528968EF-0CF5-3C95-E486-60F008B7032D}"/>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7608271-2A66-F562-5DA6-E901530CAFEE}"/>
              </a:ext>
            </a:extLst>
          </p:cNvPr>
          <p:cNvSpPr txBox="1"/>
          <p:nvPr/>
        </p:nvSpPr>
        <p:spPr>
          <a:xfrm>
            <a:off x="11182820" y="1563345"/>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Furry Sloth</a:t>
            </a:r>
          </a:p>
        </p:txBody>
      </p:sp>
      <p:cxnSp>
        <p:nvCxnSpPr>
          <p:cNvPr id="6" name="Straight Connector 5">
            <a:extLst>
              <a:ext uri="{FF2B5EF4-FFF2-40B4-BE49-F238E27FC236}">
                <a16:creationId xmlns:a16="http://schemas.microsoft.com/office/drawing/2014/main" id="{A9C6F57D-61D3-077C-7E03-E4958ED43C50}"/>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9A8D0C3-9074-C99B-6266-CEA2F972642C}"/>
              </a:ext>
            </a:extLst>
          </p:cNvPr>
          <p:cNvSpPr txBox="1"/>
          <p:nvPr/>
        </p:nvSpPr>
        <p:spPr>
          <a:xfrm>
            <a:off x="11108388" y="224348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a:t>
            </a:r>
            <a:r>
              <a:rPr lang="en-GB" sz="1500" dirty="0" err="1">
                <a:solidFill>
                  <a:srgbClr val="00B0F0"/>
                </a:solidFill>
                <a:latin typeface="Avenir Book" panose="02000503020000020003" pitchFamily="2" charset="0"/>
              </a:rPr>
              <a:t>FurrySloths</a:t>
            </a:r>
            <a:endParaRPr lang="en-GB" sz="1500" dirty="0">
              <a:solidFill>
                <a:srgbClr val="00B0F0"/>
              </a:solidFill>
              <a:latin typeface="Avenir Book" panose="02000503020000020003" pitchFamily="2" charset="0"/>
            </a:endParaRPr>
          </a:p>
        </p:txBody>
      </p:sp>
      <p:cxnSp>
        <p:nvCxnSpPr>
          <p:cNvPr id="13" name="Straight Connector 12">
            <a:extLst>
              <a:ext uri="{FF2B5EF4-FFF2-40B4-BE49-F238E27FC236}">
                <a16:creationId xmlns:a16="http://schemas.microsoft.com/office/drawing/2014/main" id="{5F0BBA5A-E6E6-80F4-4160-4CB197F3395B}"/>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E5D9E01-DEBF-3ACC-2525-7B59B13BA89B}"/>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640AF1EB-A664-6DCD-955E-4F3B743A558B}"/>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 Species,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graphicFrame>
        <p:nvGraphicFramePr>
          <p:cNvPr id="29" name="Table 28">
            <a:extLst>
              <a:ext uri="{FF2B5EF4-FFF2-40B4-BE49-F238E27FC236}">
                <a16:creationId xmlns:a16="http://schemas.microsoft.com/office/drawing/2014/main" id="{689556E0-2174-09EB-C3CE-FF1601B46625}"/>
              </a:ext>
            </a:extLst>
          </p:cNvPr>
          <p:cNvGraphicFramePr>
            <a:graphicFrameLocks noGrp="1"/>
          </p:cNvGraphicFramePr>
          <p:nvPr/>
        </p:nvGraphicFramePr>
        <p:xfrm>
          <a:off x="339832" y="5138239"/>
          <a:ext cx="5178100" cy="1483360"/>
        </p:xfrm>
        <a:graphic>
          <a:graphicData uri="http://schemas.openxmlformats.org/drawingml/2006/table">
            <a:tbl>
              <a:tblPr firstRow="1" bandRow="1">
                <a:tableStyleId>{3B4B98B0-60AC-42C2-AFA5-B58CD77FA1E5}</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r>
                        <a:rPr lang="en-US" dirty="0" err="1"/>
                        <a:t>ToedSloth</a:t>
                      </a:r>
                      <a:endParaRPr lang="en-US" dirty="0"/>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473114995"/>
                  </a:ext>
                </a:extLst>
              </a:tr>
              <a:tr h="370840">
                <a:tc>
                  <a:txBody>
                    <a:bodyPr/>
                    <a:lstStyle/>
                    <a:p>
                      <a:r>
                        <a:rPr lang="en-US" dirty="0" err="1"/>
                        <a:t>MossySloth</a:t>
                      </a:r>
                      <a:endParaRPr lang="en-US" dirty="0"/>
                    </a:p>
                  </a:txBody>
                  <a:tcPr/>
                </a:tc>
                <a:tc>
                  <a:txBody>
                    <a:bodyPr/>
                    <a:lstStyle/>
                    <a:p>
                      <a:r>
                        <a:rPr lang="en-US" dirty="0"/>
                        <a:t>-0.1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cxnSp>
        <p:nvCxnSpPr>
          <p:cNvPr id="31" name="Straight Connector 30">
            <a:extLst>
              <a:ext uri="{FF2B5EF4-FFF2-40B4-BE49-F238E27FC236}">
                <a16:creationId xmlns:a16="http://schemas.microsoft.com/office/drawing/2014/main" id="{8AFA1B3C-3FF6-7900-1048-E4A4F9E59F48}"/>
              </a:ext>
            </a:extLst>
          </p:cNvPr>
          <p:cNvCxnSpPr>
            <a:cxnSpLocks/>
          </p:cNvCxnSpPr>
          <p:nvPr/>
        </p:nvCxnSpPr>
        <p:spPr>
          <a:xfrm flipV="1">
            <a:off x="6942896" y="1495178"/>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CF72225-C721-4A5E-281F-E65CB7B03651}"/>
              </a:ext>
            </a:extLst>
          </p:cNvPr>
          <p:cNvSpPr txBox="1"/>
          <p:nvPr/>
        </p:nvSpPr>
        <p:spPr>
          <a:xfrm>
            <a:off x="11152539" y="1353319"/>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Toed Sloth</a:t>
            </a:r>
          </a:p>
        </p:txBody>
      </p:sp>
      <p:cxnSp>
        <p:nvCxnSpPr>
          <p:cNvPr id="33" name="Straight Connector 32">
            <a:extLst>
              <a:ext uri="{FF2B5EF4-FFF2-40B4-BE49-F238E27FC236}">
                <a16:creationId xmlns:a16="http://schemas.microsoft.com/office/drawing/2014/main" id="{98F9FC33-AEEC-4867-6A39-176FC4D974B7}"/>
              </a:ext>
            </a:extLst>
          </p:cNvPr>
          <p:cNvCxnSpPr>
            <a:cxnSpLocks/>
          </p:cNvCxnSpPr>
          <p:nvPr/>
        </p:nvCxnSpPr>
        <p:spPr>
          <a:xfrm flipV="1">
            <a:off x="6965815" y="1910187"/>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611BFF2-E173-E328-AB74-A00C3DE186E0}"/>
              </a:ext>
            </a:extLst>
          </p:cNvPr>
          <p:cNvSpPr txBox="1"/>
          <p:nvPr/>
        </p:nvSpPr>
        <p:spPr>
          <a:xfrm>
            <a:off x="11152539" y="1776903"/>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Mossy Sloth</a:t>
            </a:r>
          </a:p>
        </p:txBody>
      </p:sp>
      <p:cxnSp>
        <p:nvCxnSpPr>
          <p:cNvPr id="35" name="Straight Connector 34">
            <a:extLst>
              <a:ext uri="{FF2B5EF4-FFF2-40B4-BE49-F238E27FC236}">
                <a16:creationId xmlns:a16="http://schemas.microsoft.com/office/drawing/2014/main" id="{3B339C94-EB1A-BF76-59B1-6F7BE88577B8}"/>
              </a:ext>
            </a:extLst>
          </p:cNvPr>
          <p:cNvCxnSpPr>
            <a:cxnSpLocks/>
          </p:cNvCxnSpPr>
          <p:nvPr/>
        </p:nvCxnSpPr>
        <p:spPr>
          <a:xfrm flipV="1">
            <a:off x="6935531" y="2170398"/>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A50BE10-16FF-0850-B021-B99DD916DC95}"/>
              </a:ext>
            </a:extLst>
          </p:cNvPr>
          <p:cNvSpPr txBox="1"/>
          <p:nvPr/>
        </p:nvSpPr>
        <p:spPr>
          <a:xfrm>
            <a:off x="11107872" y="203197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Toed Sloths</a:t>
            </a:r>
          </a:p>
        </p:txBody>
      </p:sp>
      <p:cxnSp>
        <p:nvCxnSpPr>
          <p:cNvPr id="37" name="Straight Connector 36">
            <a:extLst>
              <a:ext uri="{FF2B5EF4-FFF2-40B4-BE49-F238E27FC236}">
                <a16:creationId xmlns:a16="http://schemas.microsoft.com/office/drawing/2014/main" id="{F300952A-1728-D8BC-C6FF-F1A6F8EAC2EF}"/>
              </a:ext>
            </a:extLst>
          </p:cNvPr>
          <p:cNvCxnSpPr>
            <a:cxnSpLocks/>
          </p:cNvCxnSpPr>
          <p:nvPr/>
        </p:nvCxnSpPr>
        <p:spPr>
          <a:xfrm flipV="1">
            <a:off x="6886071" y="2553431"/>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2AFFD60D-9EEF-1E7A-896C-63AF4D80098E}"/>
              </a:ext>
            </a:extLst>
          </p:cNvPr>
          <p:cNvSpPr txBox="1"/>
          <p:nvPr/>
        </p:nvSpPr>
        <p:spPr>
          <a:xfrm>
            <a:off x="11144761" y="2431088"/>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Mossy Sloths</a:t>
            </a:r>
          </a:p>
        </p:txBody>
      </p:sp>
      <p:sp>
        <p:nvSpPr>
          <p:cNvPr id="39" name="TextBox 38">
            <a:extLst>
              <a:ext uri="{FF2B5EF4-FFF2-40B4-BE49-F238E27FC236}">
                <a16:creationId xmlns:a16="http://schemas.microsoft.com/office/drawing/2014/main" id="{B6A6B26E-3A50-53BF-F0A3-2A3B3F4AE85E}"/>
              </a:ext>
            </a:extLst>
          </p:cNvPr>
          <p:cNvSpPr txBox="1"/>
          <p:nvPr/>
        </p:nvSpPr>
        <p:spPr>
          <a:xfrm>
            <a:off x="276770" y="2137547"/>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Intercept + Year + Site + Species</a:t>
            </a:r>
          </a:p>
        </p:txBody>
      </p:sp>
      <p:sp>
        <p:nvSpPr>
          <p:cNvPr id="40" name="TextBox 39">
            <a:extLst>
              <a:ext uri="{FF2B5EF4-FFF2-40B4-BE49-F238E27FC236}">
                <a16:creationId xmlns:a16="http://schemas.microsoft.com/office/drawing/2014/main" id="{ACF67CFB-BA0E-90F3-CB94-A3562086BFBC}"/>
              </a:ext>
            </a:extLst>
          </p:cNvPr>
          <p:cNvSpPr txBox="1"/>
          <p:nvPr/>
        </p:nvSpPr>
        <p:spPr>
          <a:xfrm>
            <a:off x="223509" y="2468942"/>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3 + 0 + -1 + -0.1 = </a:t>
            </a:r>
          </a:p>
        </p:txBody>
      </p:sp>
      <p:cxnSp>
        <p:nvCxnSpPr>
          <p:cNvPr id="3" name="Straight Arrow Connector 2">
            <a:extLst>
              <a:ext uri="{FF2B5EF4-FFF2-40B4-BE49-F238E27FC236}">
                <a16:creationId xmlns:a16="http://schemas.microsoft.com/office/drawing/2014/main" id="{B0AF0747-D7E5-4A2D-A3EE-1A853C46B028}"/>
              </a:ext>
            </a:extLst>
          </p:cNvPr>
          <p:cNvCxnSpPr>
            <a:cxnSpLocks/>
          </p:cNvCxnSpPr>
          <p:nvPr/>
        </p:nvCxnSpPr>
        <p:spPr>
          <a:xfrm flipV="1">
            <a:off x="2081048" y="4277710"/>
            <a:ext cx="4855780" cy="31531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E619CFC-2821-FBEC-13FB-5C17C89449C2}"/>
              </a:ext>
            </a:extLst>
          </p:cNvPr>
          <p:cNvCxnSpPr>
            <a:cxnSpLocks/>
          </p:cNvCxnSpPr>
          <p:nvPr/>
        </p:nvCxnSpPr>
        <p:spPr>
          <a:xfrm>
            <a:off x="2028497" y="3804745"/>
            <a:ext cx="4876800" cy="49398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AFFB7FD-2D4F-1A3D-C3F1-384E511F2DF2}"/>
              </a:ext>
            </a:extLst>
          </p:cNvPr>
          <p:cNvSpPr txBox="1"/>
          <p:nvPr/>
        </p:nvSpPr>
        <p:spPr>
          <a:xfrm>
            <a:off x="5491656" y="4415616"/>
            <a:ext cx="1192924" cy="2400657"/>
          </a:xfrm>
          <a:prstGeom prst="rect">
            <a:avLst/>
          </a:prstGeom>
          <a:noFill/>
        </p:spPr>
        <p:txBody>
          <a:bodyPr wrap="square">
            <a:spAutoFit/>
          </a:bodyPr>
          <a:lstStyle/>
          <a:p>
            <a:r>
              <a:rPr lang="en-US" sz="1500" dirty="0">
                <a:solidFill>
                  <a:schemeClr val="accent6">
                    <a:lumMod val="50000"/>
                  </a:schemeClr>
                </a:solidFill>
                <a:highlight>
                  <a:srgbClr val="FFFF00"/>
                </a:highlight>
                <a:latin typeface="Avenir Book" panose="02000503020000020003" pitchFamily="2" charset="0"/>
              </a:rPr>
              <a:t>Furry Sloth Intercept in Site 2 is 3 -1 (remember the ‘Intercept’ is the Furry Sloth Base Level)</a:t>
            </a:r>
          </a:p>
        </p:txBody>
      </p:sp>
    </p:spTree>
    <p:extLst>
      <p:ext uri="{BB962C8B-B14F-4D97-AF65-F5344CB8AC3E}">
        <p14:creationId xmlns:p14="http://schemas.microsoft.com/office/powerpoint/2010/main" val="1819128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2EFD6-9A9B-BB37-4E4B-D4BECE0E99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3D23A44-5A24-CA80-5B86-5C0BDE0FFFDD}"/>
              </a:ext>
            </a:extLst>
          </p:cNvPr>
          <p:cNvSpPr txBox="1"/>
          <p:nvPr/>
        </p:nvSpPr>
        <p:spPr>
          <a:xfrm>
            <a:off x="145518" y="199697"/>
            <a:ext cx="1267710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if you have two categorical variables?</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AA458B8F-0058-CDFF-E153-25DF6EA4CD01}"/>
              </a:ext>
            </a:extLst>
          </p:cNvPr>
          <p:cNvGraphicFramePr>
            <a:graphicFrameLocks noGrp="1"/>
          </p:cNvGraphicFramePr>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C061C2D4-5A66-5941-4191-77F40CFA12DF}"/>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E3C1B00B-5C48-D21A-AF63-F75B9D4EED8B}"/>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45069D4-BFF4-FA35-3F17-D609BBD71524}"/>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7440B68E-7238-9E10-FD81-3E74FD728942}"/>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CD469B0A-5A0B-47D1-3274-3D632FFA17D4}"/>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E4DD30F6-FD1F-3B40-5D33-974F2D14F1EF}"/>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2CC5DE79-41FB-DDC8-1E5B-9A719EFE6F20}"/>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8B8505A8-E662-CDDE-8D0F-6435548FAEB7}"/>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0E986D59-97EE-899F-ADD6-FDF30E7E9B9B}"/>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857D1869-C77F-CFD6-53B7-31AE62691F27}"/>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3E674BC5-366E-C618-1D8B-3A45B9228856}"/>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376CA3FC-B881-17EA-F5D8-31C1EF36751F}"/>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8152BBE1-D4FB-114A-4BDE-44BE0B690E3B}"/>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8DAE44D-E1FD-5BD6-812B-FE36A6C0EC22}"/>
              </a:ext>
            </a:extLst>
          </p:cNvPr>
          <p:cNvSpPr txBox="1"/>
          <p:nvPr/>
        </p:nvSpPr>
        <p:spPr>
          <a:xfrm>
            <a:off x="11182820" y="1563345"/>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Furry Sloth</a:t>
            </a:r>
          </a:p>
        </p:txBody>
      </p:sp>
      <p:cxnSp>
        <p:nvCxnSpPr>
          <p:cNvPr id="6" name="Straight Connector 5">
            <a:extLst>
              <a:ext uri="{FF2B5EF4-FFF2-40B4-BE49-F238E27FC236}">
                <a16:creationId xmlns:a16="http://schemas.microsoft.com/office/drawing/2014/main" id="{8DA6A5FF-F3AB-2FF5-DC14-9160A4907865}"/>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4578D2B-C4B7-3B18-2724-6A4B263918C7}"/>
              </a:ext>
            </a:extLst>
          </p:cNvPr>
          <p:cNvSpPr txBox="1"/>
          <p:nvPr/>
        </p:nvSpPr>
        <p:spPr>
          <a:xfrm>
            <a:off x="11108388" y="224348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a:t>
            </a:r>
            <a:r>
              <a:rPr lang="en-GB" sz="1500" dirty="0" err="1">
                <a:solidFill>
                  <a:srgbClr val="00B0F0"/>
                </a:solidFill>
                <a:latin typeface="Avenir Book" panose="02000503020000020003" pitchFamily="2" charset="0"/>
              </a:rPr>
              <a:t>FurrySloths</a:t>
            </a:r>
            <a:endParaRPr lang="en-GB" sz="1500" dirty="0">
              <a:solidFill>
                <a:srgbClr val="00B0F0"/>
              </a:solidFill>
              <a:latin typeface="Avenir Book" panose="02000503020000020003" pitchFamily="2" charset="0"/>
            </a:endParaRPr>
          </a:p>
        </p:txBody>
      </p:sp>
      <p:cxnSp>
        <p:nvCxnSpPr>
          <p:cNvPr id="13" name="Straight Connector 12">
            <a:extLst>
              <a:ext uri="{FF2B5EF4-FFF2-40B4-BE49-F238E27FC236}">
                <a16:creationId xmlns:a16="http://schemas.microsoft.com/office/drawing/2014/main" id="{2BF91A7C-F495-6BDA-57F5-D8B3A171EE25}"/>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85EE4BC-04D2-35BA-5D80-0CD1A3EB2B7C}"/>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CEA9EA09-B7CB-2C24-A4D1-59F797C95FAF}"/>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 Species,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graphicFrame>
        <p:nvGraphicFramePr>
          <p:cNvPr id="29" name="Table 28">
            <a:extLst>
              <a:ext uri="{FF2B5EF4-FFF2-40B4-BE49-F238E27FC236}">
                <a16:creationId xmlns:a16="http://schemas.microsoft.com/office/drawing/2014/main" id="{A3110C32-F3EF-EBEE-02B7-B32E1DE4689A}"/>
              </a:ext>
            </a:extLst>
          </p:cNvPr>
          <p:cNvGraphicFramePr>
            <a:graphicFrameLocks noGrp="1"/>
          </p:cNvGraphicFramePr>
          <p:nvPr/>
        </p:nvGraphicFramePr>
        <p:xfrm>
          <a:off x="339832" y="5138239"/>
          <a:ext cx="5178100" cy="1483360"/>
        </p:xfrm>
        <a:graphic>
          <a:graphicData uri="http://schemas.openxmlformats.org/drawingml/2006/table">
            <a:tbl>
              <a:tblPr firstRow="1" bandRow="1">
                <a:tableStyleId>{3B4B98B0-60AC-42C2-AFA5-B58CD77FA1E5}</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r>
                        <a:rPr lang="en-US" dirty="0" err="1"/>
                        <a:t>ToedSloth</a:t>
                      </a:r>
                      <a:endParaRPr lang="en-US" dirty="0"/>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473114995"/>
                  </a:ext>
                </a:extLst>
              </a:tr>
              <a:tr h="370840">
                <a:tc>
                  <a:txBody>
                    <a:bodyPr/>
                    <a:lstStyle/>
                    <a:p>
                      <a:r>
                        <a:rPr lang="en-US" dirty="0" err="1"/>
                        <a:t>MossySloth</a:t>
                      </a:r>
                      <a:endParaRPr lang="en-US" dirty="0"/>
                    </a:p>
                  </a:txBody>
                  <a:tcPr/>
                </a:tc>
                <a:tc>
                  <a:txBody>
                    <a:bodyPr/>
                    <a:lstStyle/>
                    <a:p>
                      <a:r>
                        <a:rPr lang="en-US" dirty="0"/>
                        <a:t>-0.1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cxnSp>
        <p:nvCxnSpPr>
          <p:cNvPr id="31" name="Straight Connector 30">
            <a:extLst>
              <a:ext uri="{FF2B5EF4-FFF2-40B4-BE49-F238E27FC236}">
                <a16:creationId xmlns:a16="http://schemas.microsoft.com/office/drawing/2014/main" id="{2E0CBB29-6A66-FE64-F3F7-784CD4A8C0E8}"/>
              </a:ext>
            </a:extLst>
          </p:cNvPr>
          <p:cNvCxnSpPr>
            <a:cxnSpLocks/>
          </p:cNvCxnSpPr>
          <p:nvPr/>
        </p:nvCxnSpPr>
        <p:spPr>
          <a:xfrm flipV="1">
            <a:off x="6942896" y="1495178"/>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D94AFC0A-1D44-A633-9B17-826B408E8F53}"/>
              </a:ext>
            </a:extLst>
          </p:cNvPr>
          <p:cNvSpPr txBox="1"/>
          <p:nvPr/>
        </p:nvSpPr>
        <p:spPr>
          <a:xfrm>
            <a:off x="11152539" y="1353319"/>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Toed Sloth</a:t>
            </a:r>
          </a:p>
        </p:txBody>
      </p:sp>
      <p:cxnSp>
        <p:nvCxnSpPr>
          <p:cNvPr id="33" name="Straight Connector 32">
            <a:extLst>
              <a:ext uri="{FF2B5EF4-FFF2-40B4-BE49-F238E27FC236}">
                <a16:creationId xmlns:a16="http://schemas.microsoft.com/office/drawing/2014/main" id="{5C47CDF0-4159-0029-C035-3A75BD881114}"/>
              </a:ext>
            </a:extLst>
          </p:cNvPr>
          <p:cNvCxnSpPr>
            <a:cxnSpLocks/>
          </p:cNvCxnSpPr>
          <p:nvPr/>
        </p:nvCxnSpPr>
        <p:spPr>
          <a:xfrm flipV="1">
            <a:off x="6965815" y="1910187"/>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C199255E-31F9-ED22-7B51-6B167E244E41}"/>
              </a:ext>
            </a:extLst>
          </p:cNvPr>
          <p:cNvSpPr txBox="1"/>
          <p:nvPr/>
        </p:nvSpPr>
        <p:spPr>
          <a:xfrm>
            <a:off x="11152539" y="1776903"/>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Mossy Sloth</a:t>
            </a:r>
          </a:p>
        </p:txBody>
      </p:sp>
      <p:cxnSp>
        <p:nvCxnSpPr>
          <p:cNvPr id="35" name="Straight Connector 34">
            <a:extLst>
              <a:ext uri="{FF2B5EF4-FFF2-40B4-BE49-F238E27FC236}">
                <a16:creationId xmlns:a16="http://schemas.microsoft.com/office/drawing/2014/main" id="{4A49D1EC-7869-863D-B1E1-F986C28C2349}"/>
              </a:ext>
            </a:extLst>
          </p:cNvPr>
          <p:cNvCxnSpPr>
            <a:cxnSpLocks/>
          </p:cNvCxnSpPr>
          <p:nvPr/>
        </p:nvCxnSpPr>
        <p:spPr>
          <a:xfrm flipV="1">
            <a:off x="6935531" y="2170398"/>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B21F80BA-206C-3AAD-908D-74D0C13A8986}"/>
              </a:ext>
            </a:extLst>
          </p:cNvPr>
          <p:cNvSpPr txBox="1"/>
          <p:nvPr/>
        </p:nvSpPr>
        <p:spPr>
          <a:xfrm>
            <a:off x="11107872" y="203197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Toed Sloths</a:t>
            </a:r>
          </a:p>
        </p:txBody>
      </p:sp>
      <p:cxnSp>
        <p:nvCxnSpPr>
          <p:cNvPr id="37" name="Straight Connector 36">
            <a:extLst>
              <a:ext uri="{FF2B5EF4-FFF2-40B4-BE49-F238E27FC236}">
                <a16:creationId xmlns:a16="http://schemas.microsoft.com/office/drawing/2014/main" id="{925099E5-6523-B62F-02CD-75EF693F7F94}"/>
              </a:ext>
            </a:extLst>
          </p:cNvPr>
          <p:cNvCxnSpPr>
            <a:cxnSpLocks/>
          </p:cNvCxnSpPr>
          <p:nvPr/>
        </p:nvCxnSpPr>
        <p:spPr>
          <a:xfrm flipV="1">
            <a:off x="6886071" y="2553431"/>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F00F56C-A57C-7CF8-09A8-32A56AD09620}"/>
              </a:ext>
            </a:extLst>
          </p:cNvPr>
          <p:cNvSpPr txBox="1"/>
          <p:nvPr/>
        </p:nvSpPr>
        <p:spPr>
          <a:xfrm>
            <a:off x="11144761" y="2431088"/>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Mossy Sloths</a:t>
            </a:r>
          </a:p>
        </p:txBody>
      </p:sp>
      <p:sp>
        <p:nvSpPr>
          <p:cNvPr id="39" name="TextBox 38">
            <a:extLst>
              <a:ext uri="{FF2B5EF4-FFF2-40B4-BE49-F238E27FC236}">
                <a16:creationId xmlns:a16="http://schemas.microsoft.com/office/drawing/2014/main" id="{AB032814-B963-5A63-899D-345473B817D3}"/>
              </a:ext>
            </a:extLst>
          </p:cNvPr>
          <p:cNvSpPr txBox="1"/>
          <p:nvPr/>
        </p:nvSpPr>
        <p:spPr>
          <a:xfrm>
            <a:off x="276770" y="2137547"/>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Intercept + Year + Site + Species</a:t>
            </a:r>
          </a:p>
        </p:txBody>
      </p:sp>
      <p:sp>
        <p:nvSpPr>
          <p:cNvPr id="40" name="TextBox 39">
            <a:extLst>
              <a:ext uri="{FF2B5EF4-FFF2-40B4-BE49-F238E27FC236}">
                <a16:creationId xmlns:a16="http://schemas.microsoft.com/office/drawing/2014/main" id="{73661653-08A0-548B-6836-A6D06DB73D72}"/>
              </a:ext>
            </a:extLst>
          </p:cNvPr>
          <p:cNvSpPr txBox="1"/>
          <p:nvPr/>
        </p:nvSpPr>
        <p:spPr>
          <a:xfrm>
            <a:off x="223509" y="2468942"/>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3 + 0 + -1 + -0.1 = </a:t>
            </a:r>
          </a:p>
        </p:txBody>
      </p:sp>
      <p:cxnSp>
        <p:nvCxnSpPr>
          <p:cNvPr id="3" name="Straight Arrow Connector 2">
            <a:extLst>
              <a:ext uri="{FF2B5EF4-FFF2-40B4-BE49-F238E27FC236}">
                <a16:creationId xmlns:a16="http://schemas.microsoft.com/office/drawing/2014/main" id="{98D5A7ED-9E9D-4CE2-5154-8649663EB649}"/>
              </a:ext>
            </a:extLst>
          </p:cNvPr>
          <p:cNvCxnSpPr>
            <a:cxnSpLocks/>
          </p:cNvCxnSpPr>
          <p:nvPr/>
        </p:nvCxnSpPr>
        <p:spPr>
          <a:xfrm flipV="1">
            <a:off x="2081048" y="4277710"/>
            <a:ext cx="4855780" cy="31531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98DA6A2-C4AA-56C3-B443-810B451542C3}"/>
              </a:ext>
            </a:extLst>
          </p:cNvPr>
          <p:cNvCxnSpPr>
            <a:cxnSpLocks/>
          </p:cNvCxnSpPr>
          <p:nvPr/>
        </p:nvCxnSpPr>
        <p:spPr>
          <a:xfrm>
            <a:off x="2028497" y="3804745"/>
            <a:ext cx="4876800" cy="49398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D6B1803-5B40-0C18-8C41-F15C6D890FE4}"/>
              </a:ext>
            </a:extLst>
          </p:cNvPr>
          <p:cNvSpPr txBox="1"/>
          <p:nvPr/>
        </p:nvSpPr>
        <p:spPr>
          <a:xfrm>
            <a:off x="5607270" y="4541739"/>
            <a:ext cx="1413641" cy="2400657"/>
          </a:xfrm>
          <a:prstGeom prst="rect">
            <a:avLst/>
          </a:prstGeom>
          <a:noFill/>
        </p:spPr>
        <p:txBody>
          <a:bodyPr wrap="square">
            <a:spAutoFit/>
          </a:bodyPr>
          <a:lstStyle/>
          <a:p>
            <a:r>
              <a:rPr lang="en-US" sz="1500" dirty="0">
                <a:solidFill>
                  <a:schemeClr val="accent6">
                    <a:lumMod val="50000"/>
                  </a:schemeClr>
                </a:solidFill>
                <a:highlight>
                  <a:srgbClr val="FFFF00"/>
                </a:highlight>
                <a:latin typeface="Avenir Book" panose="02000503020000020003" pitchFamily="2" charset="0"/>
              </a:rPr>
              <a:t>Toed Sloth Intercept in Site 2 is 3 -1 + 0.3 (now we have to adjust for both species and site, as neither is the ‘base’ level!)</a:t>
            </a:r>
          </a:p>
        </p:txBody>
      </p:sp>
      <p:cxnSp>
        <p:nvCxnSpPr>
          <p:cNvPr id="17" name="Straight Arrow Connector 16">
            <a:extLst>
              <a:ext uri="{FF2B5EF4-FFF2-40B4-BE49-F238E27FC236}">
                <a16:creationId xmlns:a16="http://schemas.microsoft.com/office/drawing/2014/main" id="{2ADD9960-3B22-C1C7-69C0-C38B0C0A95E5}"/>
              </a:ext>
            </a:extLst>
          </p:cNvPr>
          <p:cNvCxnSpPr>
            <a:cxnSpLocks/>
          </p:cNvCxnSpPr>
          <p:nvPr/>
        </p:nvCxnSpPr>
        <p:spPr>
          <a:xfrm flipV="1">
            <a:off x="2133600" y="4309241"/>
            <a:ext cx="4708634" cy="97746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177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0035A-E890-B665-509A-EBCFE8E9BD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912EDB-EABB-894A-1E88-BAC9F12D6C57}"/>
              </a:ext>
            </a:extLst>
          </p:cNvPr>
          <p:cNvSpPr txBox="1"/>
          <p:nvPr/>
        </p:nvSpPr>
        <p:spPr>
          <a:xfrm>
            <a:off x="145518" y="199697"/>
            <a:ext cx="1267710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if you have two categorical variables?</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EEA31A48-7734-3EC1-7C79-5B3FB95AACA9}"/>
              </a:ext>
            </a:extLst>
          </p:cNvPr>
          <p:cNvGraphicFramePr>
            <a:graphicFrameLocks noGrp="1"/>
          </p:cNvGraphicFramePr>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9202FA77-B93A-3C5D-79B7-212062CC9411}"/>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F81DDA21-E9E1-1E97-98A9-5F0C4ADDBEB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EE704D7-F028-219F-A07F-F4704A5468A6}"/>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F3E2A311-1236-CC8C-4158-235BD84A2F83}"/>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039AEE8F-5D40-AEC8-8443-6F6B37A0F318}"/>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580A1FB2-AE0B-3E39-7163-855A72F06869}"/>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2356C794-CC24-C224-62AC-4BAC65098ACA}"/>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A7363D91-402D-4C8D-683F-18084666F9F5}"/>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FF5338F8-2280-1C86-5D7B-404E28B14270}"/>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D9E95B33-149B-1DF7-ED37-8DBD803FB4EA}"/>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62F62A30-CC2C-AC9C-EE8A-18207D14E211}"/>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B07A854E-827D-DC2A-461B-A41F6818A5A5}"/>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31ADB208-1630-D498-71E1-2B93D9A367AB}"/>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7EF0076-C511-8516-033E-2A8C62CC2B85}"/>
              </a:ext>
            </a:extLst>
          </p:cNvPr>
          <p:cNvSpPr txBox="1"/>
          <p:nvPr/>
        </p:nvSpPr>
        <p:spPr>
          <a:xfrm>
            <a:off x="11182820" y="1563345"/>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Furry Sloth</a:t>
            </a:r>
          </a:p>
        </p:txBody>
      </p:sp>
      <p:cxnSp>
        <p:nvCxnSpPr>
          <p:cNvPr id="6" name="Straight Connector 5">
            <a:extLst>
              <a:ext uri="{FF2B5EF4-FFF2-40B4-BE49-F238E27FC236}">
                <a16:creationId xmlns:a16="http://schemas.microsoft.com/office/drawing/2014/main" id="{46675393-A4EE-CB04-B01B-F56A1753D5C9}"/>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E3FAC17-C3FA-AC7B-895D-1E5623E306C5}"/>
              </a:ext>
            </a:extLst>
          </p:cNvPr>
          <p:cNvSpPr txBox="1"/>
          <p:nvPr/>
        </p:nvSpPr>
        <p:spPr>
          <a:xfrm>
            <a:off x="11108388" y="224348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a:t>
            </a:r>
            <a:r>
              <a:rPr lang="en-GB" sz="1500" dirty="0" err="1">
                <a:solidFill>
                  <a:srgbClr val="00B0F0"/>
                </a:solidFill>
                <a:latin typeface="Avenir Book" panose="02000503020000020003" pitchFamily="2" charset="0"/>
              </a:rPr>
              <a:t>FurrySloths</a:t>
            </a:r>
            <a:endParaRPr lang="en-GB" sz="1500" dirty="0">
              <a:solidFill>
                <a:srgbClr val="00B0F0"/>
              </a:solidFill>
              <a:latin typeface="Avenir Book" panose="02000503020000020003" pitchFamily="2" charset="0"/>
            </a:endParaRPr>
          </a:p>
        </p:txBody>
      </p:sp>
      <p:cxnSp>
        <p:nvCxnSpPr>
          <p:cNvPr id="13" name="Straight Connector 12">
            <a:extLst>
              <a:ext uri="{FF2B5EF4-FFF2-40B4-BE49-F238E27FC236}">
                <a16:creationId xmlns:a16="http://schemas.microsoft.com/office/drawing/2014/main" id="{1983DE71-D511-DB80-3AF8-C02EDC48F3CD}"/>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D1088D6-3CFF-03A5-9C43-224D31B727AE}"/>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DF802F31-EDD6-098E-1F61-1AD4918DFBC2}"/>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 Species,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graphicFrame>
        <p:nvGraphicFramePr>
          <p:cNvPr id="29" name="Table 28">
            <a:extLst>
              <a:ext uri="{FF2B5EF4-FFF2-40B4-BE49-F238E27FC236}">
                <a16:creationId xmlns:a16="http://schemas.microsoft.com/office/drawing/2014/main" id="{E676939E-D2EE-871A-00AC-30956236FDC4}"/>
              </a:ext>
            </a:extLst>
          </p:cNvPr>
          <p:cNvGraphicFramePr>
            <a:graphicFrameLocks noGrp="1"/>
          </p:cNvGraphicFramePr>
          <p:nvPr/>
        </p:nvGraphicFramePr>
        <p:xfrm>
          <a:off x="339832" y="5138239"/>
          <a:ext cx="5178100" cy="1483360"/>
        </p:xfrm>
        <a:graphic>
          <a:graphicData uri="http://schemas.openxmlformats.org/drawingml/2006/table">
            <a:tbl>
              <a:tblPr firstRow="1" bandRow="1">
                <a:tableStyleId>{3B4B98B0-60AC-42C2-AFA5-B58CD77FA1E5}</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r>
                        <a:rPr lang="en-US" dirty="0" err="1"/>
                        <a:t>ToedSloth</a:t>
                      </a:r>
                      <a:endParaRPr lang="en-US" dirty="0"/>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473114995"/>
                  </a:ext>
                </a:extLst>
              </a:tr>
              <a:tr h="370840">
                <a:tc>
                  <a:txBody>
                    <a:bodyPr/>
                    <a:lstStyle/>
                    <a:p>
                      <a:r>
                        <a:rPr lang="en-US" dirty="0" err="1"/>
                        <a:t>MossySloth</a:t>
                      </a:r>
                      <a:endParaRPr lang="en-US" dirty="0"/>
                    </a:p>
                  </a:txBody>
                  <a:tcPr/>
                </a:tc>
                <a:tc>
                  <a:txBody>
                    <a:bodyPr/>
                    <a:lstStyle/>
                    <a:p>
                      <a:r>
                        <a:rPr lang="en-US" dirty="0"/>
                        <a:t>-0.1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cxnSp>
        <p:nvCxnSpPr>
          <p:cNvPr id="31" name="Straight Connector 30">
            <a:extLst>
              <a:ext uri="{FF2B5EF4-FFF2-40B4-BE49-F238E27FC236}">
                <a16:creationId xmlns:a16="http://schemas.microsoft.com/office/drawing/2014/main" id="{9AE59160-C7C0-6AE8-82F3-23FD36040205}"/>
              </a:ext>
            </a:extLst>
          </p:cNvPr>
          <p:cNvCxnSpPr>
            <a:cxnSpLocks/>
          </p:cNvCxnSpPr>
          <p:nvPr/>
        </p:nvCxnSpPr>
        <p:spPr>
          <a:xfrm flipV="1">
            <a:off x="6942896" y="1495178"/>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9BEFE11-E56F-18CF-50B0-4DEB6C221701}"/>
              </a:ext>
            </a:extLst>
          </p:cNvPr>
          <p:cNvSpPr txBox="1"/>
          <p:nvPr/>
        </p:nvSpPr>
        <p:spPr>
          <a:xfrm>
            <a:off x="11152539" y="1353319"/>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Toed Sloth</a:t>
            </a:r>
          </a:p>
        </p:txBody>
      </p:sp>
      <p:cxnSp>
        <p:nvCxnSpPr>
          <p:cNvPr id="33" name="Straight Connector 32">
            <a:extLst>
              <a:ext uri="{FF2B5EF4-FFF2-40B4-BE49-F238E27FC236}">
                <a16:creationId xmlns:a16="http://schemas.microsoft.com/office/drawing/2014/main" id="{726FD072-E362-BA5E-3122-6414927BA071}"/>
              </a:ext>
            </a:extLst>
          </p:cNvPr>
          <p:cNvCxnSpPr>
            <a:cxnSpLocks/>
          </p:cNvCxnSpPr>
          <p:nvPr/>
        </p:nvCxnSpPr>
        <p:spPr>
          <a:xfrm flipV="1">
            <a:off x="6965815" y="1910187"/>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84A5FEE-C7B9-5901-2C27-E11C0FA60621}"/>
              </a:ext>
            </a:extLst>
          </p:cNvPr>
          <p:cNvSpPr txBox="1"/>
          <p:nvPr/>
        </p:nvSpPr>
        <p:spPr>
          <a:xfrm>
            <a:off x="11152539" y="1776903"/>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Mossy Sloth</a:t>
            </a:r>
          </a:p>
        </p:txBody>
      </p:sp>
      <p:cxnSp>
        <p:nvCxnSpPr>
          <p:cNvPr id="35" name="Straight Connector 34">
            <a:extLst>
              <a:ext uri="{FF2B5EF4-FFF2-40B4-BE49-F238E27FC236}">
                <a16:creationId xmlns:a16="http://schemas.microsoft.com/office/drawing/2014/main" id="{41C30BF4-B1CB-EA5F-490A-46B8877C6105}"/>
              </a:ext>
            </a:extLst>
          </p:cNvPr>
          <p:cNvCxnSpPr>
            <a:cxnSpLocks/>
          </p:cNvCxnSpPr>
          <p:nvPr/>
        </p:nvCxnSpPr>
        <p:spPr>
          <a:xfrm flipV="1">
            <a:off x="6935531" y="2170398"/>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96F0F1D6-D0DD-631A-EFC9-3AD98857696C}"/>
              </a:ext>
            </a:extLst>
          </p:cNvPr>
          <p:cNvSpPr txBox="1"/>
          <p:nvPr/>
        </p:nvSpPr>
        <p:spPr>
          <a:xfrm>
            <a:off x="11107872" y="203197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Toed Sloths</a:t>
            </a:r>
          </a:p>
        </p:txBody>
      </p:sp>
      <p:cxnSp>
        <p:nvCxnSpPr>
          <p:cNvPr id="37" name="Straight Connector 36">
            <a:extLst>
              <a:ext uri="{FF2B5EF4-FFF2-40B4-BE49-F238E27FC236}">
                <a16:creationId xmlns:a16="http://schemas.microsoft.com/office/drawing/2014/main" id="{39D3D1C9-15EF-9DDE-87B2-D43526418DAE}"/>
              </a:ext>
            </a:extLst>
          </p:cNvPr>
          <p:cNvCxnSpPr>
            <a:cxnSpLocks/>
          </p:cNvCxnSpPr>
          <p:nvPr/>
        </p:nvCxnSpPr>
        <p:spPr>
          <a:xfrm flipV="1">
            <a:off x="6886071" y="2553431"/>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C07CBAFA-1D44-18CB-D620-D80D204D0027}"/>
              </a:ext>
            </a:extLst>
          </p:cNvPr>
          <p:cNvSpPr txBox="1"/>
          <p:nvPr/>
        </p:nvSpPr>
        <p:spPr>
          <a:xfrm>
            <a:off x="11144761" y="2431088"/>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Mossy Sloths</a:t>
            </a:r>
          </a:p>
        </p:txBody>
      </p:sp>
      <p:sp>
        <p:nvSpPr>
          <p:cNvPr id="39" name="TextBox 38">
            <a:extLst>
              <a:ext uri="{FF2B5EF4-FFF2-40B4-BE49-F238E27FC236}">
                <a16:creationId xmlns:a16="http://schemas.microsoft.com/office/drawing/2014/main" id="{BDFFC46E-A1F5-C385-F695-24046D515CB4}"/>
              </a:ext>
            </a:extLst>
          </p:cNvPr>
          <p:cNvSpPr txBox="1"/>
          <p:nvPr/>
        </p:nvSpPr>
        <p:spPr>
          <a:xfrm>
            <a:off x="276770" y="2137547"/>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Intercept + Year + Site + Species</a:t>
            </a:r>
          </a:p>
        </p:txBody>
      </p:sp>
      <p:sp>
        <p:nvSpPr>
          <p:cNvPr id="40" name="TextBox 39">
            <a:extLst>
              <a:ext uri="{FF2B5EF4-FFF2-40B4-BE49-F238E27FC236}">
                <a16:creationId xmlns:a16="http://schemas.microsoft.com/office/drawing/2014/main" id="{EF3832E6-D1EA-7128-3810-AC113515AE3D}"/>
              </a:ext>
            </a:extLst>
          </p:cNvPr>
          <p:cNvSpPr txBox="1"/>
          <p:nvPr/>
        </p:nvSpPr>
        <p:spPr>
          <a:xfrm>
            <a:off x="223509" y="2468942"/>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3 + 0 + -1 + -0.1 = </a:t>
            </a:r>
          </a:p>
        </p:txBody>
      </p:sp>
      <p:cxnSp>
        <p:nvCxnSpPr>
          <p:cNvPr id="3" name="Straight Arrow Connector 2">
            <a:extLst>
              <a:ext uri="{FF2B5EF4-FFF2-40B4-BE49-F238E27FC236}">
                <a16:creationId xmlns:a16="http://schemas.microsoft.com/office/drawing/2014/main" id="{970C61E7-1CAD-3D87-717E-918C22DD1A58}"/>
              </a:ext>
            </a:extLst>
          </p:cNvPr>
          <p:cNvCxnSpPr>
            <a:cxnSpLocks/>
          </p:cNvCxnSpPr>
          <p:nvPr/>
        </p:nvCxnSpPr>
        <p:spPr>
          <a:xfrm flipV="1">
            <a:off x="2081048" y="4445876"/>
            <a:ext cx="4677104" cy="14714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0516059-8C0D-AF03-E151-0487730B5402}"/>
              </a:ext>
            </a:extLst>
          </p:cNvPr>
          <p:cNvCxnSpPr>
            <a:cxnSpLocks/>
          </p:cNvCxnSpPr>
          <p:nvPr/>
        </p:nvCxnSpPr>
        <p:spPr>
          <a:xfrm>
            <a:off x="2028497" y="3804745"/>
            <a:ext cx="4719144" cy="64113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07CE5EF-1AAD-2F6F-AED5-B82F5B1CEE84}"/>
              </a:ext>
            </a:extLst>
          </p:cNvPr>
          <p:cNvSpPr txBox="1"/>
          <p:nvPr/>
        </p:nvSpPr>
        <p:spPr>
          <a:xfrm>
            <a:off x="5596758" y="4846539"/>
            <a:ext cx="1413641" cy="1015663"/>
          </a:xfrm>
          <a:prstGeom prst="rect">
            <a:avLst/>
          </a:prstGeom>
          <a:noFill/>
        </p:spPr>
        <p:txBody>
          <a:bodyPr wrap="square">
            <a:spAutoFit/>
          </a:bodyPr>
          <a:lstStyle/>
          <a:p>
            <a:r>
              <a:rPr lang="en-US" sz="1500" dirty="0">
                <a:solidFill>
                  <a:schemeClr val="accent6">
                    <a:lumMod val="50000"/>
                  </a:schemeClr>
                </a:solidFill>
                <a:highlight>
                  <a:srgbClr val="FFFF00"/>
                </a:highlight>
                <a:latin typeface="Avenir Book" panose="02000503020000020003" pitchFamily="2" charset="0"/>
              </a:rPr>
              <a:t>Mossy Sloth Intercept in Site 2 is 3 -1 - 0.1</a:t>
            </a:r>
          </a:p>
        </p:txBody>
      </p:sp>
      <p:cxnSp>
        <p:nvCxnSpPr>
          <p:cNvPr id="17" name="Straight Arrow Connector 16">
            <a:extLst>
              <a:ext uri="{FF2B5EF4-FFF2-40B4-BE49-F238E27FC236}">
                <a16:creationId xmlns:a16="http://schemas.microsoft.com/office/drawing/2014/main" id="{B3F84D4C-B9FC-5BF6-4594-F7F05143DEA4}"/>
              </a:ext>
            </a:extLst>
          </p:cNvPr>
          <p:cNvCxnSpPr>
            <a:cxnSpLocks/>
          </p:cNvCxnSpPr>
          <p:nvPr/>
        </p:nvCxnSpPr>
        <p:spPr>
          <a:xfrm flipV="1">
            <a:off x="2196662" y="4456386"/>
            <a:ext cx="4582510" cy="121920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82767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9179D-B7CE-CF07-266C-6936725B21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A50F9DE-0A01-DAAC-B548-8A6C163FB6DE}"/>
              </a:ext>
            </a:extLst>
          </p:cNvPr>
          <p:cNvSpPr txBox="1"/>
          <p:nvPr/>
        </p:nvSpPr>
        <p:spPr>
          <a:xfrm>
            <a:off x="145518" y="199697"/>
            <a:ext cx="1267710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if you have two categorical variables?</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212E6FBD-117F-D748-0EBF-F9C7B7EBCEA9}"/>
              </a:ext>
            </a:extLst>
          </p:cNvPr>
          <p:cNvGraphicFramePr>
            <a:graphicFrameLocks noGrp="1"/>
          </p:cNvGraphicFramePr>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E4E9C5E5-C9D3-C42A-22FF-14EC35DC7DB3}"/>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48CBB911-7D45-3027-F59C-D16C3FA61A0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D674856-3D9F-0B2C-89A1-87AB9A38053F}"/>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75FBA5D4-19F3-D25C-3892-6A4695A92043}"/>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773070B0-7FA4-A91B-58D8-8EB2D380AEF5}"/>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B6735055-DA50-654C-D1B1-172725FF1E77}"/>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3DD4D34D-85BF-3506-CC5B-C73C765F7FCC}"/>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0D24D3B6-9995-08F9-ABE9-1D0C5863AE7D}"/>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ACF5F879-F868-DD63-A0F9-CAE39C63FB65}"/>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47F7B6B5-6552-34AA-8BC1-DA3D1565B984}"/>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3901F547-8BD2-5C39-ED7D-15A2695255DE}"/>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121B5754-59DA-BA66-C1A8-A0EE3341D469}"/>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E04920BA-F270-33FF-657B-35A68A7F6635}"/>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6A9C1E-E2E0-74D8-CC92-8EE6F66E91DC}"/>
              </a:ext>
            </a:extLst>
          </p:cNvPr>
          <p:cNvSpPr txBox="1"/>
          <p:nvPr/>
        </p:nvSpPr>
        <p:spPr>
          <a:xfrm>
            <a:off x="11182820" y="1563345"/>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Furry Sloth</a:t>
            </a:r>
          </a:p>
        </p:txBody>
      </p:sp>
      <p:cxnSp>
        <p:nvCxnSpPr>
          <p:cNvPr id="6" name="Straight Connector 5">
            <a:extLst>
              <a:ext uri="{FF2B5EF4-FFF2-40B4-BE49-F238E27FC236}">
                <a16:creationId xmlns:a16="http://schemas.microsoft.com/office/drawing/2014/main" id="{BCCEBE82-733C-E96F-A5DB-C4A612FA0C73}"/>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DCBA707-709D-C2A0-D8D0-F7B6D9E3A9B4}"/>
              </a:ext>
            </a:extLst>
          </p:cNvPr>
          <p:cNvSpPr txBox="1"/>
          <p:nvPr/>
        </p:nvSpPr>
        <p:spPr>
          <a:xfrm>
            <a:off x="11108388" y="224348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a:t>
            </a:r>
            <a:r>
              <a:rPr lang="en-GB" sz="1500" dirty="0" err="1">
                <a:solidFill>
                  <a:srgbClr val="00B0F0"/>
                </a:solidFill>
                <a:latin typeface="Avenir Book" panose="02000503020000020003" pitchFamily="2" charset="0"/>
              </a:rPr>
              <a:t>FurrySloths</a:t>
            </a:r>
            <a:endParaRPr lang="en-GB" sz="1500" dirty="0">
              <a:solidFill>
                <a:srgbClr val="00B0F0"/>
              </a:solidFill>
              <a:latin typeface="Avenir Book" panose="02000503020000020003" pitchFamily="2" charset="0"/>
            </a:endParaRPr>
          </a:p>
        </p:txBody>
      </p:sp>
      <p:cxnSp>
        <p:nvCxnSpPr>
          <p:cNvPr id="13" name="Straight Connector 12">
            <a:extLst>
              <a:ext uri="{FF2B5EF4-FFF2-40B4-BE49-F238E27FC236}">
                <a16:creationId xmlns:a16="http://schemas.microsoft.com/office/drawing/2014/main" id="{E596453F-57C9-AF66-92BA-ABEAE8BAFB3B}"/>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32FAF4C-F951-BDAF-7307-B4F5D9C6FCE7}"/>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9717E63D-1729-472D-F37F-5DC99EF46A39}"/>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 Species,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graphicFrame>
        <p:nvGraphicFramePr>
          <p:cNvPr id="29" name="Table 28">
            <a:extLst>
              <a:ext uri="{FF2B5EF4-FFF2-40B4-BE49-F238E27FC236}">
                <a16:creationId xmlns:a16="http://schemas.microsoft.com/office/drawing/2014/main" id="{A7DD26FD-54AD-F42E-F088-E398366036CE}"/>
              </a:ext>
            </a:extLst>
          </p:cNvPr>
          <p:cNvGraphicFramePr>
            <a:graphicFrameLocks noGrp="1"/>
          </p:cNvGraphicFramePr>
          <p:nvPr/>
        </p:nvGraphicFramePr>
        <p:xfrm>
          <a:off x="339832" y="5138239"/>
          <a:ext cx="5178100" cy="1483360"/>
        </p:xfrm>
        <a:graphic>
          <a:graphicData uri="http://schemas.openxmlformats.org/drawingml/2006/table">
            <a:tbl>
              <a:tblPr firstRow="1" bandRow="1">
                <a:tableStyleId>{3B4B98B0-60AC-42C2-AFA5-B58CD77FA1E5}</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r>
                        <a:rPr lang="en-US" dirty="0" err="1"/>
                        <a:t>ToedSloth</a:t>
                      </a:r>
                      <a:endParaRPr lang="en-US" dirty="0"/>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473114995"/>
                  </a:ext>
                </a:extLst>
              </a:tr>
              <a:tr h="370840">
                <a:tc>
                  <a:txBody>
                    <a:bodyPr/>
                    <a:lstStyle/>
                    <a:p>
                      <a:r>
                        <a:rPr lang="en-US" dirty="0" err="1"/>
                        <a:t>MossySloth</a:t>
                      </a:r>
                      <a:endParaRPr lang="en-US" dirty="0"/>
                    </a:p>
                  </a:txBody>
                  <a:tcPr/>
                </a:tc>
                <a:tc>
                  <a:txBody>
                    <a:bodyPr/>
                    <a:lstStyle/>
                    <a:p>
                      <a:r>
                        <a:rPr lang="en-US" dirty="0"/>
                        <a:t>-0.1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cxnSp>
        <p:nvCxnSpPr>
          <p:cNvPr id="31" name="Straight Connector 30">
            <a:extLst>
              <a:ext uri="{FF2B5EF4-FFF2-40B4-BE49-F238E27FC236}">
                <a16:creationId xmlns:a16="http://schemas.microsoft.com/office/drawing/2014/main" id="{F068E3D0-EB51-59EA-0936-C295D98812CA}"/>
              </a:ext>
            </a:extLst>
          </p:cNvPr>
          <p:cNvCxnSpPr>
            <a:cxnSpLocks/>
          </p:cNvCxnSpPr>
          <p:nvPr/>
        </p:nvCxnSpPr>
        <p:spPr>
          <a:xfrm flipV="1">
            <a:off x="6942896" y="1495178"/>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428EBC6-4DFB-42F2-D07D-86B3204FE346}"/>
              </a:ext>
            </a:extLst>
          </p:cNvPr>
          <p:cNvSpPr txBox="1"/>
          <p:nvPr/>
        </p:nvSpPr>
        <p:spPr>
          <a:xfrm>
            <a:off x="11152539" y="1353319"/>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Toed Sloth</a:t>
            </a:r>
          </a:p>
        </p:txBody>
      </p:sp>
      <p:cxnSp>
        <p:nvCxnSpPr>
          <p:cNvPr id="33" name="Straight Connector 32">
            <a:extLst>
              <a:ext uri="{FF2B5EF4-FFF2-40B4-BE49-F238E27FC236}">
                <a16:creationId xmlns:a16="http://schemas.microsoft.com/office/drawing/2014/main" id="{9671CE43-F4FA-CB03-3631-88D7075CA913}"/>
              </a:ext>
            </a:extLst>
          </p:cNvPr>
          <p:cNvCxnSpPr>
            <a:cxnSpLocks/>
          </p:cNvCxnSpPr>
          <p:nvPr/>
        </p:nvCxnSpPr>
        <p:spPr>
          <a:xfrm flipV="1">
            <a:off x="6965815" y="1910187"/>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7D20D321-C483-11CF-6BE3-36A853B116AE}"/>
              </a:ext>
            </a:extLst>
          </p:cNvPr>
          <p:cNvSpPr txBox="1"/>
          <p:nvPr/>
        </p:nvSpPr>
        <p:spPr>
          <a:xfrm>
            <a:off x="11152539" y="1776903"/>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Mossy Sloth</a:t>
            </a:r>
          </a:p>
        </p:txBody>
      </p:sp>
      <p:cxnSp>
        <p:nvCxnSpPr>
          <p:cNvPr id="35" name="Straight Connector 34">
            <a:extLst>
              <a:ext uri="{FF2B5EF4-FFF2-40B4-BE49-F238E27FC236}">
                <a16:creationId xmlns:a16="http://schemas.microsoft.com/office/drawing/2014/main" id="{53341E39-AFE9-1A0C-A82A-D2656B8C5CCF}"/>
              </a:ext>
            </a:extLst>
          </p:cNvPr>
          <p:cNvCxnSpPr>
            <a:cxnSpLocks/>
          </p:cNvCxnSpPr>
          <p:nvPr/>
        </p:nvCxnSpPr>
        <p:spPr>
          <a:xfrm flipV="1">
            <a:off x="6935531" y="2170398"/>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8388058-DB21-2F70-6E0E-A1BE95981B6F}"/>
              </a:ext>
            </a:extLst>
          </p:cNvPr>
          <p:cNvSpPr txBox="1"/>
          <p:nvPr/>
        </p:nvSpPr>
        <p:spPr>
          <a:xfrm>
            <a:off x="11107872" y="203197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Toed Sloths</a:t>
            </a:r>
          </a:p>
        </p:txBody>
      </p:sp>
      <p:cxnSp>
        <p:nvCxnSpPr>
          <p:cNvPr id="37" name="Straight Connector 36">
            <a:extLst>
              <a:ext uri="{FF2B5EF4-FFF2-40B4-BE49-F238E27FC236}">
                <a16:creationId xmlns:a16="http://schemas.microsoft.com/office/drawing/2014/main" id="{09C5E16F-8580-E07C-6DA3-CFE566645D4E}"/>
              </a:ext>
            </a:extLst>
          </p:cNvPr>
          <p:cNvCxnSpPr>
            <a:cxnSpLocks/>
          </p:cNvCxnSpPr>
          <p:nvPr/>
        </p:nvCxnSpPr>
        <p:spPr>
          <a:xfrm flipV="1">
            <a:off x="6886071" y="2553431"/>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1549A2F-5275-5668-93B5-BD9035A7FB61}"/>
              </a:ext>
            </a:extLst>
          </p:cNvPr>
          <p:cNvSpPr txBox="1"/>
          <p:nvPr/>
        </p:nvSpPr>
        <p:spPr>
          <a:xfrm>
            <a:off x="11144761" y="2431088"/>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Mossy Sloths</a:t>
            </a:r>
          </a:p>
        </p:txBody>
      </p:sp>
      <p:sp>
        <p:nvSpPr>
          <p:cNvPr id="39" name="TextBox 38">
            <a:extLst>
              <a:ext uri="{FF2B5EF4-FFF2-40B4-BE49-F238E27FC236}">
                <a16:creationId xmlns:a16="http://schemas.microsoft.com/office/drawing/2014/main" id="{8E869769-F5BC-B65D-2E8B-5FEA48AE0AD5}"/>
              </a:ext>
            </a:extLst>
          </p:cNvPr>
          <p:cNvSpPr txBox="1"/>
          <p:nvPr/>
        </p:nvSpPr>
        <p:spPr>
          <a:xfrm>
            <a:off x="276770" y="2137547"/>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Intercept + Year + Site + Species</a:t>
            </a:r>
          </a:p>
        </p:txBody>
      </p:sp>
      <p:sp>
        <p:nvSpPr>
          <p:cNvPr id="40" name="TextBox 39">
            <a:extLst>
              <a:ext uri="{FF2B5EF4-FFF2-40B4-BE49-F238E27FC236}">
                <a16:creationId xmlns:a16="http://schemas.microsoft.com/office/drawing/2014/main" id="{C1E70EA7-283B-5511-E5C5-1B66C32A8859}"/>
              </a:ext>
            </a:extLst>
          </p:cNvPr>
          <p:cNvSpPr txBox="1"/>
          <p:nvPr/>
        </p:nvSpPr>
        <p:spPr>
          <a:xfrm>
            <a:off x="223509" y="2468942"/>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3 + 0 + -1 + -0.1 = </a:t>
            </a:r>
          </a:p>
        </p:txBody>
      </p:sp>
      <p:sp>
        <p:nvSpPr>
          <p:cNvPr id="22" name="TextBox 21">
            <a:extLst>
              <a:ext uri="{FF2B5EF4-FFF2-40B4-BE49-F238E27FC236}">
                <a16:creationId xmlns:a16="http://schemas.microsoft.com/office/drawing/2014/main" id="{4BF09D6D-AA3F-A175-AD32-0AA2775348FF}"/>
              </a:ext>
            </a:extLst>
          </p:cNvPr>
          <p:cNvSpPr txBox="1"/>
          <p:nvPr/>
        </p:nvSpPr>
        <p:spPr>
          <a:xfrm>
            <a:off x="5954110" y="5274779"/>
            <a:ext cx="4356538" cy="1246495"/>
          </a:xfrm>
          <a:prstGeom prst="rect">
            <a:avLst/>
          </a:prstGeom>
          <a:noFill/>
        </p:spPr>
        <p:txBody>
          <a:bodyPr wrap="square">
            <a:spAutoFit/>
          </a:bodyPr>
          <a:lstStyle/>
          <a:p>
            <a:r>
              <a:rPr lang="en-US" sz="1500" dirty="0">
                <a:solidFill>
                  <a:schemeClr val="accent6">
                    <a:lumMod val="50000"/>
                  </a:schemeClr>
                </a:solidFill>
                <a:highlight>
                  <a:srgbClr val="FFFF00"/>
                </a:highlight>
                <a:latin typeface="Avenir Book" panose="02000503020000020003" pitchFamily="2" charset="0"/>
              </a:rPr>
              <a:t>Etc. But notice how in all cases we can get the general gist from the table – Toed Sloth is always a bit higher than Furry sloth, and Mossy sloth is always a bit lower than Furry Sloth. Sites 2 and 3 are both lower than Site 1. </a:t>
            </a:r>
          </a:p>
        </p:txBody>
      </p:sp>
    </p:spTree>
    <p:extLst>
      <p:ext uri="{BB962C8B-B14F-4D97-AF65-F5344CB8AC3E}">
        <p14:creationId xmlns:p14="http://schemas.microsoft.com/office/powerpoint/2010/main" val="468293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B7964-C248-F269-C3D6-C7D9739F810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4679B76-DA2D-A4C0-7E89-711E093B7BB3}"/>
              </a:ext>
            </a:extLst>
          </p:cNvPr>
          <p:cNvSpPr txBox="1"/>
          <p:nvPr/>
        </p:nvSpPr>
        <p:spPr>
          <a:xfrm>
            <a:off x="145518" y="199697"/>
            <a:ext cx="12677103" cy="707886"/>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What if you have two categorical variables?</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13967055-BD8C-2201-F37F-82BF1B9EBE8D}"/>
              </a:ext>
            </a:extLst>
          </p:cNvPr>
          <p:cNvGraphicFramePr>
            <a:graphicFrameLocks noGrp="1"/>
          </p:cNvGraphicFramePr>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3B813A3A-DA42-EAA4-CCE5-C481655DF8F7}"/>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3582D166-38EA-346F-594F-3D878F4A2DDF}"/>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BD8AACE-8960-A077-F995-0E14F68D1522}"/>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BDB8EB23-BC20-71F3-551F-9F3554A9E695}"/>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22CBBD86-24A8-2E2B-0E84-339E5AEED027}"/>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00B2E69D-BD01-B8D9-6039-7A5FA38B0D8C}"/>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E2B281E4-64EF-2288-5A4C-8EAF0D3FCEA4}"/>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EA11B118-186D-95C7-CFB6-E428C36B70B8}"/>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A26170D1-1582-8DA4-5737-0E4529E6E9F5}"/>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B574ABDC-8576-CA3A-0E0C-2BAFF393BF73}"/>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8C15095B-870B-3736-9691-AE70AF87E859}"/>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44ECAEBA-655D-299F-F42D-3F08E23013B2}"/>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BB6AA9B8-B52F-3F12-0EA5-28237245BA68}"/>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C3ED0DE-52ED-A8D9-34C9-7D6DC149CD6A}"/>
              </a:ext>
            </a:extLst>
          </p:cNvPr>
          <p:cNvSpPr txBox="1"/>
          <p:nvPr/>
        </p:nvSpPr>
        <p:spPr>
          <a:xfrm>
            <a:off x="11182820" y="1563345"/>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Furry Sloth</a:t>
            </a:r>
          </a:p>
        </p:txBody>
      </p:sp>
      <p:cxnSp>
        <p:nvCxnSpPr>
          <p:cNvPr id="6" name="Straight Connector 5">
            <a:extLst>
              <a:ext uri="{FF2B5EF4-FFF2-40B4-BE49-F238E27FC236}">
                <a16:creationId xmlns:a16="http://schemas.microsoft.com/office/drawing/2014/main" id="{C9438668-A6E7-F4E8-F2BD-7FE98F768EE0}"/>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43E2B1A-2935-2E22-E314-ED3D67425163}"/>
              </a:ext>
            </a:extLst>
          </p:cNvPr>
          <p:cNvSpPr txBox="1"/>
          <p:nvPr/>
        </p:nvSpPr>
        <p:spPr>
          <a:xfrm>
            <a:off x="11108388" y="224348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a:t>
            </a:r>
            <a:r>
              <a:rPr lang="en-GB" sz="1500" dirty="0" err="1">
                <a:solidFill>
                  <a:srgbClr val="00B0F0"/>
                </a:solidFill>
                <a:latin typeface="Avenir Book" panose="02000503020000020003" pitchFamily="2" charset="0"/>
              </a:rPr>
              <a:t>FurrySloths</a:t>
            </a:r>
            <a:endParaRPr lang="en-GB" sz="1500" dirty="0">
              <a:solidFill>
                <a:srgbClr val="00B0F0"/>
              </a:solidFill>
              <a:latin typeface="Avenir Book" panose="02000503020000020003" pitchFamily="2" charset="0"/>
            </a:endParaRPr>
          </a:p>
        </p:txBody>
      </p:sp>
      <p:cxnSp>
        <p:nvCxnSpPr>
          <p:cNvPr id="13" name="Straight Connector 12">
            <a:extLst>
              <a:ext uri="{FF2B5EF4-FFF2-40B4-BE49-F238E27FC236}">
                <a16:creationId xmlns:a16="http://schemas.microsoft.com/office/drawing/2014/main" id="{916181F0-DAFB-F603-E198-D8579EDB737E}"/>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F22A0FD-399A-B8D3-D77B-96E6F35724D6}"/>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153B43D3-73EE-DF7F-1660-0E522AA93B9C}"/>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 Species,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graphicFrame>
        <p:nvGraphicFramePr>
          <p:cNvPr id="29" name="Table 28">
            <a:extLst>
              <a:ext uri="{FF2B5EF4-FFF2-40B4-BE49-F238E27FC236}">
                <a16:creationId xmlns:a16="http://schemas.microsoft.com/office/drawing/2014/main" id="{631C3BAD-3B06-75CB-5472-192DF61CC84F}"/>
              </a:ext>
            </a:extLst>
          </p:cNvPr>
          <p:cNvGraphicFramePr>
            <a:graphicFrameLocks noGrp="1"/>
          </p:cNvGraphicFramePr>
          <p:nvPr/>
        </p:nvGraphicFramePr>
        <p:xfrm>
          <a:off x="339832" y="5138239"/>
          <a:ext cx="5178100" cy="1483360"/>
        </p:xfrm>
        <a:graphic>
          <a:graphicData uri="http://schemas.openxmlformats.org/drawingml/2006/table">
            <a:tbl>
              <a:tblPr firstRow="1" bandRow="1">
                <a:tableStyleId>{3B4B98B0-60AC-42C2-AFA5-B58CD77FA1E5}</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r>
                        <a:rPr lang="en-US" dirty="0" err="1"/>
                        <a:t>ToedSloth</a:t>
                      </a:r>
                      <a:endParaRPr lang="en-US" dirty="0"/>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473114995"/>
                  </a:ext>
                </a:extLst>
              </a:tr>
              <a:tr h="370840">
                <a:tc>
                  <a:txBody>
                    <a:bodyPr/>
                    <a:lstStyle/>
                    <a:p>
                      <a:r>
                        <a:rPr lang="en-US" dirty="0" err="1"/>
                        <a:t>MossySloth</a:t>
                      </a:r>
                      <a:endParaRPr lang="en-US" dirty="0"/>
                    </a:p>
                  </a:txBody>
                  <a:tcPr/>
                </a:tc>
                <a:tc>
                  <a:txBody>
                    <a:bodyPr/>
                    <a:lstStyle/>
                    <a:p>
                      <a:r>
                        <a:rPr lang="en-US" dirty="0"/>
                        <a:t>-0.1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cxnSp>
        <p:nvCxnSpPr>
          <p:cNvPr id="31" name="Straight Connector 30">
            <a:extLst>
              <a:ext uri="{FF2B5EF4-FFF2-40B4-BE49-F238E27FC236}">
                <a16:creationId xmlns:a16="http://schemas.microsoft.com/office/drawing/2014/main" id="{C85A3479-C641-3EB2-B533-2EC782D6D3DA}"/>
              </a:ext>
            </a:extLst>
          </p:cNvPr>
          <p:cNvCxnSpPr>
            <a:cxnSpLocks/>
          </p:cNvCxnSpPr>
          <p:nvPr/>
        </p:nvCxnSpPr>
        <p:spPr>
          <a:xfrm flipV="1">
            <a:off x="6942896" y="1495178"/>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D6EB98F7-724A-2256-596B-2EAAF4507003}"/>
              </a:ext>
            </a:extLst>
          </p:cNvPr>
          <p:cNvSpPr txBox="1"/>
          <p:nvPr/>
        </p:nvSpPr>
        <p:spPr>
          <a:xfrm>
            <a:off x="11152539" y="1353319"/>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Toed Sloth</a:t>
            </a:r>
          </a:p>
        </p:txBody>
      </p:sp>
      <p:cxnSp>
        <p:nvCxnSpPr>
          <p:cNvPr id="33" name="Straight Connector 32">
            <a:extLst>
              <a:ext uri="{FF2B5EF4-FFF2-40B4-BE49-F238E27FC236}">
                <a16:creationId xmlns:a16="http://schemas.microsoft.com/office/drawing/2014/main" id="{DC209454-9999-4A45-0E3A-6E734EC5E3BA}"/>
              </a:ext>
            </a:extLst>
          </p:cNvPr>
          <p:cNvCxnSpPr>
            <a:cxnSpLocks/>
          </p:cNvCxnSpPr>
          <p:nvPr/>
        </p:nvCxnSpPr>
        <p:spPr>
          <a:xfrm flipV="1">
            <a:off x="6965815" y="1910187"/>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F9268A1-2E2F-3B0F-8B6C-2D7DE1D0E36E}"/>
              </a:ext>
            </a:extLst>
          </p:cNvPr>
          <p:cNvSpPr txBox="1"/>
          <p:nvPr/>
        </p:nvSpPr>
        <p:spPr>
          <a:xfrm>
            <a:off x="11152539" y="1776903"/>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 Mossy Sloth</a:t>
            </a:r>
          </a:p>
        </p:txBody>
      </p:sp>
      <p:cxnSp>
        <p:nvCxnSpPr>
          <p:cNvPr id="35" name="Straight Connector 34">
            <a:extLst>
              <a:ext uri="{FF2B5EF4-FFF2-40B4-BE49-F238E27FC236}">
                <a16:creationId xmlns:a16="http://schemas.microsoft.com/office/drawing/2014/main" id="{4BA1B373-27F8-ABA5-8281-E11F9DF22D7E}"/>
              </a:ext>
            </a:extLst>
          </p:cNvPr>
          <p:cNvCxnSpPr>
            <a:cxnSpLocks/>
          </p:cNvCxnSpPr>
          <p:nvPr/>
        </p:nvCxnSpPr>
        <p:spPr>
          <a:xfrm flipV="1">
            <a:off x="6935531" y="2170398"/>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A417C11-A69B-EBDE-3491-61917068C43F}"/>
              </a:ext>
            </a:extLst>
          </p:cNvPr>
          <p:cNvSpPr txBox="1"/>
          <p:nvPr/>
        </p:nvSpPr>
        <p:spPr>
          <a:xfrm>
            <a:off x="11107872" y="2031972"/>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Toed Sloths</a:t>
            </a:r>
          </a:p>
        </p:txBody>
      </p:sp>
      <p:cxnSp>
        <p:nvCxnSpPr>
          <p:cNvPr id="37" name="Straight Connector 36">
            <a:extLst>
              <a:ext uri="{FF2B5EF4-FFF2-40B4-BE49-F238E27FC236}">
                <a16:creationId xmlns:a16="http://schemas.microsoft.com/office/drawing/2014/main" id="{04723E24-F058-E4B3-9C96-587C44F8CC84}"/>
              </a:ext>
            </a:extLst>
          </p:cNvPr>
          <p:cNvCxnSpPr>
            <a:cxnSpLocks/>
          </p:cNvCxnSpPr>
          <p:nvPr/>
        </p:nvCxnSpPr>
        <p:spPr>
          <a:xfrm flipV="1">
            <a:off x="6886071" y="2553431"/>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51AB1B0-EDC7-418B-9441-E8D200192A09}"/>
              </a:ext>
            </a:extLst>
          </p:cNvPr>
          <p:cNvSpPr txBox="1"/>
          <p:nvPr/>
        </p:nvSpPr>
        <p:spPr>
          <a:xfrm>
            <a:off x="11144761" y="2431088"/>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 Mossy Sloths</a:t>
            </a:r>
          </a:p>
        </p:txBody>
      </p:sp>
      <p:sp>
        <p:nvSpPr>
          <p:cNvPr id="39" name="TextBox 38">
            <a:extLst>
              <a:ext uri="{FF2B5EF4-FFF2-40B4-BE49-F238E27FC236}">
                <a16:creationId xmlns:a16="http://schemas.microsoft.com/office/drawing/2014/main" id="{46351DD8-0DFE-10CD-7308-78CEA76C7697}"/>
              </a:ext>
            </a:extLst>
          </p:cNvPr>
          <p:cNvSpPr txBox="1"/>
          <p:nvPr/>
        </p:nvSpPr>
        <p:spPr>
          <a:xfrm>
            <a:off x="276770" y="2137547"/>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Intercept + Year + Site + Species</a:t>
            </a:r>
          </a:p>
        </p:txBody>
      </p:sp>
      <p:sp>
        <p:nvSpPr>
          <p:cNvPr id="40" name="TextBox 39">
            <a:extLst>
              <a:ext uri="{FF2B5EF4-FFF2-40B4-BE49-F238E27FC236}">
                <a16:creationId xmlns:a16="http://schemas.microsoft.com/office/drawing/2014/main" id="{1C2BCE69-0D71-D088-79C1-707D199F7208}"/>
              </a:ext>
            </a:extLst>
          </p:cNvPr>
          <p:cNvSpPr txBox="1"/>
          <p:nvPr/>
        </p:nvSpPr>
        <p:spPr>
          <a:xfrm>
            <a:off x="223509" y="2468942"/>
            <a:ext cx="6188926" cy="369332"/>
          </a:xfrm>
          <a:prstGeom prst="rect">
            <a:avLst/>
          </a:prstGeom>
          <a:noFill/>
        </p:spPr>
        <p:txBody>
          <a:bodyPr wrap="square">
            <a:spAutoFit/>
          </a:bodyPr>
          <a:lstStyle/>
          <a:p>
            <a:r>
              <a:rPr lang="en-GB" sz="1800" dirty="0">
                <a:solidFill>
                  <a:schemeClr val="accent6">
                    <a:lumMod val="50000"/>
                  </a:schemeClr>
                </a:solidFill>
                <a:latin typeface="Avenir Book" panose="02000503020000020003" pitchFamily="2" charset="0"/>
              </a:rPr>
              <a:t>Count ~ 3 + 0 + -1 + -0.1 = </a:t>
            </a:r>
          </a:p>
        </p:txBody>
      </p:sp>
      <p:sp>
        <p:nvSpPr>
          <p:cNvPr id="22" name="TextBox 21">
            <a:extLst>
              <a:ext uri="{FF2B5EF4-FFF2-40B4-BE49-F238E27FC236}">
                <a16:creationId xmlns:a16="http://schemas.microsoft.com/office/drawing/2014/main" id="{9AAE0536-99B9-6B62-A3FB-4794B0A6635C}"/>
              </a:ext>
            </a:extLst>
          </p:cNvPr>
          <p:cNvSpPr txBox="1"/>
          <p:nvPr/>
        </p:nvSpPr>
        <p:spPr>
          <a:xfrm>
            <a:off x="5943600" y="5149840"/>
            <a:ext cx="4356538" cy="1708160"/>
          </a:xfrm>
          <a:prstGeom prst="rect">
            <a:avLst/>
          </a:prstGeom>
          <a:noFill/>
        </p:spPr>
        <p:txBody>
          <a:bodyPr wrap="square">
            <a:spAutoFit/>
          </a:bodyPr>
          <a:lstStyle/>
          <a:p>
            <a:r>
              <a:rPr lang="en-US" sz="1500" dirty="0">
                <a:solidFill>
                  <a:schemeClr val="accent6">
                    <a:lumMod val="50000"/>
                  </a:schemeClr>
                </a:solidFill>
                <a:highlight>
                  <a:srgbClr val="FFFF00"/>
                </a:highlight>
                <a:latin typeface="Avenir Book" panose="02000503020000020003" pitchFamily="2" charset="0"/>
              </a:rPr>
              <a:t>What the model is always doing is assuming that the relationship between each variable is independent of the others (e.g. it doesn’t matter which site you’re at, there will always be more Toed sloths than Furry sloths. And it doesn’t matter which sloth we’re talking about, there will always be less at Site 2 than Site 1)</a:t>
            </a:r>
          </a:p>
        </p:txBody>
      </p:sp>
    </p:spTree>
    <p:extLst>
      <p:ext uri="{BB962C8B-B14F-4D97-AF65-F5344CB8AC3E}">
        <p14:creationId xmlns:p14="http://schemas.microsoft.com/office/powerpoint/2010/main" val="3227706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2E705-86F3-6DB6-ED74-F70152C018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1EF8A4-1C62-4085-3C48-BD48FF4366CE}"/>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C241FE87-547E-4FD1-3C2A-32CE9F8FC38D}"/>
              </a:ext>
            </a:extLst>
          </p:cNvPr>
          <p:cNvGraphicFramePr>
            <a:graphicFrameLocks noGrp="1"/>
          </p:cNvGraphicFramePr>
          <p:nvPr/>
        </p:nvGraphicFramePr>
        <p:xfrm>
          <a:off x="339834" y="3010921"/>
          <a:ext cx="5178100" cy="212344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bl>
          </a:graphicData>
        </a:graphic>
      </p:graphicFrame>
      <p:grpSp>
        <p:nvGrpSpPr>
          <p:cNvPr id="7" name="Group 6">
            <a:extLst>
              <a:ext uri="{FF2B5EF4-FFF2-40B4-BE49-F238E27FC236}">
                <a16:creationId xmlns:a16="http://schemas.microsoft.com/office/drawing/2014/main" id="{B44B7F4A-272A-6284-486F-ACE1010D83A4}"/>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00254314-2626-CDFC-C61B-8BB95E26147D}"/>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5E2BCB2-78EE-B3E4-D15E-8EEF9CB3A65A}"/>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9A157A02-7F95-13BD-AF08-B043B3169BBB}"/>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DB3CE95A-4C61-AC01-FE32-F826782DB245}"/>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6C6A8484-0305-1795-3279-258383957DC6}"/>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46B0DD5B-2E1B-191A-CB40-0F9BC50BA5DD}"/>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D648A695-5BC4-1DD2-6EDB-657F09386C40}"/>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BF37A039-8625-FE36-D1CA-24B6CA398F65}"/>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731A17EB-8E2F-BBBC-A409-C025E691AFF3}"/>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7D113C32-72DD-E081-A89A-B43AF11C8528}"/>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EF587AF3-8167-9880-6D76-798F0B7E39E7}"/>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209935D5-6451-9169-20A6-403B5C70FD18}"/>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E7FF07F-8A2E-E252-38AA-A171B4277578}"/>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3E430EAC-DCEE-BE9B-CE0D-5785E2F18445}"/>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EA9B989-03F3-99B4-BB71-FDC15B3600BE}"/>
              </a:ext>
            </a:extLst>
          </p:cNvPr>
          <p:cNvSpPr txBox="1"/>
          <p:nvPr/>
        </p:nvSpPr>
        <p:spPr>
          <a:xfrm>
            <a:off x="10691259" y="2517833"/>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1FE41D4D-CDF9-9A89-CAFB-6C16DFE728A6}"/>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372DD49-D648-16BE-3B26-A03AE78BADFD}"/>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3" name="TextBox 2">
            <a:extLst>
              <a:ext uri="{FF2B5EF4-FFF2-40B4-BE49-F238E27FC236}">
                <a16:creationId xmlns:a16="http://schemas.microsoft.com/office/drawing/2014/main" id="{EECC89BB-D31F-E06E-FC3A-2D47C081413E}"/>
              </a:ext>
            </a:extLst>
          </p:cNvPr>
          <p:cNvSpPr txBox="1"/>
          <p:nvPr/>
        </p:nvSpPr>
        <p:spPr>
          <a:xfrm>
            <a:off x="205701" y="1956101"/>
            <a:ext cx="6099716" cy="553998"/>
          </a:xfrm>
          <a:prstGeom prst="rect">
            <a:avLst/>
          </a:prstGeom>
          <a:noFill/>
        </p:spPr>
        <p:txBody>
          <a:bodyPr wrap="square">
            <a:spAutoFit/>
          </a:bodyPr>
          <a:lstStyle/>
          <a:p>
            <a:r>
              <a:rPr lang="en-GB" sz="1500" dirty="0">
                <a:solidFill>
                  <a:schemeClr val="accent6">
                    <a:lumMod val="50000"/>
                  </a:schemeClr>
                </a:solidFill>
                <a:highlight>
                  <a:srgbClr val="FFFF00"/>
                </a:highlight>
                <a:latin typeface="Avenir Book" panose="02000503020000020003" pitchFamily="2" charset="0"/>
              </a:rPr>
              <a:t>But what if we </a:t>
            </a:r>
            <a:r>
              <a:rPr lang="en-GB" sz="1500" i="1" dirty="0">
                <a:solidFill>
                  <a:schemeClr val="accent6">
                    <a:lumMod val="50000"/>
                  </a:schemeClr>
                </a:solidFill>
                <a:highlight>
                  <a:srgbClr val="FFFF00"/>
                </a:highlight>
                <a:latin typeface="Avenir Book" panose="02000503020000020003" pitchFamily="2" charset="0"/>
              </a:rPr>
              <a:t>don’t </a:t>
            </a:r>
            <a:r>
              <a:rPr lang="en-GB" sz="1500" dirty="0">
                <a:solidFill>
                  <a:schemeClr val="accent6">
                    <a:lumMod val="50000"/>
                  </a:schemeClr>
                </a:solidFill>
                <a:highlight>
                  <a:srgbClr val="FFFF00"/>
                </a:highlight>
                <a:latin typeface="Avenir Book" panose="02000503020000020003" pitchFamily="2" charset="0"/>
              </a:rPr>
              <a:t>expect our sites to be doing the same thing through time?!</a:t>
            </a:r>
          </a:p>
        </p:txBody>
      </p:sp>
      <p:sp>
        <p:nvSpPr>
          <p:cNvPr id="16" name="TextBox 15">
            <a:extLst>
              <a:ext uri="{FF2B5EF4-FFF2-40B4-BE49-F238E27FC236}">
                <a16:creationId xmlns:a16="http://schemas.microsoft.com/office/drawing/2014/main" id="{569B2AB5-CE2C-1090-4ADE-C648144A64B3}"/>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931065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864DE-5C35-46E8-5AD7-79FB42B3C07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40ECBB-516C-6975-23D7-13D220072755}"/>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7F891CC3-DDBA-207A-B765-943CA5D8EB8B}"/>
              </a:ext>
            </a:extLst>
          </p:cNvPr>
          <p:cNvGraphicFramePr>
            <a:graphicFrameLocks noGrp="1"/>
          </p:cNvGraphicFramePr>
          <p:nvPr>
            <p:extLst>
              <p:ext uri="{D42A27DB-BD31-4B8C-83A1-F6EECF244321}">
                <p14:modId xmlns:p14="http://schemas.microsoft.com/office/powerpoint/2010/main" val="2295206393"/>
              </p:ext>
            </p:extLst>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E81D73AB-8844-83C5-CB52-987517F7AFDE}"/>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96A5412C-00A2-80AE-269B-85AFE55DA108}"/>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CCE3579-B3E0-26BA-D218-93FF3870AC3E}"/>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AC02C890-5402-F7F0-92D5-26F5788289B8}"/>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7094C748-65AD-4063-DBBA-2093E1B2C13B}"/>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96F2FBDF-E15A-6968-8D48-72333AC8F694}"/>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EB02FB31-B9AE-D4C1-0675-BFB11784FBA3}"/>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A0C39573-A157-CACB-5FDD-0EC0545AA093}"/>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AACE81BA-A4A7-1E0F-6F47-800502631FE2}"/>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A217E11D-77A5-3520-5160-F66274092D23}"/>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0390C869-D62B-9AF7-6C9E-9A8B30E17F1B}"/>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32BCDF2F-A598-9602-9073-BA3110F5013D}"/>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F25D0AA9-9E69-81DB-806E-BAAACC7DFDD5}"/>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0CF34CE-AE83-3847-BD3A-63499F7F432E}"/>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99D9B66D-B033-856A-FBE5-576C1773D38E}"/>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3A69B64-7BBE-9DB4-8BF4-004BEE632C13}"/>
              </a:ext>
            </a:extLst>
          </p:cNvPr>
          <p:cNvSpPr txBox="1"/>
          <p:nvPr/>
        </p:nvSpPr>
        <p:spPr>
          <a:xfrm>
            <a:off x="10691259" y="2517833"/>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85919761-0628-F4CC-3280-07036C717EB1}"/>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9D29CC3-7D97-6988-E74D-BD39A591737D}"/>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3" name="TextBox 2">
            <a:extLst>
              <a:ext uri="{FF2B5EF4-FFF2-40B4-BE49-F238E27FC236}">
                <a16:creationId xmlns:a16="http://schemas.microsoft.com/office/drawing/2014/main" id="{C0801B92-666E-220F-387A-DF08F09D460D}"/>
              </a:ext>
            </a:extLst>
          </p:cNvPr>
          <p:cNvSpPr txBox="1"/>
          <p:nvPr/>
        </p:nvSpPr>
        <p:spPr>
          <a:xfrm>
            <a:off x="205701" y="1956101"/>
            <a:ext cx="6099716" cy="1015663"/>
          </a:xfrm>
          <a:prstGeom prst="rect">
            <a:avLst/>
          </a:prstGeom>
          <a:noFill/>
        </p:spPr>
        <p:txBody>
          <a:bodyPr wrap="square">
            <a:spAutoFit/>
          </a:bodyPr>
          <a:lstStyle/>
          <a:p>
            <a:r>
              <a:rPr lang="en-GB" sz="1500" dirty="0">
                <a:solidFill>
                  <a:schemeClr val="accent6">
                    <a:lumMod val="50000"/>
                  </a:schemeClr>
                </a:solidFill>
                <a:highlight>
                  <a:srgbClr val="FFFF00"/>
                </a:highlight>
                <a:latin typeface="Avenir Book" panose="02000503020000020003" pitchFamily="2" charset="0"/>
              </a:rPr>
              <a:t>What if we </a:t>
            </a:r>
            <a:r>
              <a:rPr lang="en-GB" sz="1500" i="1" dirty="0">
                <a:solidFill>
                  <a:schemeClr val="accent6">
                    <a:lumMod val="50000"/>
                  </a:schemeClr>
                </a:solidFill>
                <a:highlight>
                  <a:srgbClr val="FFFF00"/>
                </a:highlight>
                <a:latin typeface="Avenir Book" panose="02000503020000020003" pitchFamily="2" charset="0"/>
              </a:rPr>
              <a:t>don’t </a:t>
            </a:r>
            <a:r>
              <a:rPr lang="en-GB" sz="1500" dirty="0">
                <a:solidFill>
                  <a:schemeClr val="accent6">
                    <a:lumMod val="50000"/>
                  </a:schemeClr>
                </a:solidFill>
                <a:highlight>
                  <a:srgbClr val="FFFF00"/>
                </a:highlight>
                <a:latin typeface="Avenir Book" panose="02000503020000020003" pitchFamily="2" charset="0"/>
              </a:rPr>
              <a:t>expect our sites to be doing the same thing through time?!</a:t>
            </a:r>
          </a:p>
          <a:p>
            <a:endParaRPr lang="en-GB" sz="1500" dirty="0">
              <a:solidFill>
                <a:schemeClr val="accent6">
                  <a:lumMod val="50000"/>
                </a:schemeClr>
              </a:solidFill>
              <a:highlight>
                <a:srgbClr val="FFFF00"/>
              </a:highlight>
              <a:latin typeface="Avenir Book" panose="02000503020000020003" pitchFamily="2" charset="0"/>
            </a:endParaRPr>
          </a:p>
          <a:p>
            <a:r>
              <a:rPr lang="en-GB" sz="1500" dirty="0">
                <a:solidFill>
                  <a:schemeClr val="accent6">
                    <a:lumMod val="50000"/>
                  </a:schemeClr>
                </a:solidFill>
                <a:highlight>
                  <a:srgbClr val="FFFF00"/>
                </a:highlight>
                <a:latin typeface="Avenir Book" panose="02000503020000020003" pitchFamily="2" charset="0"/>
              </a:rPr>
              <a:t>An interaction term!</a:t>
            </a:r>
          </a:p>
        </p:txBody>
      </p:sp>
      <p:sp>
        <p:nvSpPr>
          <p:cNvPr id="16" name="TextBox 15">
            <a:extLst>
              <a:ext uri="{FF2B5EF4-FFF2-40B4-BE49-F238E27FC236}">
                <a16:creationId xmlns:a16="http://schemas.microsoft.com/office/drawing/2014/main" id="{DFB80C50-F6A1-F1F3-78CE-53232EF2900A}"/>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highlight>
                  <a:srgbClr val="FFFF00"/>
                </a:highlight>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725912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4E720-E511-589E-6C37-879CB20954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A73FEBD-3D38-D94C-08BD-37258F479436}"/>
              </a:ext>
            </a:extLst>
          </p:cNvPr>
          <p:cNvSpPr txBox="1"/>
          <p:nvPr/>
        </p:nvSpPr>
        <p:spPr>
          <a:xfrm>
            <a:off x="555422" y="2372241"/>
            <a:ext cx="11291363" cy="1938992"/>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Pause – what are interaction terms?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636815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621F3-5AF3-C994-8489-51FEA7D6F7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27AAE6A-3AD5-70EB-B35D-79BA790402C9}"/>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Interaction terms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7" name="Group 6">
            <a:extLst>
              <a:ext uri="{FF2B5EF4-FFF2-40B4-BE49-F238E27FC236}">
                <a16:creationId xmlns:a16="http://schemas.microsoft.com/office/drawing/2014/main" id="{AA30283C-F2AA-86C7-17FB-E00FEB252A2E}"/>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DDE240A8-0E76-511C-80E4-4695C05EB6BB}"/>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F33A3F4-397F-3B0B-8CF5-067ED4577A49}"/>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BF7DDA27-8DEC-701F-1E62-86A930134871}"/>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1D7D7B39-8D98-9A4A-893F-E21D71BDB65E}"/>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E6DBAC3E-88EC-9C46-81C8-4D89B0571B80}"/>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0E1634FE-6BA3-E604-821E-7497355FB13C}"/>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0FA04916-17B9-A31C-8695-94FAC560146B}"/>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B6AB2CDC-662B-C7F3-DB52-54BA4C344E87}"/>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F79BEE07-93E8-E05D-1C35-2060F4E57847}"/>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89069E8A-165E-64EA-B4B0-F85C78CB7909}"/>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0DD31669-01DD-2849-D928-72B6F5E1D4DB}"/>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A8C245D8-DB47-A73A-22A1-6333BE036FF3}"/>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A26CA87-96BC-A394-0542-62829FA61F79}"/>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F8B169EB-44F3-48E2-DD3C-BC887562B80D}"/>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D69F7A0-38D7-DB52-5279-63963FCB04FC}"/>
              </a:ext>
            </a:extLst>
          </p:cNvPr>
          <p:cNvSpPr txBox="1"/>
          <p:nvPr/>
        </p:nvSpPr>
        <p:spPr>
          <a:xfrm>
            <a:off x="10691259" y="2517833"/>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99841857-91B8-62C1-543E-D0D48ED7ED7E}"/>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EB48554-4427-CF61-23A9-7611020159C7}"/>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45F8AB9A-B4A1-975A-F45F-A58CADBD6578}"/>
              </a:ext>
            </a:extLst>
          </p:cNvPr>
          <p:cNvSpPr txBox="1"/>
          <p:nvPr/>
        </p:nvSpPr>
        <p:spPr>
          <a:xfrm>
            <a:off x="481849" y="1688578"/>
            <a:ext cx="5130675" cy="2862322"/>
          </a:xfrm>
          <a:prstGeom prst="rect">
            <a:avLst/>
          </a:prstGeom>
          <a:noFill/>
        </p:spPr>
        <p:txBody>
          <a:bodyPr wrap="square">
            <a:spAutoFit/>
          </a:bodyPr>
          <a:lstStyle/>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Models assume each variable is independent in its relationship to the response</a:t>
            </a: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In this case, that the relationship between predictor and response (Year and Count) is independent of site</a:t>
            </a: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endParaRPr lang="en-GB" sz="2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40025924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86EF2-0069-81AE-247F-6A9AE85448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A556E1-FACE-60A8-D087-720ADD26428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Interaction terms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7" name="Group 6">
            <a:extLst>
              <a:ext uri="{FF2B5EF4-FFF2-40B4-BE49-F238E27FC236}">
                <a16:creationId xmlns:a16="http://schemas.microsoft.com/office/drawing/2014/main" id="{B557658C-915C-5276-D249-29C7CBB2D96A}"/>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9CDC61B2-0F1D-0421-EE11-AAD041C06B2D}"/>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B60C3CB-0902-E896-F820-995DD308C048}"/>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5C88D351-27DB-CE7D-B16E-F6FF631B7EBC}"/>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69A94043-A96B-2454-826A-8F43B0088BBB}"/>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7F4A8B72-1075-036E-ECAA-8E5E5D8DBBD5}"/>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4029A108-8EB3-AB3B-625B-282872D9AA7F}"/>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D17C06C1-02A1-6F9C-68CB-036CA14DF2F8}"/>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B29FB97C-5298-7A86-F834-6254DFD4A9DF}"/>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7D08977D-EC20-1F3F-0FA6-5976699A60E7}"/>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7B285F9E-7C42-B3AB-175A-46CDD2DF0251}"/>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37C78322-AFAC-642B-8B10-FD7C6F16F965}"/>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B06F0BFB-A287-024B-A0F8-B4D1BC10FA38}"/>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91E147C-DB2A-DF33-DFE3-B96B317DD665}"/>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C0D3A6A4-A482-809A-190A-566517DD6117}"/>
              </a:ext>
            </a:extLst>
          </p:cNvPr>
          <p:cNvCxnSpPr>
            <a:cxnSpLocks/>
          </p:cNvCxnSpPr>
          <p:nvPr/>
        </p:nvCxnSpPr>
        <p:spPr>
          <a:xfrm>
            <a:off x="6947338" y="2837793"/>
            <a:ext cx="4466896" cy="1933904"/>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DB13811-E2C0-7F0A-C4D1-C1BF38A19F17}"/>
              </a:ext>
            </a:extLst>
          </p:cNvPr>
          <p:cNvSpPr txBox="1"/>
          <p:nvPr/>
        </p:nvSpPr>
        <p:spPr>
          <a:xfrm>
            <a:off x="11174735" y="4346633"/>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B6278E4E-7665-79C5-4D39-FAD5330D0FD8}"/>
              </a:ext>
            </a:extLst>
          </p:cNvPr>
          <p:cNvCxnSpPr>
            <a:cxnSpLocks/>
          </p:cNvCxnSpPr>
          <p:nvPr/>
        </p:nvCxnSpPr>
        <p:spPr>
          <a:xfrm flipV="1">
            <a:off x="6965815" y="1282262"/>
            <a:ext cx="4091068" cy="3674176"/>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C06606F-CF7F-904B-2112-46450CE361EF}"/>
              </a:ext>
            </a:extLst>
          </p:cNvPr>
          <p:cNvSpPr txBox="1"/>
          <p:nvPr/>
        </p:nvSpPr>
        <p:spPr>
          <a:xfrm>
            <a:off x="11092732" y="1151960"/>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311946E2-8673-29A3-186C-BC789338F3AA}"/>
              </a:ext>
            </a:extLst>
          </p:cNvPr>
          <p:cNvSpPr txBox="1"/>
          <p:nvPr/>
        </p:nvSpPr>
        <p:spPr>
          <a:xfrm>
            <a:off x="481849" y="1688578"/>
            <a:ext cx="5130675" cy="3785652"/>
          </a:xfrm>
          <a:prstGeom prst="rect">
            <a:avLst/>
          </a:prstGeom>
          <a:noFill/>
        </p:spPr>
        <p:txBody>
          <a:bodyPr wrap="square">
            <a:spAutoFit/>
          </a:bodyPr>
          <a:lstStyle/>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Models assume each variable is independent in its relationship to the response</a:t>
            </a: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In this case, that the relationship between predictor and response (Year and Count) is independent of site</a:t>
            </a: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But what if we know things should look more like this, for example?</a:t>
            </a: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endParaRPr lang="en-GB" sz="2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7716677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B3D9E-AA04-C5D9-4501-7BB85BDCA5D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BBC36A-4A78-4DCC-6DDB-0B582DE2C4CC}"/>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Interaction terms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7" name="Group 6">
            <a:extLst>
              <a:ext uri="{FF2B5EF4-FFF2-40B4-BE49-F238E27FC236}">
                <a16:creationId xmlns:a16="http://schemas.microsoft.com/office/drawing/2014/main" id="{5DD62D46-713C-175F-1B1C-EDC31FDA1B91}"/>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84ED9116-1C0B-D14E-720F-00E4AB4EB311}"/>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6D01806-4769-75AD-5B45-A22AC5DE704B}"/>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2821B706-FCE0-0B60-4BB7-D594E5509FB1}"/>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113E751A-572A-A9E0-C5A3-F8DA03FD39FD}"/>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4C242979-60CE-38FF-CAD9-5BAC88E3E05E}"/>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646788E8-9B4A-DC11-55ED-98F120AEA6E6}"/>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B2615358-F59D-0662-5F14-473AE200EEBC}"/>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B4CF5C83-1C7A-DAC6-3DCC-8AD18C81B980}"/>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214485C0-7809-4E05-C7F1-CC7C39B7DF7E}"/>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E7937892-5FBC-D5C5-97A2-D7A5B44F1FAE}"/>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0DE3A854-5EC9-64C6-6269-DA6AAEE34C56}"/>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A5E509C8-06E0-3C67-0A07-68C67FEDB085}"/>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93499CA-BC88-B9D5-1BE2-CA1A2A62A911}"/>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7646B295-B342-6D80-9549-8EBD8A49CD1A}"/>
              </a:ext>
            </a:extLst>
          </p:cNvPr>
          <p:cNvCxnSpPr>
            <a:cxnSpLocks/>
          </p:cNvCxnSpPr>
          <p:nvPr/>
        </p:nvCxnSpPr>
        <p:spPr>
          <a:xfrm>
            <a:off x="6947338" y="2837793"/>
            <a:ext cx="4466896" cy="1933904"/>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5B1DF1A-1418-66E5-FC2D-7724E11DB364}"/>
              </a:ext>
            </a:extLst>
          </p:cNvPr>
          <p:cNvSpPr txBox="1"/>
          <p:nvPr/>
        </p:nvSpPr>
        <p:spPr>
          <a:xfrm>
            <a:off x="11174735" y="4346633"/>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31D747A9-CEC1-A046-49C0-964AA4DF2138}"/>
              </a:ext>
            </a:extLst>
          </p:cNvPr>
          <p:cNvCxnSpPr>
            <a:cxnSpLocks/>
          </p:cNvCxnSpPr>
          <p:nvPr/>
        </p:nvCxnSpPr>
        <p:spPr>
          <a:xfrm flipV="1">
            <a:off x="6965815" y="1282262"/>
            <a:ext cx="4091068" cy="3674176"/>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18FA269-07AD-F588-D0C0-8E42173382AE}"/>
              </a:ext>
            </a:extLst>
          </p:cNvPr>
          <p:cNvSpPr txBox="1"/>
          <p:nvPr/>
        </p:nvSpPr>
        <p:spPr>
          <a:xfrm>
            <a:off x="11092732" y="1151960"/>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42D096C9-93D3-D4E5-6FCC-E2DDE1ABE006}"/>
              </a:ext>
            </a:extLst>
          </p:cNvPr>
          <p:cNvSpPr txBox="1"/>
          <p:nvPr/>
        </p:nvSpPr>
        <p:spPr>
          <a:xfrm>
            <a:off x="481849" y="1688578"/>
            <a:ext cx="5130675" cy="5324535"/>
          </a:xfrm>
          <a:prstGeom prst="rect">
            <a:avLst/>
          </a:prstGeom>
          <a:noFill/>
        </p:spPr>
        <p:txBody>
          <a:bodyPr wrap="square">
            <a:spAutoFit/>
          </a:bodyPr>
          <a:lstStyle/>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Models assume each variable is independent in its relationship to the response</a:t>
            </a: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In this case, that the relationship between predictor and response (Year and Count) is independent of site</a:t>
            </a: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But what if we know things should look more like this, for example?</a:t>
            </a: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Interaction terms let us estimate one predictor based on another (e.g. we estimate the relationship between Year and Count </a:t>
            </a:r>
            <a:r>
              <a:rPr lang="en-GB" sz="2000" i="1" dirty="0">
                <a:solidFill>
                  <a:schemeClr val="accent6">
                    <a:lumMod val="50000"/>
                  </a:schemeClr>
                </a:solidFill>
                <a:latin typeface="Avenir Book" panose="02000503020000020003" pitchFamily="2" charset="0"/>
              </a:rPr>
              <a:t>depending on</a:t>
            </a:r>
            <a:r>
              <a:rPr lang="en-GB" sz="2000" dirty="0">
                <a:solidFill>
                  <a:schemeClr val="accent6">
                    <a:lumMod val="50000"/>
                  </a:schemeClr>
                </a:solidFill>
                <a:latin typeface="Avenir Book" panose="02000503020000020003" pitchFamily="2" charset="0"/>
              </a:rPr>
              <a:t> Site)</a:t>
            </a: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endParaRPr lang="en-GB" sz="20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36471558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BB611-B880-245F-98DD-C422F82A0C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03E888-A11E-6D34-A0DE-EE1B536C3B96}"/>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Interaction terms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16" name="TextBox 15">
            <a:extLst>
              <a:ext uri="{FF2B5EF4-FFF2-40B4-BE49-F238E27FC236}">
                <a16:creationId xmlns:a16="http://schemas.microsoft.com/office/drawing/2014/main" id="{63996836-E31A-896B-DF61-71A950324D1D}"/>
              </a:ext>
            </a:extLst>
          </p:cNvPr>
          <p:cNvSpPr txBox="1"/>
          <p:nvPr/>
        </p:nvSpPr>
        <p:spPr>
          <a:xfrm>
            <a:off x="481849" y="1688578"/>
            <a:ext cx="11457903" cy="1938992"/>
          </a:xfrm>
          <a:prstGeom prst="rect">
            <a:avLst/>
          </a:prstGeom>
          <a:noFill/>
        </p:spPr>
        <p:txBody>
          <a:bodyPr wrap="square">
            <a:spAutoFit/>
          </a:bodyPr>
          <a:lstStyle/>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Do I need an interaction term?</a:t>
            </a: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pPr marL="285750" indent="-285750">
              <a:buFont typeface="Arial" panose="020B0604020202020204" pitchFamily="34" charset="0"/>
              <a:buChar char="•"/>
            </a:pPr>
            <a:endParaRPr lang="en-GB" sz="2000" dirty="0">
              <a:solidFill>
                <a:schemeClr val="accent6">
                  <a:lumMod val="50000"/>
                </a:schemeClr>
              </a:solidFill>
              <a:latin typeface="Avenir Book" panose="02000503020000020003" pitchFamily="2" charset="0"/>
            </a:endParaRPr>
          </a:p>
          <a:p>
            <a:pPr marL="285750" indent="-285750">
              <a:buFont typeface="Arial" panose="020B0604020202020204" pitchFamily="34" charset="0"/>
              <a:buChar char="•"/>
            </a:pPr>
            <a:r>
              <a:rPr lang="en-GB" sz="2000" dirty="0">
                <a:solidFill>
                  <a:schemeClr val="accent6">
                    <a:lumMod val="50000"/>
                  </a:schemeClr>
                </a:solidFill>
                <a:latin typeface="Avenir Book" panose="02000503020000020003" pitchFamily="2" charset="0"/>
              </a:rPr>
              <a:t>Ask yourself: does the relationship between my predictor and the response </a:t>
            </a:r>
            <a:r>
              <a:rPr lang="en-GB" sz="2000" i="1" u="sng" dirty="0">
                <a:solidFill>
                  <a:schemeClr val="accent6">
                    <a:lumMod val="50000"/>
                  </a:schemeClr>
                </a:solidFill>
                <a:latin typeface="Avenir Book" panose="02000503020000020003" pitchFamily="2" charset="0"/>
              </a:rPr>
              <a:t>depend on</a:t>
            </a:r>
            <a:r>
              <a:rPr lang="en-GB" sz="2000" dirty="0">
                <a:solidFill>
                  <a:schemeClr val="accent6">
                    <a:lumMod val="50000"/>
                  </a:schemeClr>
                </a:solidFill>
                <a:latin typeface="Avenir Book" panose="02000503020000020003" pitchFamily="2" charset="0"/>
              </a:rPr>
              <a:t> another predictor? </a:t>
            </a:r>
          </a:p>
          <a:p>
            <a:pPr marL="285750" indent="-285750">
              <a:buFont typeface="Arial" panose="020B0604020202020204" pitchFamily="34" charset="0"/>
              <a:buChar char="•"/>
            </a:pPr>
            <a:endParaRPr lang="en-GB" sz="2000" u="sng"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11893756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41DBB-3B3A-09B3-4ECD-D4773B89D2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9BDE3F-D2F9-AEE3-A3E3-546D7B0205C4}"/>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Interaction terms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DAD6F044-5327-3D55-1CFF-029B985E1D13}"/>
              </a:ext>
            </a:extLst>
          </p:cNvPr>
          <p:cNvGraphicFramePr>
            <a:graphicFrameLocks noGrp="1"/>
          </p:cNvGraphicFramePr>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8B867EAF-2928-BC01-0B33-493FAA7D6EFE}"/>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3F9B818D-F451-AB12-932B-EFA7796179FF}"/>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980C943-33E4-FBE6-AC5E-55C16876399F}"/>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E16DC4FB-D7B7-6E52-960C-87E6A552290B}"/>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CEE087A3-21EB-76A7-F871-3E3D2A9C9D9D}"/>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F17A1886-D67A-2A5F-717B-5890C1F03C17}"/>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EDB9B792-19BD-4994-806A-01407868E630}"/>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D148DE65-9D24-E979-2262-BF3BCC171C59}"/>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559FD081-C4B4-38F7-8711-387AAAB4D888}"/>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F24C188F-6743-24CA-2255-9F6075F3AC1E}"/>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1D409363-6AB3-E0F1-C6F3-43ED9BA37BD8}"/>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32230E63-79CD-783E-4C0A-A6EB2C000C4D}"/>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48D51D10-45E0-D139-F43E-A83C524A3A32}"/>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E2C4D75-42B1-E562-32A5-A0D0ECC2E7A1}"/>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2B4110AF-4E87-E587-A666-6108B1CECAFF}"/>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BC3DB1E-021C-FB62-9092-D89D6CD24E37}"/>
              </a:ext>
            </a:extLst>
          </p:cNvPr>
          <p:cNvSpPr txBox="1"/>
          <p:nvPr/>
        </p:nvSpPr>
        <p:spPr>
          <a:xfrm>
            <a:off x="10691259" y="2517833"/>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F7643242-EE78-61BB-FBA2-7E51CE1BA107}"/>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858918C-0C66-564A-B7AF-AEC80A53CC18}"/>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3" name="TextBox 2">
            <a:extLst>
              <a:ext uri="{FF2B5EF4-FFF2-40B4-BE49-F238E27FC236}">
                <a16:creationId xmlns:a16="http://schemas.microsoft.com/office/drawing/2014/main" id="{2CF4B1DC-0C28-5265-4889-793D1048EDCF}"/>
              </a:ext>
            </a:extLst>
          </p:cNvPr>
          <p:cNvSpPr txBox="1"/>
          <p:nvPr/>
        </p:nvSpPr>
        <p:spPr>
          <a:xfrm>
            <a:off x="205701" y="1956101"/>
            <a:ext cx="6099716" cy="1015663"/>
          </a:xfrm>
          <a:prstGeom prst="rect">
            <a:avLst/>
          </a:prstGeom>
          <a:noFill/>
        </p:spPr>
        <p:txBody>
          <a:bodyPr wrap="square">
            <a:spAutoFit/>
          </a:bodyPr>
          <a:lstStyle/>
          <a:p>
            <a:r>
              <a:rPr lang="en-GB" sz="1500" dirty="0">
                <a:solidFill>
                  <a:schemeClr val="accent6">
                    <a:lumMod val="50000"/>
                  </a:schemeClr>
                </a:solidFill>
                <a:highlight>
                  <a:srgbClr val="FFFF00"/>
                </a:highlight>
                <a:latin typeface="Avenir Book" panose="02000503020000020003" pitchFamily="2" charset="0"/>
              </a:rPr>
              <a:t>What if we </a:t>
            </a:r>
            <a:r>
              <a:rPr lang="en-GB" sz="1500" i="1" dirty="0">
                <a:solidFill>
                  <a:schemeClr val="accent6">
                    <a:lumMod val="50000"/>
                  </a:schemeClr>
                </a:solidFill>
                <a:highlight>
                  <a:srgbClr val="FFFF00"/>
                </a:highlight>
                <a:latin typeface="Avenir Book" panose="02000503020000020003" pitchFamily="2" charset="0"/>
              </a:rPr>
              <a:t>don’t </a:t>
            </a:r>
            <a:r>
              <a:rPr lang="en-GB" sz="1500" dirty="0">
                <a:solidFill>
                  <a:schemeClr val="accent6">
                    <a:lumMod val="50000"/>
                  </a:schemeClr>
                </a:solidFill>
                <a:highlight>
                  <a:srgbClr val="FFFF00"/>
                </a:highlight>
                <a:latin typeface="Avenir Book" panose="02000503020000020003" pitchFamily="2" charset="0"/>
              </a:rPr>
              <a:t>expect our sites to be doing the same thing through time?!</a:t>
            </a:r>
          </a:p>
          <a:p>
            <a:endParaRPr lang="en-GB" sz="1500" dirty="0">
              <a:solidFill>
                <a:schemeClr val="accent6">
                  <a:lumMod val="50000"/>
                </a:schemeClr>
              </a:solidFill>
              <a:highlight>
                <a:srgbClr val="FFFF00"/>
              </a:highlight>
              <a:latin typeface="Avenir Book" panose="02000503020000020003" pitchFamily="2" charset="0"/>
            </a:endParaRPr>
          </a:p>
          <a:p>
            <a:r>
              <a:rPr lang="en-GB" sz="1500" dirty="0">
                <a:solidFill>
                  <a:schemeClr val="accent6">
                    <a:lumMod val="50000"/>
                  </a:schemeClr>
                </a:solidFill>
                <a:highlight>
                  <a:srgbClr val="FFFF00"/>
                </a:highlight>
                <a:latin typeface="Avenir Book" panose="02000503020000020003" pitchFamily="2" charset="0"/>
              </a:rPr>
              <a:t>An interaction term!</a:t>
            </a:r>
          </a:p>
        </p:txBody>
      </p:sp>
      <p:sp>
        <p:nvSpPr>
          <p:cNvPr id="16" name="TextBox 15">
            <a:extLst>
              <a:ext uri="{FF2B5EF4-FFF2-40B4-BE49-F238E27FC236}">
                <a16:creationId xmlns:a16="http://schemas.microsoft.com/office/drawing/2014/main" id="{8008D81B-AF52-659B-46C2-CAD786DAC3FE}"/>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highlight>
                  <a:srgbClr val="FFFF00"/>
                </a:highlight>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9771247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86BE-B62A-E2A6-3F15-52DAD9C290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24A0941-413A-5027-431C-632D0890440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F22D0D70-6276-0275-6F60-671A32538330}"/>
              </a:ext>
            </a:extLst>
          </p:cNvPr>
          <p:cNvGraphicFramePr>
            <a:graphicFrameLocks noGrp="1"/>
          </p:cNvGraphicFramePr>
          <p:nvPr>
            <p:extLst>
              <p:ext uri="{D42A27DB-BD31-4B8C-83A1-F6EECF244321}">
                <p14:modId xmlns:p14="http://schemas.microsoft.com/office/powerpoint/2010/main" val="3412801830"/>
              </p:ext>
            </p:extLst>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r>
                        <a:rPr lang="en-US" dirty="0"/>
                        <a:t>Year:Site2</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r>
                        <a:rPr lang="en-US" dirty="0"/>
                        <a:t>Year:Site3</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E48D8BA5-F123-D740-6E99-5991F55DFF3C}"/>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E9D66709-0693-C796-FF8A-B77E1265749C}"/>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9B6539C-4DBC-AEA2-4FAA-A75E328E0004}"/>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1A4050D2-96B1-731C-E54F-B99E82520CEF}"/>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43BE84FB-87E2-70C9-3A55-5A00C2043E48}"/>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31AE9A57-14C9-1D6C-ABA0-F7893ED1519E}"/>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1B9F3441-0A46-830D-E07F-18729FEB43FA}"/>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5C4A5A82-EDD7-9607-85B4-3866E1F3088A}"/>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CBC5DCFF-7F61-DAD6-384A-F0A289A9CAF0}"/>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457AE5A1-ED2F-5EA3-DAB5-7B60D0A30E7D}"/>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A3D7A04B-2AF1-0EB7-CBD7-578964E22562}"/>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5A4AD532-BCF3-3CD9-EDFF-CAF17595AFBD}"/>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DBE1F2E6-6719-B2A6-4111-55972A51390B}"/>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05C6A47-3B93-3DDA-059C-4D2D81CF7BC9}"/>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12C39B73-58ED-3153-EEBD-6E4ECEF19A2B}"/>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06546FD-7577-F02C-701E-2E8676EA6B6A}"/>
              </a:ext>
            </a:extLst>
          </p:cNvPr>
          <p:cNvSpPr txBox="1"/>
          <p:nvPr/>
        </p:nvSpPr>
        <p:spPr>
          <a:xfrm>
            <a:off x="10691259" y="2517833"/>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16330974-3D90-6381-1B24-980DAAC1CA74}"/>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37C9BDE-3579-E412-B6EA-34D2F5A3FCB0}"/>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B1724EA3-5B5E-441C-B4E8-AB568D1C6622}"/>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
        <p:nvSpPr>
          <p:cNvPr id="17" name="TextBox 16">
            <a:extLst>
              <a:ext uri="{FF2B5EF4-FFF2-40B4-BE49-F238E27FC236}">
                <a16:creationId xmlns:a16="http://schemas.microsoft.com/office/drawing/2014/main" id="{B40B3F36-4DE7-19DE-FCF6-18A5CFA854AA}"/>
              </a:ext>
            </a:extLst>
          </p:cNvPr>
          <p:cNvSpPr txBox="1"/>
          <p:nvPr/>
        </p:nvSpPr>
        <p:spPr>
          <a:xfrm>
            <a:off x="2231227" y="6196408"/>
            <a:ext cx="3001482" cy="553998"/>
          </a:xfrm>
          <a:prstGeom prst="rect">
            <a:avLst/>
          </a:prstGeom>
          <a:noFill/>
        </p:spPr>
        <p:txBody>
          <a:bodyPr wrap="square">
            <a:spAutoFit/>
          </a:bodyPr>
          <a:lstStyle/>
          <a:p>
            <a:r>
              <a:rPr lang="en-GB" sz="1500" dirty="0">
                <a:solidFill>
                  <a:srgbClr val="C00000"/>
                </a:solidFill>
                <a:latin typeface="Avenir Book" panose="02000503020000020003" pitchFamily="2" charset="0"/>
              </a:rPr>
              <a:t>Now, Year refers to the Slope </a:t>
            </a:r>
            <a:r>
              <a:rPr lang="en-GB" sz="1500" b="1" i="1" dirty="0">
                <a:solidFill>
                  <a:srgbClr val="C00000"/>
                </a:solidFill>
                <a:latin typeface="Avenir Book" panose="02000503020000020003" pitchFamily="2" charset="0"/>
              </a:rPr>
              <a:t>of</a:t>
            </a:r>
            <a:r>
              <a:rPr lang="en-GB" sz="1500" dirty="0">
                <a:solidFill>
                  <a:srgbClr val="C00000"/>
                </a:solidFill>
                <a:latin typeface="Avenir Book" panose="02000503020000020003" pitchFamily="2" charset="0"/>
              </a:rPr>
              <a:t> </a:t>
            </a:r>
            <a:r>
              <a:rPr lang="en-GB" sz="1500" b="1" i="1" dirty="0">
                <a:solidFill>
                  <a:srgbClr val="C00000"/>
                </a:solidFill>
                <a:latin typeface="Avenir Book" panose="02000503020000020003" pitchFamily="2" charset="0"/>
              </a:rPr>
              <a:t>Site 1</a:t>
            </a:r>
            <a:endParaRPr lang="en-GB" sz="1500" dirty="0">
              <a:solidFill>
                <a:srgbClr val="C00000"/>
              </a:solidFill>
              <a:latin typeface="Avenir Book" panose="02000503020000020003" pitchFamily="2" charset="0"/>
            </a:endParaRPr>
          </a:p>
        </p:txBody>
      </p:sp>
      <p:cxnSp>
        <p:nvCxnSpPr>
          <p:cNvPr id="18" name="Straight Arrow Connector 17">
            <a:extLst>
              <a:ext uri="{FF2B5EF4-FFF2-40B4-BE49-F238E27FC236}">
                <a16:creationId xmlns:a16="http://schemas.microsoft.com/office/drawing/2014/main" id="{672FBCF0-0223-4180-FBEF-BC75E54BFD74}"/>
              </a:ext>
            </a:extLst>
          </p:cNvPr>
          <p:cNvCxnSpPr>
            <a:cxnSpLocks/>
          </p:cNvCxnSpPr>
          <p:nvPr/>
        </p:nvCxnSpPr>
        <p:spPr>
          <a:xfrm flipH="1" flipV="1">
            <a:off x="2035104" y="4258061"/>
            <a:ext cx="859843" cy="186227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816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6AFF6-C65C-7232-A602-F176D1EAEE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4469C09-62A0-5B51-57B5-2A8DF59677F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2D93D6DE-5995-2030-920A-3BF113D3F22C}"/>
              </a:ext>
            </a:extLst>
          </p:cNvPr>
          <p:cNvGraphicFramePr>
            <a:graphicFrameLocks noGrp="1"/>
          </p:cNvGraphicFramePr>
          <p:nvPr>
            <p:extLst>
              <p:ext uri="{D42A27DB-BD31-4B8C-83A1-F6EECF244321}">
                <p14:modId xmlns:p14="http://schemas.microsoft.com/office/powerpoint/2010/main" val="75120882"/>
              </p:ext>
            </p:extLst>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r>
                        <a:rPr lang="en-US" dirty="0"/>
                        <a:t>Year:Site2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r>
                        <a:rPr lang="en-US" dirty="0"/>
                        <a:t>Year:Site3</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7EAD5F43-5694-2E56-4D24-30965534329C}"/>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438B1C2A-AB9B-2A07-2512-D53D9DC2171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DA4F11A-CD4E-C6B1-4654-C9C1D103853A}"/>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74F41907-5A51-135C-D381-BC9E64FF731E}"/>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4BFBBC6C-0826-7F59-64EB-ABE4800D2780}"/>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0A55519E-3001-F0CA-1FDB-2D0310C164B4}"/>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2B223120-89AC-26DC-F235-FC2D720EEE15}"/>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3C4FE7AF-2569-F9C5-DC45-0FC0C05D3CAA}"/>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9296CD01-0ABD-EDC4-5A09-133FDC320073}"/>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034A7193-C490-536E-987F-8A0EC6FC1E23}"/>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4566F78B-CED2-A52E-ABA6-342F28DF46FC}"/>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5CB2CF2D-0E5E-DFCF-A79E-932C6699D05F}"/>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77B30EF9-EE2E-1547-12A8-840DA460034B}"/>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9B27CA7-BDDA-1786-BEB8-0890CFD7FE0C}"/>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5E4CF992-F4D0-C1A8-80F6-0D113E2401A7}"/>
              </a:ext>
            </a:extLst>
          </p:cNvPr>
          <p:cNvCxnSpPr>
            <a:cxnSpLocks/>
          </p:cNvCxnSpPr>
          <p:nvPr/>
        </p:nvCxnSpPr>
        <p:spPr>
          <a:xfrm flipV="1">
            <a:off x="6973180" y="2336969"/>
            <a:ext cx="4209643" cy="192109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2E0F330-45E0-D8A5-854D-738C15229C3C}"/>
              </a:ext>
            </a:extLst>
          </p:cNvPr>
          <p:cNvSpPr txBox="1"/>
          <p:nvPr/>
        </p:nvSpPr>
        <p:spPr>
          <a:xfrm>
            <a:off x="10691259" y="2517833"/>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3C44633E-558D-3E45-AC27-37E1469564BB}"/>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11499BF-D9ED-5B93-C299-84C8052B0A5E}"/>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2626A16F-D902-6C47-8AC1-AA81EBB0CB89}"/>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
        <p:nvSpPr>
          <p:cNvPr id="17" name="TextBox 16">
            <a:extLst>
              <a:ext uri="{FF2B5EF4-FFF2-40B4-BE49-F238E27FC236}">
                <a16:creationId xmlns:a16="http://schemas.microsoft.com/office/drawing/2014/main" id="{425726CE-546A-2D4E-1DEE-CE2C376149C0}"/>
              </a:ext>
            </a:extLst>
          </p:cNvPr>
          <p:cNvSpPr txBox="1"/>
          <p:nvPr/>
        </p:nvSpPr>
        <p:spPr>
          <a:xfrm>
            <a:off x="2231227" y="6196408"/>
            <a:ext cx="3756978" cy="553998"/>
          </a:xfrm>
          <a:prstGeom prst="rect">
            <a:avLst/>
          </a:prstGeom>
          <a:noFill/>
        </p:spPr>
        <p:txBody>
          <a:bodyPr wrap="square">
            <a:spAutoFit/>
          </a:bodyPr>
          <a:lstStyle/>
          <a:p>
            <a:r>
              <a:rPr lang="en-GB" sz="1500" dirty="0">
                <a:solidFill>
                  <a:srgbClr val="C00000"/>
                </a:solidFill>
                <a:latin typeface="Avenir Book" panose="02000503020000020003" pitchFamily="2" charset="0"/>
              </a:rPr>
              <a:t>This interaction term refers to the slope of Site 2, </a:t>
            </a:r>
            <a:r>
              <a:rPr lang="en-GB" sz="1500" b="1" i="1" dirty="0">
                <a:solidFill>
                  <a:srgbClr val="C00000"/>
                </a:solidFill>
                <a:latin typeface="Avenir Book" panose="02000503020000020003" pitchFamily="2" charset="0"/>
              </a:rPr>
              <a:t>relative to Site 1</a:t>
            </a:r>
            <a:endParaRPr lang="en-GB" sz="1500" dirty="0">
              <a:solidFill>
                <a:srgbClr val="C00000"/>
              </a:solidFill>
              <a:latin typeface="Avenir Book" panose="02000503020000020003" pitchFamily="2" charset="0"/>
            </a:endParaRPr>
          </a:p>
        </p:txBody>
      </p:sp>
      <p:cxnSp>
        <p:nvCxnSpPr>
          <p:cNvPr id="18" name="Straight Arrow Connector 17">
            <a:extLst>
              <a:ext uri="{FF2B5EF4-FFF2-40B4-BE49-F238E27FC236}">
                <a16:creationId xmlns:a16="http://schemas.microsoft.com/office/drawing/2014/main" id="{7261A617-30B6-FD14-E3E2-A2825B56292B}"/>
              </a:ext>
            </a:extLst>
          </p:cNvPr>
          <p:cNvCxnSpPr>
            <a:cxnSpLocks/>
          </p:cNvCxnSpPr>
          <p:nvPr/>
        </p:nvCxnSpPr>
        <p:spPr>
          <a:xfrm flipH="1" flipV="1">
            <a:off x="1918010" y="5374888"/>
            <a:ext cx="976937" cy="7454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99519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B1B06-AC67-4D4A-56BE-F25DE48F64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DA8E86E-79F1-6CB2-7D21-B7D289521B4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AF35E486-92A7-A8B1-A7F3-D99DBC6C48B9}"/>
              </a:ext>
            </a:extLst>
          </p:cNvPr>
          <p:cNvGraphicFramePr>
            <a:graphicFrameLocks noGrp="1"/>
          </p:cNvGraphicFramePr>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r>
                        <a:rPr lang="en-US" dirty="0"/>
                        <a:t>Year:Site2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r>
                        <a:rPr lang="en-US" dirty="0"/>
                        <a:t>Year:Site3</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9224051C-4978-063C-1C8E-65B8C3B3ED5E}"/>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926E75A2-58DF-645D-BEB9-CDF60A9D8A71}"/>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A20CA52-F2CF-0718-9C99-1760EE6384A8}"/>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978D0E05-6DEC-EFAA-0735-11D96FAAD0FE}"/>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4504BAC2-CD75-144E-194D-AFFC28FB47F7}"/>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BFF34C6C-5C3B-9EF9-64F1-0F5E1203B3CC}"/>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32286DBE-08FF-B7C6-DEB5-398647907F44}"/>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121A0E9F-3EA7-71C8-EE44-BFE54CE8B14A}"/>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26D71240-CED5-44F5-26EF-1A961A2E658C}"/>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1FACEF0D-D175-9A8E-CEAF-00378F304907}"/>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F2D748E5-2CC7-80A4-290A-12F1F33F5409}"/>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B38EB980-8530-8F0E-BDA9-6654ED665308}"/>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219D4C5C-E817-BE29-8C72-62107E3F90C4}"/>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0ADF456-D583-DD4D-AE31-B69662F3C083}"/>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AF317CBC-6953-4956-839A-2370F89705F3}"/>
              </a:ext>
            </a:extLst>
          </p:cNvPr>
          <p:cNvCxnSpPr>
            <a:cxnSpLocks/>
          </p:cNvCxnSpPr>
          <p:nvPr/>
        </p:nvCxnSpPr>
        <p:spPr>
          <a:xfrm flipV="1">
            <a:off x="6973180" y="546410"/>
            <a:ext cx="2003552" cy="371165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C4812BE-08CF-5C8E-6D32-D504E70F5087}"/>
              </a:ext>
            </a:extLst>
          </p:cNvPr>
          <p:cNvSpPr txBox="1"/>
          <p:nvPr/>
        </p:nvSpPr>
        <p:spPr>
          <a:xfrm>
            <a:off x="8367479" y="1596881"/>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B634D4F0-3093-0A69-EDB1-EC3610FFFDE0}"/>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DB0FBDF-0107-4ED9-949E-69BB3E392C3A}"/>
              </a:ext>
            </a:extLst>
          </p:cNvPr>
          <p:cNvSpPr txBox="1"/>
          <p:nvPr/>
        </p:nvSpPr>
        <p:spPr>
          <a:xfrm>
            <a:off x="10819463" y="3211987"/>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3</a:t>
            </a:r>
          </a:p>
        </p:txBody>
      </p:sp>
      <p:sp>
        <p:nvSpPr>
          <p:cNvPr id="16" name="TextBox 15">
            <a:extLst>
              <a:ext uri="{FF2B5EF4-FFF2-40B4-BE49-F238E27FC236}">
                <a16:creationId xmlns:a16="http://schemas.microsoft.com/office/drawing/2014/main" id="{677C3B01-A16E-DD39-2989-CD3EF7EA8C23}"/>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
        <p:nvSpPr>
          <p:cNvPr id="22" name="TextBox 21">
            <a:extLst>
              <a:ext uri="{FF2B5EF4-FFF2-40B4-BE49-F238E27FC236}">
                <a16:creationId xmlns:a16="http://schemas.microsoft.com/office/drawing/2014/main" id="{6BE1400B-AB43-09A9-C957-B9D6337D324E}"/>
              </a:ext>
            </a:extLst>
          </p:cNvPr>
          <p:cNvSpPr txBox="1"/>
          <p:nvPr/>
        </p:nvSpPr>
        <p:spPr>
          <a:xfrm>
            <a:off x="6463387" y="1258571"/>
            <a:ext cx="2002268" cy="784830"/>
          </a:xfrm>
          <a:prstGeom prst="rect">
            <a:avLst/>
          </a:prstGeom>
          <a:noFill/>
        </p:spPr>
        <p:txBody>
          <a:bodyPr wrap="square">
            <a:spAutoFit/>
          </a:bodyPr>
          <a:lstStyle/>
          <a:p>
            <a:r>
              <a:rPr lang="en-GB" sz="1500" dirty="0">
                <a:solidFill>
                  <a:srgbClr val="C00000"/>
                </a:solidFill>
                <a:latin typeface="Avenir Book" panose="02000503020000020003" pitchFamily="2" charset="0"/>
              </a:rPr>
              <a:t>log(count) changes by 0.5 + 1 = 1.5 per year</a:t>
            </a:r>
          </a:p>
        </p:txBody>
      </p:sp>
      <p:cxnSp>
        <p:nvCxnSpPr>
          <p:cNvPr id="29" name="Straight Arrow Connector 28">
            <a:extLst>
              <a:ext uri="{FF2B5EF4-FFF2-40B4-BE49-F238E27FC236}">
                <a16:creationId xmlns:a16="http://schemas.microsoft.com/office/drawing/2014/main" id="{140F6FC7-7157-A79A-7778-38CB9179B648}"/>
              </a:ext>
            </a:extLst>
          </p:cNvPr>
          <p:cNvCxnSpPr>
            <a:cxnSpLocks/>
          </p:cNvCxnSpPr>
          <p:nvPr/>
        </p:nvCxnSpPr>
        <p:spPr>
          <a:xfrm flipV="1">
            <a:off x="2754434" y="1977531"/>
            <a:ext cx="5029221" cy="262508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A7D5F46-E4C8-D284-B8D0-3EBFF3B63B49}"/>
              </a:ext>
            </a:extLst>
          </p:cNvPr>
          <p:cNvCxnSpPr>
            <a:cxnSpLocks/>
          </p:cNvCxnSpPr>
          <p:nvPr/>
        </p:nvCxnSpPr>
        <p:spPr>
          <a:xfrm>
            <a:off x="2059371" y="4141998"/>
            <a:ext cx="695063" cy="41165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61CAB9D-201D-54CE-753F-83BFE4C8658A}"/>
              </a:ext>
            </a:extLst>
          </p:cNvPr>
          <p:cNvCxnSpPr>
            <a:cxnSpLocks/>
          </p:cNvCxnSpPr>
          <p:nvPr/>
        </p:nvCxnSpPr>
        <p:spPr>
          <a:xfrm flipV="1">
            <a:off x="1918010" y="4669733"/>
            <a:ext cx="836424" cy="62709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0093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79DDE-8536-913D-2EE8-9C0ABC3F78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B92474-C0F6-8E09-6B6F-E996F32B4CED}"/>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ED805CAE-606A-475D-6BA7-44EE7C110E7A}"/>
              </a:ext>
            </a:extLst>
          </p:cNvPr>
          <p:cNvGraphicFramePr>
            <a:graphicFrameLocks noGrp="1"/>
          </p:cNvGraphicFramePr>
          <p:nvPr>
            <p:extLst>
              <p:ext uri="{D42A27DB-BD31-4B8C-83A1-F6EECF244321}">
                <p14:modId xmlns:p14="http://schemas.microsoft.com/office/powerpoint/2010/main" val="1374475194"/>
              </p:ext>
            </p:extLst>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r>
                        <a:rPr lang="en-US" dirty="0"/>
                        <a:t>Year:Site2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r>
                        <a:rPr lang="en-US" dirty="0"/>
                        <a:t>Year:Site3</a:t>
                      </a:r>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598E8748-FE3A-1FC4-D052-6945C6684F1B}"/>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923CC676-BBA1-AF53-6C67-9F3286A810B2}"/>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E739E20-545F-1812-905E-F91E3390C045}"/>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B37774D2-4C4B-3E52-13CD-218CD61D2580}"/>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FFC061A3-6219-719D-F4FF-52084181B6D0}"/>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D1F5E4A7-51CC-93B4-CCE4-665D4DF7B1CC}"/>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62F068C2-C710-B74F-B5F1-CEE5E414EE39}"/>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EFACEABA-D5CE-2D75-E6FE-DB85DC502EE3}"/>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F7554145-A6D7-7BC7-2C33-75471C383409}"/>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43257C0E-2DB4-0511-3BE2-DFF256831542}"/>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215A242C-086F-0149-0C8B-092BE0482E6E}"/>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4B2C3D0C-E352-5F62-F5F5-B55552341E46}"/>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9948EDE6-8F64-2FE1-7A5C-45272813B010}"/>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FD669B8-E574-A5CF-6562-DEA855DD0F51}"/>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2F6C5707-CF45-6D57-91A2-7514C95FC722}"/>
              </a:ext>
            </a:extLst>
          </p:cNvPr>
          <p:cNvCxnSpPr>
            <a:cxnSpLocks/>
          </p:cNvCxnSpPr>
          <p:nvPr/>
        </p:nvCxnSpPr>
        <p:spPr>
          <a:xfrm flipV="1">
            <a:off x="6973180" y="546410"/>
            <a:ext cx="2003552" cy="371165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1119109-592C-2E34-D447-6B4E451DC440}"/>
              </a:ext>
            </a:extLst>
          </p:cNvPr>
          <p:cNvSpPr txBox="1"/>
          <p:nvPr/>
        </p:nvSpPr>
        <p:spPr>
          <a:xfrm>
            <a:off x="8367479" y="1596881"/>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7AB7EC21-0DC1-ABDF-1791-78C516DE6A17}"/>
              </a:ext>
            </a:extLst>
          </p:cNvPr>
          <p:cNvCxnSpPr>
            <a:cxnSpLocks/>
          </p:cNvCxnSpPr>
          <p:nvPr/>
        </p:nvCxnSpPr>
        <p:spPr>
          <a:xfrm flipV="1">
            <a:off x="6965815" y="3035346"/>
            <a:ext cx="4209643" cy="1921092"/>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2A110C1-6D44-6171-D7D8-D6FFB52D4AA0}"/>
              </a:ext>
            </a:extLst>
          </p:cNvPr>
          <p:cNvSpPr txBox="1"/>
          <p:nvPr/>
        </p:nvSpPr>
        <p:spPr>
          <a:xfrm>
            <a:off x="10873117" y="3197334"/>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4</a:t>
            </a:r>
          </a:p>
        </p:txBody>
      </p:sp>
      <p:sp>
        <p:nvSpPr>
          <p:cNvPr id="16" name="TextBox 15">
            <a:extLst>
              <a:ext uri="{FF2B5EF4-FFF2-40B4-BE49-F238E27FC236}">
                <a16:creationId xmlns:a16="http://schemas.microsoft.com/office/drawing/2014/main" id="{5C105EBF-C3B5-6DF9-194D-BC1CA953C5DD}"/>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1988092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8CE48-063E-DEB4-03DA-92BECFD732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DFC87E-438A-43B2-6E8F-BC81D73C2B92}"/>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28B87A40-B212-67FB-5EF1-EBA20F5DCBCB}"/>
              </a:ext>
            </a:extLst>
          </p:cNvPr>
          <p:cNvGraphicFramePr>
            <a:graphicFrameLocks noGrp="1"/>
          </p:cNvGraphicFramePr>
          <p:nvPr>
            <p:extLst>
              <p:ext uri="{D42A27DB-BD31-4B8C-83A1-F6EECF244321}">
                <p14:modId xmlns:p14="http://schemas.microsoft.com/office/powerpoint/2010/main" val="3000368568"/>
              </p:ext>
            </p:extLst>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r>
                        <a:rPr lang="en-US" dirty="0"/>
                        <a:t>Year:Site2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r>
                        <a:rPr lang="en-US" dirty="0"/>
                        <a:t>Year:Site3</a:t>
                      </a:r>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26A1281E-098A-763B-6B90-10BD166B79B3}"/>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60D8F4C1-E2E0-FBEA-604E-6D0FCEC59B7F}"/>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B62467D-CB77-5ECF-955A-973930866EA7}"/>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4E6A3D8-34FB-63F4-74F0-0AABF4BDD087}"/>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D4B8464B-3FDF-C1D7-FAB5-AF253E60177A}"/>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CC40EC60-3B03-7394-D9D9-CD85CE40A311}"/>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27959257-B304-706B-37F4-1FA9F61E27A7}"/>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4012D8A6-CB6D-7912-79F8-9E7804608E59}"/>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86527DB0-0BCC-D01E-6FDE-18E131F89B68}"/>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DE70EB2C-EC18-6529-9E66-5B4F758AE1D3}"/>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368CF377-B5B4-C623-2201-6B1008C35D7A}"/>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AEF71A85-A6E7-7617-5446-97B73101984F}"/>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A7F19FB9-A061-2A37-F915-79A54F02B655}"/>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698BAB4-0EE3-3B21-2179-A0A935D0FE66}"/>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88B76535-C521-4A25-394A-F9CB4D42214E}"/>
              </a:ext>
            </a:extLst>
          </p:cNvPr>
          <p:cNvCxnSpPr>
            <a:cxnSpLocks/>
          </p:cNvCxnSpPr>
          <p:nvPr/>
        </p:nvCxnSpPr>
        <p:spPr>
          <a:xfrm flipV="1">
            <a:off x="6973180" y="546410"/>
            <a:ext cx="2003552" cy="371165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CCA48CC-9E80-928A-5C0B-446A47433526}"/>
              </a:ext>
            </a:extLst>
          </p:cNvPr>
          <p:cNvSpPr txBox="1"/>
          <p:nvPr/>
        </p:nvSpPr>
        <p:spPr>
          <a:xfrm>
            <a:off x="8367479" y="1596881"/>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09592602-C8DB-64D0-F68D-47241BB6E69F}"/>
              </a:ext>
            </a:extLst>
          </p:cNvPr>
          <p:cNvCxnSpPr>
            <a:cxnSpLocks/>
          </p:cNvCxnSpPr>
          <p:nvPr/>
        </p:nvCxnSpPr>
        <p:spPr>
          <a:xfrm flipV="1">
            <a:off x="6965815" y="4114647"/>
            <a:ext cx="4319219" cy="841791"/>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4030935-CA43-EF49-14B3-9675B9780E3A}"/>
              </a:ext>
            </a:extLst>
          </p:cNvPr>
          <p:cNvSpPr txBox="1"/>
          <p:nvPr/>
        </p:nvSpPr>
        <p:spPr>
          <a:xfrm>
            <a:off x="11368961" y="3953064"/>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4</a:t>
            </a:r>
          </a:p>
        </p:txBody>
      </p:sp>
      <p:sp>
        <p:nvSpPr>
          <p:cNvPr id="16" name="TextBox 15">
            <a:extLst>
              <a:ext uri="{FF2B5EF4-FFF2-40B4-BE49-F238E27FC236}">
                <a16:creationId xmlns:a16="http://schemas.microsoft.com/office/drawing/2014/main" id="{522CB403-EAB6-0989-6754-28F4AAA1F8D2}"/>
              </a:ext>
            </a:extLst>
          </p:cNvPr>
          <p:cNvSpPr txBox="1"/>
          <p:nvPr/>
        </p:nvSpPr>
        <p:spPr>
          <a:xfrm>
            <a:off x="450318" y="13942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380885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AB46D-0B00-7543-4C4E-F1F4EE7F91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CC9C5A-22E4-FD80-FC65-DCD8185B54CF}"/>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F93B5876-DD25-A959-9CF5-099186CD9E0C}"/>
              </a:ext>
            </a:extLst>
          </p:cNvPr>
          <p:cNvGraphicFramePr>
            <a:graphicFrameLocks noGrp="1"/>
          </p:cNvGraphicFramePr>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r>
                        <a:rPr lang="en-US" dirty="0"/>
                        <a:t>Year:Site2</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r>
                        <a:rPr lang="en-US" dirty="0"/>
                        <a:t>Year:Site3</a:t>
                      </a:r>
                    </a:p>
                  </a:txBody>
                  <a:tcPr/>
                </a:tc>
                <a:tc>
                  <a:txBody>
                    <a:bodyPr/>
                    <a:lstStyle/>
                    <a:p>
                      <a:r>
                        <a:rPr lang="en-US" dirty="0"/>
                        <a:t>-0.3</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365D10FD-E24D-9D46-EA67-A57DA00E297C}"/>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176AE46B-D306-638A-32A6-1A379C56E4BE}"/>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5300900-598A-325A-52D3-2AC4C7D1C18A}"/>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867534D6-BB40-CB52-363B-90C8E0B999C2}"/>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C6B8A4AD-B79A-EB55-CD6A-6776AA456F7F}"/>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BC60775F-513D-5060-A404-1045F08FEE4F}"/>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41EFC89C-2831-805D-6396-2FB201A11322}"/>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86572046-E396-3980-AC0D-ABD080D04358}"/>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B2D0AB49-2C75-E4D7-1107-D3C2826C6D12}"/>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B112DB35-119C-025C-8BBB-49FB9D26684A}"/>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187CC1F0-28BF-061E-BBAB-375DF2C76F00}"/>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26B04124-1126-F09D-DA75-5FA3FCDA8E66}"/>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E23CD777-09D1-91AA-363C-398DEAA8ECD7}"/>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D53A203-6A1C-3B18-C5EE-4492FF9CA130}"/>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2AE8296F-7E08-4F8B-3A4D-185B13061D0C}"/>
              </a:ext>
            </a:extLst>
          </p:cNvPr>
          <p:cNvCxnSpPr>
            <a:cxnSpLocks/>
          </p:cNvCxnSpPr>
          <p:nvPr/>
        </p:nvCxnSpPr>
        <p:spPr>
          <a:xfrm flipV="1">
            <a:off x="6973180" y="546410"/>
            <a:ext cx="2003552" cy="371165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662E06-F933-67D5-C43E-20DA1D03610D}"/>
              </a:ext>
            </a:extLst>
          </p:cNvPr>
          <p:cNvSpPr txBox="1"/>
          <p:nvPr/>
        </p:nvSpPr>
        <p:spPr>
          <a:xfrm>
            <a:off x="8367479" y="1596881"/>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651D4924-1F22-7C85-E92E-2113D9821C7F}"/>
              </a:ext>
            </a:extLst>
          </p:cNvPr>
          <p:cNvCxnSpPr>
            <a:cxnSpLocks/>
          </p:cNvCxnSpPr>
          <p:nvPr/>
        </p:nvCxnSpPr>
        <p:spPr>
          <a:xfrm flipV="1">
            <a:off x="6965815" y="4114647"/>
            <a:ext cx="4319219" cy="841791"/>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EF65FD6-B185-D7FD-A59B-197CE45E3D8F}"/>
              </a:ext>
            </a:extLst>
          </p:cNvPr>
          <p:cNvSpPr txBox="1"/>
          <p:nvPr/>
        </p:nvSpPr>
        <p:spPr>
          <a:xfrm>
            <a:off x="11368961" y="3953064"/>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4</a:t>
            </a:r>
          </a:p>
        </p:txBody>
      </p:sp>
      <p:sp>
        <p:nvSpPr>
          <p:cNvPr id="16" name="TextBox 15">
            <a:extLst>
              <a:ext uri="{FF2B5EF4-FFF2-40B4-BE49-F238E27FC236}">
                <a16:creationId xmlns:a16="http://schemas.microsoft.com/office/drawing/2014/main" id="{F3ACD8E6-B83F-2507-3417-80CEB44C253D}"/>
              </a:ext>
            </a:extLst>
          </p:cNvPr>
          <p:cNvSpPr txBox="1"/>
          <p:nvPr/>
        </p:nvSpPr>
        <p:spPr>
          <a:xfrm>
            <a:off x="450318" y="2233219"/>
            <a:ext cx="6188926" cy="369332"/>
          </a:xfrm>
          <a:prstGeom prst="rect">
            <a:avLst/>
          </a:prstGeom>
          <a:noFill/>
        </p:spPr>
        <p:txBody>
          <a:bodyPr wrap="square">
            <a:spAutoFit/>
          </a:bodyPr>
          <a:lstStyle/>
          <a:p>
            <a:r>
              <a:rPr lang="en-GB" dirty="0">
                <a:solidFill>
                  <a:schemeClr val="accent6">
                    <a:lumMod val="50000"/>
                  </a:schemeClr>
                </a:solidFill>
                <a:highlight>
                  <a:srgbClr val="FFFF00"/>
                </a:highlight>
                <a:latin typeface="Avenir Book" panose="02000503020000020003" pitchFamily="2" charset="0"/>
              </a:rPr>
              <a:t>How confident are we in these estimates?</a:t>
            </a:r>
            <a:endParaRPr lang="en-GB" sz="1800" dirty="0">
              <a:solidFill>
                <a:schemeClr val="accent6">
                  <a:lumMod val="50000"/>
                </a:schemeClr>
              </a:solidFill>
              <a:highlight>
                <a:srgbClr val="FFFF00"/>
              </a:highlight>
              <a:latin typeface="Avenir Book" panose="02000503020000020003" pitchFamily="2" charset="0"/>
            </a:endParaRPr>
          </a:p>
        </p:txBody>
      </p:sp>
      <p:sp>
        <p:nvSpPr>
          <p:cNvPr id="3" name="TextBox 2">
            <a:extLst>
              <a:ext uri="{FF2B5EF4-FFF2-40B4-BE49-F238E27FC236}">
                <a16:creationId xmlns:a16="http://schemas.microsoft.com/office/drawing/2014/main" id="{3ED347BD-B815-17A6-31B4-8BD2E79A20E7}"/>
              </a:ext>
            </a:extLst>
          </p:cNvPr>
          <p:cNvSpPr txBox="1"/>
          <p:nvPr/>
        </p:nvSpPr>
        <p:spPr>
          <a:xfrm>
            <a:off x="602718" y="15466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cxnSp>
        <p:nvCxnSpPr>
          <p:cNvPr id="17" name="Straight Arrow Connector 16">
            <a:extLst>
              <a:ext uri="{FF2B5EF4-FFF2-40B4-BE49-F238E27FC236}">
                <a16:creationId xmlns:a16="http://schemas.microsoft.com/office/drawing/2014/main" id="{CD986D24-B5E8-27E4-A1BC-C874526F194E}"/>
              </a:ext>
            </a:extLst>
          </p:cNvPr>
          <p:cNvCxnSpPr>
            <a:cxnSpLocks/>
          </p:cNvCxnSpPr>
          <p:nvPr/>
        </p:nvCxnSpPr>
        <p:spPr>
          <a:xfrm flipV="1">
            <a:off x="3101276" y="4719145"/>
            <a:ext cx="4613317" cy="29336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788BB0B-CB80-07F3-611B-3E7AB567C7A7}"/>
              </a:ext>
            </a:extLst>
          </p:cNvPr>
          <p:cNvCxnSpPr>
            <a:cxnSpLocks/>
          </p:cNvCxnSpPr>
          <p:nvPr/>
        </p:nvCxnSpPr>
        <p:spPr>
          <a:xfrm>
            <a:off x="2102069" y="4225159"/>
            <a:ext cx="999207" cy="73840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F5FBD7E-1C97-175F-5838-82537F0F35F2}"/>
              </a:ext>
            </a:extLst>
          </p:cNvPr>
          <p:cNvCxnSpPr>
            <a:cxnSpLocks/>
          </p:cNvCxnSpPr>
          <p:nvPr/>
        </p:nvCxnSpPr>
        <p:spPr>
          <a:xfrm flipV="1">
            <a:off x="2264852" y="5079636"/>
            <a:ext cx="836424" cy="62709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CF5B244-94AB-7388-02E3-82B3ACE757D4}"/>
              </a:ext>
            </a:extLst>
          </p:cNvPr>
          <p:cNvSpPr txBox="1"/>
          <p:nvPr/>
        </p:nvSpPr>
        <p:spPr>
          <a:xfrm>
            <a:off x="5475414" y="4863618"/>
            <a:ext cx="1450904" cy="1015663"/>
          </a:xfrm>
          <a:prstGeom prst="rect">
            <a:avLst/>
          </a:prstGeom>
          <a:noFill/>
        </p:spPr>
        <p:txBody>
          <a:bodyPr wrap="square">
            <a:spAutoFit/>
          </a:bodyPr>
          <a:lstStyle/>
          <a:p>
            <a:r>
              <a:rPr lang="en-GB" sz="1500" dirty="0">
                <a:solidFill>
                  <a:srgbClr val="C00000"/>
                </a:solidFill>
                <a:latin typeface="Avenir Book" panose="02000503020000020003" pitchFamily="2" charset="0"/>
              </a:rPr>
              <a:t>log(count) changes by 0.5 + -0.3 = 0.2 per year</a:t>
            </a:r>
          </a:p>
        </p:txBody>
      </p:sp>
    </p:spTree>
    <p:extLst>
      <p:ext uri="{BB962C8B-B14F-4D97-AF65-F5344CB8AC3E}">
        <p14:creationId xmlns:p14="http://schemas.microsoft.com/office/powerpoint/2010/main" val="33865140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36E10-602C-8B61-AB33-5C243240B1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862F7E0-F01D-5F2D-FE5F-294ED374D3AD}"/>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57DC97F6-B8B2-33DC-840E-A0AA6A814677}"/>
              </a:ext>
            </a:extLst>
          </p:cNvPr>
          <p:cNvGraphicFramePr>
            <a:graphicFrameLocks noGrp="1"/>
          </p:cNvGraphicFramePr>
          <p:nvPr>
            <p:extLst>
              <p:ext uri="{D42A27DB-BD31-4B8C-83A1-F6EECF244321}">
                <p14:modId xmlns:p14="http://schemas.microsoft.com/office/powerpoint/2010/main" val="1572352555"/>
              </p:ext>
            </p:extLst>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r>
                        <a:rPr lang="en-US" dirty="0"/>
                        <a:t>0.1</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r>
                        <a:rPr lang="en-US" dirty="0"/>
                        <a:t>0.1</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r>
                        <a:rPr lang="en-US" dirty="0"/>
                        <a:t>1</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r>
                        <a:rPr lang="en-US" dirty="0"/>
                        <a:t>Year:Site2</a:t>
                      </a:r>
                    </a:p>
                  </a:txBody>
                  <a:tcPr/>
                </a:tc>
                <a:tc>
                  <a:txBody>
                    <a:bodyPr/>
                    <a:lstStyle/>
                    <a:p>
                      <a:r>
                        <a:rPr lang="en-US" dirty="0"/>
                        <a:t>1</a:t>
                      </a:r>
                    </a:p>
                  </a:txBody>
                  <a:tcPr/>
                </a:tc>
                <a:tc>
                  <a:txBody>
                    <a:bodyPr/>
                    <a:lstStyle/>
                    <a:p>
                      <a:r>
                        <a:rPr lang="en-US" dirty="0"/>
                        <a:t>0.8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r>
                        <a:rPr lang="en-US" dirty="0"/>
                        <a:t>Year:Site3</a:t>
                      </a:r>
                    </a:p>
                  </a:txBody>
                  <a:tcPr/>
                </a:tc>
                <a:tc>
                  <a:txBody>
                    <a:bodyPr/>
                    <a:lstStyle/>
                    <a:p>
                      <a:r>
                        <a:rPr lang="en-US" dirty="0"/>
                        <a:t>-0.3</a:t>
                      </a:r>
                    </a:p>
                  </a:txBody>
                  <a:tcPr/>
                </a:tc>
                <a:tc>
                  <a:txBody>
                    <a:bodyPr/>
                    <a:lstStyle/>
                    <a:p>
                      <a:r>
                        <a:rPr lang="en-US" dirty="0"/>
                        <a:t>0.05</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12E81956-2623-60DE-7714-1725A710FF16}"/>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06331301-CF8F-2F97-320D-59186811ACB3}"/>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FD36ACB-EACB-7604-C132-F4CE41668B20}"/>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44E4B129-4B9B-D86D-5365-40FD41A8B295}"/>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D06A4DA9-42A1-7FBF-D46F-03F3F2E5C8FE}"/>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A74D2FDF-C7FC-962A-2D03-A62DFCFD09C3}"/>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2EE78A9D-9B9C-6A0F-9AA7-E528A606BEB3}"/>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868911F3-6022-FC88-851D-EA1487CC4A83}"/>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4EBDFDF7-9AED-F592-97E8-E713B0EACD0F}"/>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EFB121F7-12BF-30C8-3894-E10202D5BAF5}"/>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E1C43D2C-F0C6-040D-8A39-05763F9EC3DB}"/>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4EF6DA18-1AF8-F87C-1764-17B0793F3DBE}"/>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DA0366B7-DD3B-5AB9-A36F-BBFE661534B9}"/>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793DFAE-FC52-A5C2-1C44-B0E3121C061C}"/>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7C4478DF-E8AE-E0B6-4E81-04F0FB77BA96}"/>
              </a:ext>
            </a:extLst>
          </p:cNvPr>
          <p:cNvCxnSpPr>
            <a:cxnSpLocks/>
          </p:cNvCxnSpPr>
          <p:nvPr/>
        </p:nvCxnSpPr>
        <p:spPr>
          <a:xfrm flipV="1">
            <a:off x="6973180" y="546410"/>
            <a:ext cx="2003552" cy="371165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321FE9C-F8C0-7D4F-32AF-C4C06E1F0E66}"/>
              </a:ext>
            </a:extLst>
          </p:cNvPr>
          <p:cNvSpPr txBox="1"/>
          <p:nvPr/>
        </p:nvSpPr>
        <p:spPr>
          <a:xfrm>
            <a:off x="8367479" y="1596881"/>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1616195E-4A13-FEF3-B261-D96EEC116719}"/>
              </a:ext>
            </a:extLst>
          </p:cNvPr>
          <p:cNvCxnSpPr>
            <a:cxnSpLocks/>
          </p:cNvCxnSpPr>
          <p:nvPr/>
        </p:nvCxnSpPr>
        <p:spPr>
          <a:xfrm flipV="1">
            <a:off x="6965815" y="4114647"/>
            <a:ext cx="4319219" cy="841791"/>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FC1C065-C0F8-E624-3A23-46C9064050C0}"/>
              </a:ext>
            </a:extLst>
          </p:cNvPr>
          <p:cNvSpPr txBox="1"/>
          <p:nvPr/>
        </p:nvSpPr>
        <p:spPr>
          <a:xfrm>
            <a:off x="11368961" y="3953064"/>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4</a:t>
            </a:r>
          </a:p>
        </p:txBody>
      </p:sp>
      <p:sp>
        <p:nvSpPr>
          <p:cNvPr id="3" name="TextBox 2">
            <a:extLst>
              <a:ext uri="{FF2B5EF4-FFF2-40B4-BE49-F238E27FC236}">
                <a16:creationId xmlns:a16="http://schemas.microsoft.com/office/drawing/2014/main" id="{46E1B65F-2DF7-30F5-9CE2-A280923E8A8C}"/>
              </a:ext>
            </a:extLst>
          </p:cNvPr>
          <p:cNvSpPr txBox="1"/>
          <p:nvPr/>
        </p:nvSpPr>
        <p:spPr>
          <a:xfrm>
            <a:off x="450318" y="2233219"/>
            <a:ext cx="6188926" cy="369332"/>
          </a:xfrm>
          <a:prstGeom prst="rect">
            <a:avLst/>
          </a:prstGeom>
          <a:noFill/>
        </p:spPr>
        <p:txBody>
          <a:bodyPr wrap="square">
            <a:spAutoFit/>
          </a:bodyPr>
          <a:lstStyle/>
          <a:p>
            <a:r>
              <a:rPr lang="en-GB" dirty="0">
                <a:solidFill>
                  <a:schemeClr val="accent6">
                    <a:lumMod val="50000"/>
                  </a:schemeClr>
                </a:solidFill>
                <a:highlight>
                  <a:srgbClr val="FFFF00"/>
                </a:highlight>
                <a:latin typeface="Avenir Book" panose="02000503020000020003" pitchFamily="2" charset="0"/>
              </a:rPr>
              <a:t>How confident are we in these estimates?</a:t>
            </a:r>
            <a:endParaRPr lang="en-GB" sz="1800" dirty="0">
              <a:solidFill>
                <a:schemeClr val="accent6">
                  <a:lumMod val="50000"/>
                </a:schemeClr>
              </a:solidFill>
              <a:highlight>
                <a:srgbClr val="FFFF00"/>
              </a:highlight>
              <a:latin typeface="Avenir Book" panose="02000503020000020003" pitchFamily="2" charset="0"/>
            </a:endParaRPr>
          </a:p>
        </p:txBody>
      </p:sp>
      <p:sp>
        <p:nvSpPr>
          <p:cNvPr id="17" name="TextBox 16">
            <a:extLst>
              <a:ext uri="{FF2B5EF4-FFF2-40B4-BE49-F238E27FC236}">
                <a16:creationId xmlns:a16="http://schemas.microsoft.com/office/drawing/2014/main" id="{461E5924-5A69-B7AB-72F2-21A128E9BA3E}"/>
              </a:ext>
            </a:extLst>
          </p:cNvPr>
          <p:cNvSpPr txBox="1"/>
          <p:nvPr/>
        </p:nvSpPr>
        <p:spPr>
          <a:xfrm>
            <a:off x="602718" y="15466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36171560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37411-58E2-716D-6827-928C1C56CC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90F0011-F7BD-3A30-1FEF-A788EDA4D119}"/>
              </a:ext>
            </a:extLst>
          </p:cNvPr>
          <p:cNvSpPr txBox="1"/>
          <p:nvPr/>
        </p:nvSpPr>
        <p:spPr>
          <a:xfrm>
            <a:off x="2155655" y="1536174"/>
            <a:ext cx="7880689" cy="4401205"/>
          </a:xfrm>
          <a:prstGeom prst="rect">
            <a:avLst/>
          </a:prstGeom>
          <a:noFill/>
        </p:spPr>
        <p:txBody>
          <a:bodyPr wrap="square">
            <a:spAutoFit/>
          </a:bodyPr>
          <a:lstStyle/>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Note that the Std. Error output isn’t the best. Better to use 95% confidence intervals, which can be computed. </a:t>
            </a:r>
          </a:p>
          <a:p>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a:p>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We use </a:t>
            </a:r>
            <a:r>
              <a:rPr lang="en-GB" sz="4000" dirty="0" err="1">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confint</a:t>
            </a:r>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 or </a:t>
            </a:r>
            <a:r>
              <a:rPr lang="en-GB" sz="4000" dirty="0" err="1">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ggpredict</a:t>
            </a:r>
            <a:r>
              <a:rPr lang="en-GB" sz="4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 to do this!</a:t>
            </a:r>
            <a:endParaRPr lang="en-GB" sz="4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3958953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A07BE-0F1A-34CF-C069-105472DC8F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15E196-02A4-6549-19AA-D34910092768}"/>
              </a:ext>
            </a:extLst>
          </p:cNvPr>
          <p:cNvSpPr txBox="1"/>
          <p:nvPr/>
        </p:nvSpPr>
        <p:spPr>
          <a:xfrm>
            <a:off x="784833" y="836785"/>
            <a:ext cx="11070835" cy="4708981"/>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Before you do all this maths any time you have a model, first visualise it using </a:t>
            </a:r>
            <a:r>
              <a:rPr lang="en-GB" sz="6000" dirty="0" err="1">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ggpredict</a:t>
            </a: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 It makes things *much* easier!</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134616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269AC-F270-D8E8-3226-3042573E4C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FAE0B6-31B0-4194-4AFB-52D9EFE0FD96}"/>
              </a:ext>
            </a:extLst>
          </p:cNvPr>
          <p:cNvSpPr txBox="1"/>
          <p:nvPr/>
        </p:nvSpPr>
        <p:spPr>
          <a:xfrm>
            <a:off x="3727731" y="2413337"/>
            <a:ext cx="4736538"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Last thing…</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29809765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B7CE7-BA03-8309-79B5-AFE4215256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34A827E-484B-1D5A-421A-5BE84CB22583}"/>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60E7538C-B65D-4953-0F0E-855848F0F1C5}"/>
              </a:ext>
            </a:extLst>
          </p:cNvPr>
          <p:cNvGraphicFramePr>
            <a:graphicFrameLocks noGrp="1"/>
          </p:cNvGraphicFramePr>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r>
                        <a:rPr lang="en-US" dirty="0"/>
                        <a:t>0.1</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r>
                        <a:rPr lang="en-US" dirty="0"/>
                        <a:t>0.1</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r>
                        <a:rPr lang="en-US" dirty="0"/>
                        <a:t>1</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r>
                        <a:rPr lang="en-US" dirty="0"/>
                        <a:t>Year:Site2</a:t>
                      </a:r>
                    </a:p>
                  </a:txBody>
                  <a:tcPr/>
                </a:tc>
                <a:tc>
                  <a:txBody>
                    <a:bodyPr/>
                    <a:lstStyle/>
                    <a:p>
                      <a:r>
                        <a:rPr lang="en-US" dirty="0"/>
                        <a:t>1</a:t>
                      </a:r>
                    </a:p>
                  </a:txBody>
                  <a:tcPr/>
                </a:tc>
                <a:tc>
                  <a:txBody>
                    <a:bodyPr/>
                    <a:lstStyle/>
                    <a:p>
                      <a:r>
                        <a:rPr lang="en-US" dirty="0"/>
                        <a:t>0.8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r>
                        <a:rPr lang="en-US" dirty="0"/>
                        <a:t>Year:Site3</a:t>
                      </a:r>
                    </a:p>
                  </a:txBody>
                  <a:tcPr/>
                </a:tc>
                <a:tc>
                  <a:txBody>
                    <a:bodyPr/>
                    <a:lstStyle/>
                    <a:p>
                      <a:r>
                        <a:rPr lang="en-US" dirty="0"/>
                        <a:t>-0.3</a:t>
                      </a:r>
                    </a:p>
                  </a:txBody>
                  <a:tcPr/>
                </a:tc>
                <a:tc>
                  <a:txBody>
                    <a:bodyPr/>
                    <a:lstStyle/>
                    <a:p>
                      <a:r>
                        <a:rPr lang="en-US" dirty="0"/>
                        <a:t>0.05</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602FF52D-A8F5-4272-B694-3450791A13A3}"/>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553FBA83-E995-2A29-C65A-0F58C2FD891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5D42EAD-2E3E-0076-8C1C-77627AD16156}"/>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507AED43-9927-C4FD-44AB-C1DCE8B47C05}"/>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29873D07-1C6B-72F4-96B6-AC39D0C8B433}"/>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E007E226-FF00-6915-74EB-A17092ED5F0E}"/>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72505DDA-04C0-8C28-2631-3CEBF8122C47}"/>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F6A8A636-8825-C72C-60EA-542CA473979C}"/>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8254F6B8-D684-6FE7-487F-5E6504B32664}"/>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A96B1629-569D-34AB-A4C4-41CD19A8FAD9}"/>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1E48D7DF-BECD-6924-1839-3B5F37F9E646}"/>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8339DF70-8419-29EC-3A80-EA3F7D5225E4}"/>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FF996854-5A2F-ACBF-5AC2-30C649E448CF}"/>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A00E193-2FA4-8444-DD98-1B5B870B566B}"/>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D94E8B25-2DAF-BA88-F515-43A7E0F48642}"/>
              </a:ext>
            </a:extLst>
          </p:cNvPr>
          <p:cNvCxnSpPr>
            <a:cxnSpLocks/>
          </p:cNvCxnSpPr>
          <p:nvPr/>
        </p:nvCxnSpPr>
        <p:spPr>
          <a:xfrm flipV="1">
            <a:off x="6973180" y="546410"/>
            <a:ext cx="2003552" cy="371165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26F0D30-0BFA-A721-FE84-7236CC5228D3}"/>
              </a:ext>
            </a:extLst>
          </p:cNvPr>
          <p:cNvSpPr txBox="1"/>
          <p:nvPr/>
        </p:nvSpPr>
        <p:spPr>
          <a:xfrm>
            <a:off x="8367479" y="1596881"/>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5720EA5A-DBC6-ADBD-30DB-59F4121AE01B}"/>
              </a:ext>
            </a:extLst>
          </p:cNvPr>
          <p:cNvCxnSpPr>
            <a:cxnSpLocks/>
          </p:cNvCxnSpPr>
          <p:nvPr/>
        </p:nvCxnSpPr>
        <p:spPr>
          <a:xfrm flipV="1">
            <a:off x="6965815" y="4114647"/>
            <a:ext cx="4319219" cy="841791"/>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2FD3C16-21A4-084D-F102-4ECBDA73350D}"/>
              </a:ext>
            </a:extLst>
          </p:cNvPr>
          <p:cNvSpPr txBox="1"/>
          <p:nvPr/>
        </p:nvSpPr>
        <p:spPr>
          <a:xfrm>
            <a:off x="11368961" y="3953064"/>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4</a:t>
            </a:r>
          </a:p>
        </p:txBody>
      </p:sp>
      <p:sp>
        <p:nvSpPr>
          <p:cNvPr id="16" name="TextBox 15">
            <a:extLst>
              <a:ext uri="{FF2B5EF4-FFF2-40B4-BE49-F238E27FC236}">
                <a16:creationId xmlns:a16="http://schemas.microsoft.com/office/drawing/2014/main" id="{ADE0CA2D-51C7-BFDF-3AE6-BA2F87477D51}"/>
              </a:ext>
            </a:extLst>
          </p:cNvPr>
          <p:cNvSpPr txBox="1"/>
          <p:nvPr/>
        </p:nvSpPr>
        <p:spPr>
          <a:xfrm>
            <a:off x="5675341" y="2844169"/>
            <a:ext cx="6188926" cy="369332"/>
          </a:xfrm>
          <a:prstGeom prst="rect">
            <a:avLst/>
          </a:prstGeom>
          <a:noFill/>
        </p:spPr>
        <p:txBody>
          <a:bodyPr wrap="square">
            <a:spAutoFit/>
          </a:bodyPr>
          <a:lstStyle/>
          <a:p>
            <a:r>
              <a:rPr lang="en-GB" dirty="0">
                <a:solidFill>
                  <a:schemeClr val="accent6">
                    <a:lumMod val="50000"/>
                  </a:schemeClr>
                </a:solidFill>
                <a:highlight>
                  <a:srgbClr val="FFFF00"/>
                </a:highlight>
                <a:latin typeface="Avenir Book" panose="02000503020000020003" pitchFamily="2" charset="0"/>
              </a:rPr>
              <a:t>What’s up with the log?</a:t>
            </a:r>
            <a:endParaRPr lang="en-GB" sz="1800" dirty="0">
              <a:solidFill>
                <a:schemeClr val="accent6">
                  <a:lumMod val="50000"/>
                </a:schemeClr>
              </a:solidFill>
              <a:highlight>
                <a:srgbClr val="FFFF00"/>
              </a:highlight>
              <a:latin typeface="Avenir Book" panose="02000503020000020003" pitchFamily="2" charset="0"/>
            </a:endParaRPr>
          </a:p>
        </p:txBody>
      </p:sp>
      <p:sp>
        <p:nvSpPr>
          <p:cNvPr id="3" name="Oval 2">
            <a:extLst>
              <a:ext uri="{FF2B5EF4-FFF2-40B4-BE49-F238E27FC236}">
                <a16:creationId xmlns:a16="http://schemas.microsoft.com/office/drawing/2014/main" id="{550519AF-0E97-04F7-5BC8-90678BF43894}"/>
              </a:ext>
            </a:extLst>
          </p:cNvPr>
          <p:cNvSpPr/>
          <p:nvPr/>
        </p:nvSpPr>
        <p:spPr>
          <a:xfrm>
            <a:off x="5675341" y="3322951"/>
            <a:ext cx="888153" cy="801947"/>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5F938E2-8E22-BC94-8F8E-264A647698DC}"/>
              </a:ext>
            </a:extLst>
          </p:cNvPr>
          <p:cNvSpPr txBox="1"/>
          <p:nvPr/>
        </p:nvSpPr>
        <p:spPr>
          <a:xfrm>
            <a:off x="602718" y="15466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Tree>
    <p:extLst>
      <p:ext uri="{BB962C8B-B14F-4D97-AF65-F5344CB8AC3E}">
        <p14:creationId xmlns:p14="http://schemas.microsoft.com/office/powerpoint/2010/main" val="11112536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0692-73BE-CD25-89D2-5F84C1B11A6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FF3936-DB55-972D-49A2-117644E9B38A}"/>
              </a:ext>
            </a:extLst>
          </p:cNvPr>
          <p:cNvSpPr txBox="1"/>
          <p:nvPr/>
        </p:nvSpPr>
        <p:spPr>
          <a:xfrm>
            <a:off x="450318" y="385786"/>
            <a:ext cx="11291363" cy="1015663"/>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Interpreting your model</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aphicFrame>
        <p:nvGraphicFramePr>
          <p:cNvPr id="2" name="Table 1">
            <a:extLst>
              <a:ext uri="{FF2B5EF4-FFF2-40B4-BE49-F238E27FC236}">
                <a16:creationId xmlns:a16="http://schemas.microsoft.com/office/drawing/2014/main" id="{8A70B849-6CA4-35A9-278A-0958FAB4E0AB}"/>
              </a:ext>
            </a:extLst>
          </p:cNvPr>
          <p:cNvGraphicFramePr>
            <a:graphicFrameLocks noGrp="1"/>
          </p:cNvGraphicFramePr>
          <p:nvPr/>
        </p:nvGraphicFramePr>
        <p:xfrm>
          <a:off x="339834" y="3010921"/>
          <a:ext cx="5178100" cy="286512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3</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0.5</a:t>
                      </a:r>
                    </a:p>
                  </a:txBody>
                  <a:tcPr/>
                </a:tc>
                <a:tc>
                  <a:txBody>
                    <a:bodyPr/>
                    <a:lstStyle/>
                    <a:p>
                      <a:r>
                        <a:rPr lang="en-US" dirty="0"/>
                        <a:t>0.1</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r h="370840">
                <a:tc>
                  <a:txBody>
                    <a:bodyPr/>
                    <a:lstStyle/>
                    <a:p>
                      <a:r>
                        <a:rPr lang="en-US" dirty="0"/>
                        <a:t>Site2</a:t>
                      </a:r>
                    </a:p>
                  </a:txBody>
                  <a:tcPr/>
                </a:tc>
                <a:tc>
                  <a:txBody>
                    <a:bodyPr/>
                    <a:lstStyle/>
                    <a:p>
                      <a:r>
                        <a:rPr lang="en-US" dirty="0"/>
                        <a:t>-1</a:t>
                      </a:r>
                    </a:p>
                  </a:txBody>
                  <a:tcPr/>
                </a:tc>
                <a:tc>
                  <a:txBody>
                    <a:bodyPr/>
                    <a:lstStyle/>
                    <a:p>
                      <a:r>
                        <a:rPr lang="en-US" dirty="0"/>
                        <a:t>0.1</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27657476"/>
                  </a:ext>
                </a:extLst>
              </a:tr>
              <a:tr h="370840">
                <a:tc>
                  <a:txBody>
                    <a:bodyPr/>
                    <a:lstStyle/>
                    <a:p>
                      <a:r>
                        <a:rPr lang="en-US" dirty="0"/>
                        <a:t>Site3</a:t>
                      </a:r>
                    </a:p>
                  </a:txBody>
                  <a:tcPr/>
                </a:tc>
                <a:tc>
                  <a:txBody>
                    <a:bodyPr/>
                    <a:lstStyle/>
                    <a:p>
                      <a:r>
                        <a:rPr lang="en-US" dirty="0"/>
                        <a:t>-2</a:t>
                      </a:r>
                    </a:p>
                  </a:txBody>
                  <a:tcPr/>
                </a:tc>
                <a:tc>
                  <a:txBody>
                    <a:bodyPr/>
                    <a:lstStyle/>
                    <a:p>
                      <a:r>
                        <a:rPr lang="en-US" dirty="0"/>
                        <a:t>1</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68024722"/>
                  </a:ext>
                </a:extLst>
              </a:tr>
              <a:tr h="370840">
                <a:tc>
                  <a:txBody>
                    <a:bodyPr/>
                    <a:lstStyle/>
                    <a:p>
                      <a:r>
                        <a:rPr lang="en-US" dirty="0"/>
                        <a:t>Year:Site2</a:t>
                      </a:r>
                    </a:p>
                  </a:txBody>
                  <a:tcPr/>
                </a:tc>
                <a:tc>
                  <a:txBody>
                    <a:bodyPr/>
                    <a:lstStyle/>
                    <a:p>
                      <a:r>
                        <a:rPr lang="en-US" dirty="0"/>
                        <a:t>1</a:t>
                      </a:r>
                    </a:p>
                  </a:txBody>
                  <a:tcPr/>
                </a:tc>
                <a:tc>
                  <a:txBody>
                    <a:bodyPr/>
                    <a:lstStyle/>
                    <a:p>
                      <a:r>
                        <a:rPr lang="en-US" dirty="0"/>
                        <a:t>0.8</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94283738"/>
                  </a:ext>
                </a:extLst>
              </a:tr>
              <a:tr h="370840">
                <a:tc>
                  <a:txBody>
                    <a:bodyPr/>
                    <a:lstStyle/>
                    <a:p>
                      <a:r>
                        <a:rPr lang="en-US" dirty="0"/>
                        <a:t>Year:Site3</a:t>
                      </a:r>
                    </a:p>
                  </a:txBody>
                  <a:tcPr/>
                </a:tc>
                <a:tc>
                  <a:txBody>
                    <a:bodyPr/>
                    <a:lstStyle/>
                    <a:p>
                      <a:r>
                        <a:rPr lang="en-US" dirty="0"/>
                        <a:t>-0.3</a:t>
                      </a:r>
                    </a:p>
                  </a:txBody>
                  <a:tcPr/>
                </a:tc>
                <a:tc>
                  <a:txBody>
                    <a:bodyPr/>
                    <a:lstStyle/>
                    <a:p>
                      <a:r>
                        <a:rPr lang="en-US" dirty="0"/>
                        <a:t>0.05</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40778751"/>
                  </a:ext>
                </a:extLst>
              </a:tr>
            </a:tbl>
          </a:graphicData>
        </a:graphic>
      </p:graphicFrame>
      <p:grpSp>
        <p:nvGrpSpPr>
          <p:cNvPr id="7" name="Group 6">
            <a:extLst>
              <a:ext uri="{FF2B5EF4-FFF2-40B4-BE49-F238E27FC236}">
                <a16:creationId xmlns:a16="http://schemas.microsoft.com/office/drawing/2014/main" id="{0986C327-86D1-25B3-6AA2-D08A04497D1B}"/>
              </a:ext>
            </a:extLst>
          </p:cNvPr>
          <p:cNvGrpSpPr/>
          <p:nvPr/>
        </p:nvGrpSpPr>
        <p:grpSpPr>
          <a:xfrm>
            <a:off x="6958452" y="2044000"/>
            <a:ext cx="4483682" cy="3438144"/>
            <a:chOff x="1402080" y="2616948"/>
            <a:chExt cx="9851136" cy="3438144"/>
          </a:xfrm>
        </p:grpSpPr>
        <p:cxnSp>
          <p:nvCxnSpPr>
            <p:cNvPr id="8" name="Straight Arrow Connector 7">
              <a:extLst>
                <a:ext uri="{FF2B5EF4-FFF2-40B4-BE49-F238E27FC236}">
                  <a16:creationId xmlns:a16="http://schemas.microsoft.com/office/drawing/2014/main" id="{A7B3C992-F223-CC71-786F-A13AC608FD06}"/>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35EFD4B-B928-FBB2-FA81-C3383CBCAAE6}"/>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7C6F07A2-BF56-1318-58FA-6372285C9497}"/>
              </a:ext>
            </a:extLst>
          </p:cNvPr>
          <p:cNvSpPr txBox="1"/>
          <p:nvPr/>
        </p:nvSpPr>
        <p:spPr>
          <a:xfrm>
            <a:off x="9078002" y="6028953"/>
            <a:ext cx="1716121"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11" name="TextBox 10">
            <a:extLst>
              <a:ext uri="{FF2B5EF4-FFF2-40B4-BE49-F238E27FC236}">
                <a16:creationId xmlns:a16="http://schemas.microsoft.com/office/drawing/2014/main" id="{8C4F6D06-E31E-058D-D1B2-38A1A7A49025}"/>
              </a:ext>
            </a:extLst>
          </p:cNvPr>
          <p:cNvSpPr txBox="1"/>
          <p:nvPr/>
        </p:nvSpPr>
        <p:spPr>
          <a:xfrm>
            <a:off x="5363849" y="3424802"/>
            <a:ext cx="1148736" cy="553998"/>
          </a:xfrm>
          <a:prstGeom prst="rect">
            <a:avLst/>
          </a:prstGeom>
          <a:noFill/>
        </p:spPr>
        <p:txBody>
          <a:bodyPr wrap="square">
            <a:spAutoFit/>
          </a:bodyPr>
          <a:lstStyle/>
          <a:p>
            <a:pPr algn="r"/>
            <a:r>
              <a:rPr lang="en-US" sz="1500" dirty="0">
                <a:solidFill>
                  <a:schemeClr val="accent6">
                    <a:lumMod val="50000"/>
                  </a:schemeClr>
                </a:solidFill>
                <a:latin typeface="Avenir Book" panose="02000503020000020003" pitchFamily="2" charset="0"/>
              </a:rPr>
              <a:t>log</a:t>
            </a:r>
          </a:p>
          <a:p>
            <a:pPr algn="r"/>
            <a:r>
              <a:rPr lang="en-US" sz="1500" dirty="0">
                <a:solidFill>
                  <a:schemeClr val="accent6">
                    <a:lumMod val="50000"/>
                  </a:schemeClr>
                </a:solidFill>
                <a:latin typeface="Avenir Book" panose="02000503020000020003" pitchFamily="2" charset="0"/>
              </a:rPr>
              <a:t>(Count)</a:t>
            </a:r>
          </a:p>
        </p:txBody>
      </p:sp>
      <p:sp>
        <p:nvSpPr>
          <p:cNvPr id="23" name="TextBox 22">
            <a:extLst>
              <a:ext uri="{FF2B5EF4-FFF2-40B4-BE49-F238E27FC236}">
                <a16:creationId xmlns:a16="http://schemas.microsoft.com/office/drawing/2014/main" id="{0EF964A4-FE2D-93CF-69C5-2403900E4EB0}"/>
              </a:ext>
            </a:extLst>
          </p:cNvPr>
          <p:cNvSpPr txBox="1"/>
          <p:nvPr/>
        </p:nvSpPr>
        <p:spPr>
          <a:xfrm>
            <a:off x="6737131" y="54799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24" name="TextBox 23">
            <a:extLst>
              <a:ext uri="{FF2B5EF4-FFF2-40B4-BE49-F238E27FC236}">
                <a16:creationId xmlns:a16="http://schemas.microsoft.com/office/drawing/2014/main" id="{7BE94DA2-8872-6942-DA1C-3F46BE5DC20B}"/>
              </a:ext>
            </a:extLst>
          </p:cNvPr>
          <p:cNvSpPr txBox="1"/>
          <p:nvPr/>
        </p:nvSpPr>
        <p:spPr>
          <a:xfrm>
            <a:off x="6523095" y="219355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25" name="TextBox 24">
            <a:extLst>
              <a:ext uri="{FF2B5EF4-FFF2-40B4-BE49-F238E27FC236}">
                <a16:creationId xmlns:a16="http://schemas.microsoft.com/office/drawing/2014/main" id="{DBDF607E-C101-8F9E-9AE3-0903B81688D8}"/>
              </a:ext>
            </a:extLst>
          </p:cNvPr>
          <p:cNvSpPr txBox="1"/>
          <p:nvPr/>
        </p:nvSpPr>
        <p:spPr>
          <a:xfrm>
            <a:off x="6523095" y="475501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26" name="TextBox 25">
            <a:extLst>
              <a:ext uri="{FF2B5EF4-FFF2-40B4-BE49-F238E27FC236}">
                <a16:creationId xmlns:a16="http://schemas.microsoft.com/office/drawing/2014/main" id="{16C95B64-6F19-A25D-BC94-DCDE915068EE}"/>
              </a:ext>
            </a:extLst>
          </p:cNvPr>
          <p:cNvSpPr txBox="1"/>
          <p:nvPr/>
        </p:nvSpPr>
        <p:spPr>
          <a:xfrm>
            <a:off x="6523095" y="411464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7" name="TextBox 26">
            <a:extLst>
              <a:ext uri="{FF2B5EF4-FFF2-40B4-BE49-F238E27FC236}">
                <a16:creationId xmlns:a16="http://schemas.microsoft.com/office/drawing/2014/main" id="{533EA9F0-BB39-7DA0-44ED-0D30D239D62D}"/>
              </a:ext>
            </a:extLst>
          </p:cNvPr>
          <p:cNvSpPr txBox="1"/>
          <p:nvPr/>
        </p:nvSpPr>
        <p:spPr>
          <a:xfrm>
            <a:off x="6523095" y="347428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8" name="TextBox 27">
            <a:extLst>
              <a:ext uri="{FF2B5EF4-FFF2-40B4-BE49-F238E27FC236}">
                <a16:creationId xmlns:a16="http://schemas.microsoft.com/office/drawing/2014/main" id="{A4AB336B-CD2F-E70D-3F6F-4D01A8E4C7BB}"/>
              </a:ext>
            </a:extLst>
          </p:cNvPr>
          <p:cNvSpPr txBox="1"/>
          <p:nvPr/>
        </p:nvSpPr>
        <p:spPr>
          <a:xfrm>
            <a:off x="6523095" y="283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30" name="TextBox 29">
            <a:extLst>
              <a:ext uri="{FF2B5EF4-FFF2-40B4-BE49-F238E27FC236}">
                <a16:creationId xmlns:a16="http://schemas.microsoft.com/office/drawing/2014/main" id="{6EF13C47-B2CE-086B-4FD7-592F1A75250C}"/>
              </a:ext>
            </a:extLst>
          </p:cNvPr>
          <p:cNvSpPr txBox="1"/>
          <p:nvPr/>
        </p:nvSpPr>
        <p:spPr>
          <a:xfrm>
            <a:off x="7498265" y="5556044"/>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cxnSp>
        <p:nvCxnSpPr>
          <p:cNvPr id="12" name="Straight Connector 11">
            <a:extLst>
              <a:ext uri="{FF2B5EF4-FFF2-40B4-BE49-F238E27FC236}">
                <a16:creationId xmlns:a16="http://schemas.microsoft.com/office/drawing/2014/main" id="{14F8106D-4D1A-E16F-6E8C-FF8AAE4331A8}"/>
              </a:ext>
            </a:extLst>
          </p:cNvPr>
          <p:cNvCxnSpPr>
            <a:cxnSpLocks/>
          </p:cNvCxnSpPr>
          <p:nvPr/>
        </p:nvCxnSpPr>
        <p:spPr>
          <a:xfrm flipV="1">
            <a:off x="6958452" y="1714773"/>
            <a:ext cx="4209643" cy="1921092"/>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B2BD261-F35C-5B6E-30B5-51D02C4DC093}"/>
              </a:ext>
            </a:extLst>
          </p:cNvPr>
          <p:cNvSpPr txBox="1"/>
          <p:nvPr/>
        </p:nvSpPr>
        <p:spPr>
          <a:xfrm>
            <a:off x="10485558" y="2031972"/>
            <a:ext cx="3001482" cy="323165"/>
          </a:xfrm>
          <a:prstGeom prst="rect">
            <a:avLst/>
          </a:prstGeom>
          <a:noFill/>
        </p:spPr>
        <p:txBody>
          <a:bodyPr wrap="square">
            <a:spAutoFit/>
          </a:bodyPr>
          <a:lstStyle/>
          <a:p>
            <a:r>
              <a:rPr lang="en-GB" sz="1500" dirty="0">
                <a:solidFill>
                  <a:srgbClr val="548235"/>
                </a:solidFill>
                <a:latin typeface="Avenir Book" panose="02000503020000020003" pitchFamily="2" charset="0"/>
              </a:rPr>
              <a:t>Site 1</a:t>
            </a:r>
          </a:p>
        </p:txBody>
      </p:sp>
      <p:cxnSp>
        <p:nvCxnSpPr>
          <p:cNvPr id="6" name="Straight Connector 5">
            <a:extLst>
              <a:ext uri="{FF2B5EF4-FFF2-40B4-BE49-F238E27FC236}">
                <a16:creationId xmlns:a16="http://schemas.microsoft.com/office/drawing/2014/main" id="{50F3109C-BEAA-0046-330A-5EF7A16FC005}"/>
              </a:ext>
            </a:extLst>
          </p:cNvPr>
          <p:cNvCxnSpPr>
            <a:cxnSpLocks/>
          </p:cNvCxnSpPr>
          <p:nvPr/>
        </p:nvCxnSpPr>
        <p:spPr>
          <a:xfrm flipV="1">
            <a:off x="6973180" y="546410"/>
            <a:ext cx="2003552" cy="371165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82E4ABB-750E-6860-EC0C-27FFE92B5C47}"/>
              </a:ext>
            </a:extLst>
          </p:cNvPr>
          <p:cNvSpPr txBox="1"/>
          <p:nvPr/>
        </p:nvSpPr>
        <p:spPr>
          <a:xfrm>
            <a:off x="8367479" y="1596881"/>
            <a:ext cx="3001482" cy="323165"/>
          </a:xfrm>
          <a:prstGeom prst="rect">
            <a:avLst/>
          </a:prstGeom>
          <a:noFill/>
        </p:spPr>
        <p:txBody>
          <a:bodyPr wrap="square">
            <a:spAutoFit/>
          </a:bodyPr>
          <a:lstStyle/>
          <a:p>
            <a:r>
              <a:rPr lang="en-GB" sz="1500" dirty="0">
                <a:solidFill>
                  <a:srgbClr val="00B0F0"/>
                </a:solidFill>
                <a:latin typeface="Avenir Book" panose="02000503020000020003" pitchFamily="2" charset="0"/>
              </a:rPr>
              <a:t>Site 2</a:t>
            </a:r>
          </a:p>
        </p:txBody>
      </p:sp>
      <p:cxnSp>
        <p:nvCxnSpPr>
          <p:cNvPr id="13" name="Straight Connector 12">
            <a:extLst>
              <a:ext uri="{FF2B5EF4-FFF2-40B4-BE49-F238E27FC236}">
                <a16:creationId xmlns:a16="http://schemas.microsoft.com/office/drawing/2014/main" id="{7930FF84-CC8F-5187-48E1-91A4EF13022D}"/>
              </a:ext>
            </a:extLst>
          </p:cNvPr>
          <p:cNvCxnSpPr>
            <a:cxnSpLocks/>
          </p:cNvCxnSpPr>
          <p:nvPr/>
        </p:nvCxnSpPr>
        <p:spPr>
          <a:xfrm flipV="1">
            <a:off x="6965815" y="4114647"/>
            <a:ext cx="4319219" cy="841791"/>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8524D6A-2C81-6AEF-B588-075D45BB218D}"/>
              </a:ext>
            </a:extLst>
          </p:cNvPr>
          <p:cNvSpPr txBox="1"/>
          <p:nvPr/>
        </p:nvSpPr>
        <p:spPr>
          <a:xfrm>
            <a:off x="11368961" y="3953064"/>
            <a:ext cx="3001482" cy="323165"/>
          </a:xfrm>
          <a:prstGeom prst="rect">
            <a:avLst/>
          </a:prstGeom>
          <a:noFill/>
        </p:spPr>
        <p:txBody>
          <a:bodyPr wrap="square">
            <a:spAutoFit/>
          </a:bodyPr>
          <a:lstStyle/>
          <a:p>
            <a:r>
              <a:rPr lang="en-GB" sz="1500" dirty="0">
                <a:solidFill>
                  <a:srgbClr val="C09100"/>
                </a:solidFill>
                <a:latin typeface="Avenir Book" panose="02000503020000020003" pitchFamily="2" charset="0"/>
              </a:rPr>
              <a:t>Site 4</a:t>
            </a:r>
          </a:p>
        </p:txBody>
      </p:sp>
      <p:sp>
        <p:nvSpPr>
          <p:cNvPr id="16" name="TextBox 15">
            <a:extLst>
              <a:ext uri="{FF2B5EF4-FFF2-40B4-BE49-F238E27FC236}">
                <a16:creationId xmlns:a16="http://schemas.microsoft.com/office/drawing/2014/main" id="{26DD7A73-A38C-52EA-A46C-DC243D3A6D44}"/>
              </a:ext>
            </a:extLst>
          </p:cNvPr>
          <p:cNvSpPr txBox="1"/>
          <p:nvPr/>
        </p:nvSpPr>
        <p:spPr>
          <a:xfrm>
            <a:off x="5675341" y="2844169"/>
            <a:ext cx="6188926" cy="369332"/>
          </a:xfrm>
          <a:prstGeom prst="rect">
            <a:avLst/>
          </a:prstGeom>
          <a:noFill/>
        </p:spPr>
        <p:txBody>
          <a:bodyPr wrap="square">
            <a:spAutoFit/>
          </a:bodyPr>
          <a:lstStyle/>
          <a:p>
            <a:r>
              <a:rPr lang="en-GB" dirty="0">
                <a:solidFill>
                  <a:schemeClr val="accent6">
                    <a:lumMod val="50000"/>
                  </a:schemeClr>
                </a:solidFill>
                <a:highlight>
                  <a:srgbClr val="FFFF00"/>
                </a:highlight>
                <a:latin typeface="Avenir Book" panose="02000503020000020003" pitchFamily="2" charset="0"/>
              </a:rPr>
              <a:t>What’s up with the log?</a:t>
            </a:r>
            <a:endParaRPr lang="en-GB" sz="1800" dirty="0">
              <a:solidFill>
                <a:schemeClr val="accent6">
                  <a:lumMod val="50000"/>
                </a:schemeClr>
              </a:solidFill>
              <a:highlight>
                <a:srgbClr val="FFFF00"/>
              </a:highlight>
              <a:latin typeface="Avenir Book" panose="02000503020000020003" pitchFamily="2" charset="0"/>
            </a:endParaRPr>
          </a:p>
        </p:txBody>
      </p:sp>
      <p:sp>
        <p:nvSpPr>
          <p:cNvPr id="3" name="Oval 2">
            <a:extLst>
              <a:ext uri="{FF2B5EF4-FFF2-40B4-BE49-F238E27FC236}">
                <a16:creationId xmlns:a16="http://schemas.microsoft.com/office/drawing/2014/main" id="{F54BB3E0-8D7B-7747-5931-46F8746A0A52}"/>
              </a:ext>
            </a:extLst>
          </p:cNvPr>
          <p:cNvSpPr/>
          <p:nvPr/>
        </p:nvSpPr>
        <p:spPr>
          <a:xfrm>
            <a:off x="5675341" y="3322951"/>
            <a:ext cx="888153" cy="801947"/>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73E492F-9A63-0ACB-CCD0-838475E21633}"/>
              </a:ext>
            </a:extLst>
          </p:cNvPr>
          <p:cNvSpPr txBox="1"/>
          <p:nvPr/>
        </p:nvSpPr>
        <p:spPr>
          <a:xfrm>
            <a:off x="602718" y="1546688"/>
            <a:ext cx="6188926" cy="369332"/>
          </a:xfrm>
          <a:prstGeom prst="rect">
            <a:avLst/>
          </a:prstGeom>
          <a:noFill/>
        </p:spPr>
        <p:txBody>
          <a:bodyPr wrap="square">
            <a:spAutoFit/>
          </a:bodyPr>
          <a:lstStyle/>
          <a:p>
            <a:r>
              <a:rPr lang="en-GB" dirty="0" err="1">
                <a:solidFill>
                  <a:schemeClr val="accent6">
                    <a:lumMod val="50000"/>
                  </a:schemeClr>
                </a:solidFill>
                <a:latin typeface="Avenir Book" panose="02000503020000020003" pitchFamily="2" charset="0"/>
              </a:rPr>
              <a:t>g</a:t>
            </a:r>
            <a:r>
              <a:rPr lang="en-GB" sz="1800" dirty="0" err="1">
                <a:solidFill>
                  <a:schemeClr val="accent6">
                    <a:lumMod val="50000"/>
                  </a:schemeClr>
                </a:solidFill>
                <a:latin typeface="Avenir Book" panose="02000503020000020003" pitchFamily="2" charset="0"/>
              </a:rPr>
              <a:t>lm</a:t>
            </a:r>
            <a:r>
              <a:rPr lang="en-GB" sz="1800" dirty="0">
                <a:solidFill>
                  <a:schemeClr val="accent6">
                    <a:lumMod val="50000"/>
                  </a:schemeClr>
                </a:solidFill>
                <a:latin typeface="Avenir Book" panose="02000503020000020003" pitchFamily="2" charset="0"/>
              </a:rPr>
              <a:t>(Count ~ Year </a:t>
            </a:r>
            <a:r>
              <a:rPr lang="en-GB" dirty="0">
                <a:solidFill>
                  <a:schemeClr val="accent6">
                    <a:lumMod val="50000"/>
                  </a:schemeClr>
                </a:solidFill>
                <a:latin typeface="Avenir Book" panose="02000503020000020003" pitchFamily="2" charset="0"/>
              </a:rPr>
              <a:t>*</a:t>
            </a:r>
            <a:r>
              <a:rPr lang="en-GB" sz="1800" dirty="0">
                <a:solidFill>
                  <a:schemeClr val="accent6">
                    <a:lumMod val="50000"/>
                  </a:schemeClr>
                </a:solidFill>
                <a:latin typeface="Avenir Book" panose="02000503020000020003" pitchFamily="2" charset="0"/>
              </a:rPr>
              <a:t> Site, family = “</a:t>
            </a:r>
            <a:r>
              <a:rPr lang="en-GB" sz="1800" dirty="0" err="1">
                <a:solidFill>
                  <a:schemeClr val="accent6">
                    <a:lumMod val="50000"/>
                  </a:schemeClr>
                </a:solidFill>
                <a:latin typeface="Avenir Book" panose="02000503020000020003" pitchFamily="2" charset="0"/>
              </a:rPr>
              <a:t>poisson</a:t>
            </a:r>
            <a:r>
              <a:rPr lang="en-GB" sz="1800" dirty="0">
                <a:solidFill>
                  <a:schemeClr val="accent6">
                    <a:lumMod val="50000"/>
                  </a:schemeClr>
                </a:solidFill>
                <a:latin typeface="Avenir Book" panose="02000503020000020003" pitchFamily="2" charset="0"/>
              </a:rPr>
              <a:t>”)</a:t>
            </a:r>
          </a:p>
        </p:txBody>
      </p:sp>
      <p:sp>
        <p:nvSpPr>
          <p:cNvPr id="18" name="Oval 17">
            <a:extLst>
              <a:ext uri="{FF2B5EF4-FFF2-40B4-BE49-F238E27FC236}">
                <a16:creationId xmlns:a16="http://schemas.microsoft.com/office/drawing/2014/main" id="{404E2876-E880-E34C-0B30-1E08E51202F8}"/>
              </a:ext>
            </a:extLst>
          </p:cNvPr>
          <p:cNvSpPr/>
          <p:nvPr/>
        </p:nvSpPr>
        <p:spPr>
          <a:xfrm>
            <a:off x="4043546" y="1446825"/>
            <a:ext cx="1190003" cy="569058"/>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22942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7491B-E409-EBFA-1D51-A56EB9B185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6F5EBE-48D1-540A-4790-8AD6019A437B}"/>
              </a:ext>
            </a:extLst>
          </p:cNvPr>
          <p:cNvSpPr txBox="1"/>
          <p:nvPr/>
        </p:nvSpPr>
        <p:spPr>
          <a:xfrm>
            <a:off x="7092483" y="2209094"/>
            <a:ext cx="4736538" cy="1938992"/>
          </a:xfrm>
          <a:prstGeom prst="rect">
            <a:avLst/>
          </a:prstGeom>
          <a:noFill/>
        </p:spPr>
        <p:txBody>
          <a:bodyPr wrap="square">
            <a:spAutoFit/>
          </a:bodyPr>
          <a:lstStyle/>
          <a:p>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Is the same as…</a:t>
            </a: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grpSp>
        <p:nvGrpSpPr>
          <p:cNvPr id="3" name="Group 2">
            <a:extLst>
              <a:ext uri="{FF2B5EF4-FFF2-40B4-BE49-F238E27FC236}">
                <a16:creationId xmlns:a16="http://schemas.microsoft.com/office/drawing/2014/main" id="{1830C1DD-9DA8-3D9C-7DDE-ED3C6F5238B4}"/>
              </a:ext>
            </a:extLst>
          </p:cNvPr>
          <p:cNvGrpSpPr/>
          <p:nvPr/>
        </p:nvGrpSpPr>
        <p:grpSpPr>
          <a:xfrm>
            <a:off x="1235689" y="1512136"/>
            <a:ext cx="4483682" cy="3438144"/>
            <a:chOff x="1402080" y="2616948"/>
            <a:chExt cx="9851136" cy="3438144"/>
          </a:xfrm>
        </p:grpSpPr>
        <p:cxnSp>
          <p:nvCxnSpPr>
            <p:cNvPr id="4" name="Straight Arrow Connector 3">
              <a:extLst>
                <a:ext uri="{FF2B5EF4-FFF2-40B4-BE49-F238E27FC236}">
                  <a16:creationId xmlns:a16="http://schemas.microsoft.com/office/drawing/2014/main" id="{EE42C045-5E55-6331-0C90-236903B7893B}"/>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87C622F9-55F5-3203-12A3-42CAC3D3990D}"/>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98A7C306-5025-F1BD-A671-4BFF5FBFBF4E}"/>
              </a:ext>
            </a:extLst>
          </p:cNvPr>
          <p:cNvSpPr txBox="1"/>
          <p:nvPr/>
        </p:nvSpPr>
        <p:spPr>
          <a:xfrm>
            <a:off x="3002053" y="5305768"/>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7" name="TextBox 6">
            <a:extLst>
              <a:ext uri="{FF2B5EF4-FFF2-40B4-BE49-F238E27FC236}">
                <a16:creationId xmlns:a16="http://schemas.microsoft.com/office/drawing/2014/main" id="{002EF8C3-4B33-C04D-5F14-C6D8B54EDF2A}"/>
              </a:ext>
            </a:extLst>
          </p:cNvPr>
          <p:cNvSpPr txBox="1"/>
          <p:nvPr/>
        </p:nvSpPr>
        <p:spPr>
          <a:xfrm>
            <a:off x="13430" y="3101607"/>
            <a:ext cx="1148736" cy="553998"/>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log</a:t>
            </a:r>
          </a:p>
          <a:p>
            <a:r>
              <a:rPr lang="en-US" sz="1500" dirty="0">
                <a:solidFill>
                  <a:schemeClr val="accent6">
                    <a:lumMod val="50000"/>
                  </a:schemeClr>
                </a:solidFill>
                <a:latin typeface="Avenir Book" panose="02000503020000020003" pitchFamily="2" charset="0"/>
              </a:rPr>
              <a:t>(Count)</a:t>
            </a:r>
          </a:p>
        </p:txBody>
      </p:sp>
      <p:cxnSp>
        <p:nvCxnSpPr>
          <p:cNvPr id="8" name="Straight Connector 7">
            <a:extLst>
              <a:ext uri="{FF2B5EF4-FFF2-40B4-BE49-F238E27FC236}">
                <a16:creationId xmlns:a16="http://schemas.microsoft.com/office/drawing/2014/main" id="{5AC9C633-8F60-6EF8-4383-794D1C48AC97}"/>
              </a:ext>
            </a:extLst>
          </p:cNvPr>
          <p:cNvCxnSpPr>
            <a:cxnSpLocks/>
          </p:cNvCxnSpPr>
          <p:nvPr/>
        </p:nvCxnSpPr>
        <p:spPr>
          <a:xfrm flipV="1">
            <a:off x="1242461" y="1811253"/>
            <a:ext cx="3643786" cy="2654156"/>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B5936565-F6C8-FCB5-A808-DF3DA6053A3B}"/>
              </a:ext>
            </a:extLst>
          </p:cNvPr>
          <p:cNvSpPr/>
          <p:nvPr/>
        </p:nvSpPr>
        <p:spPr>
          <a:xfrm>
            <a:off x="2340839" y="422594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413152B-9E0F-8DC0-D889-4BC198E08EB1}"/>
              </a:ext>
            </a:extLst>
          </p:cNvPr>
          <p:cNvSpPr/>
          <p:nvPr/>
        </p:nvSpPr>
        <p:spPr>
          <a:xfrm>
            <a:off x="3467376" y="190108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1F3C65D-BD2E-ACE2-6C1D-EF0908F85750}"/>
              </a:ext>
            </a:extLst>
          </p:cNvPr>
          <p:cNvSpPr/>
          <p:nvPr/>
        </p:nvSpPr>
        <p:spPr>
          <a:xfrm>
            <a:off x="3002053" y="299732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53CF362-26B7-3DBD-FEB2-AB9CADBCF678}"/>
              </a:ext>
            </a:extLst>
          </p:cNvPr>
          <p:cNvSpPr/>
          <p:nvPr/>
        </p:nvSpPr>
        <p:spPr>
          <a:xfrm>
            <a:off x="3981810" y="266662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A893444-0C5B-DE8C-9EB7-5A741A7A2A31}"/>
              </a:ext>
            </a:extLst>
          </p:cNvPr>
          <p:cNvSpPr/>
          <p:nvPr/>
        </p:nvSpPr>
        <p:spPr>
          <a:xfrm>
            <a:off x="3293930" y="337860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0320DAB-E8AA-1BCF-51E5-D731B8F6FEE1}"/>
              </a:ext>
            </a:extLst>
          </p:cNvPr>
          <p:cNvSpPr/>
          <p:nvPr/>
        </p:nvSpPr>
        <p:spPr>
          <a:xfrm>
            <a:off x="4696125" y="128726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5940B86-A486-1D6F-D16A-5978FD16FAD3}"/>
              </a:ext>
            </a:extLst>
          </p:cNvPr>
          <p:cNvSpPr/>
          <p:nvPr/>
        </p:nvSpPr>
        <p:spPr>
          <a:xfrm>
            <a:off x="4630737" y="228484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016F10D-EBC2-6C0B-BEA7-91F0E21EA106}"/>
              </a:ext>
            </a:extLst>
          </p:cNvPr>
          <p:cNvSpPr txBox="1"/>
          <p:nvPr/>
        </p:nvSpPr>
        <p:spPr>
          <a:xfrm>
            <a:off x="918817" y="5022158"/>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17" name="TextBox 16">
            <a:extLst>
              <a:ext uri="{FF2B5EF4-FFF2-40B4-BE49-F238E27FC236}">
                <a16:creationId xmlns:a16="http://schemas.microsoft.com/office/drawing/2014/main" id="{2A5AA11C-FE5B-CAD5-D4E7-21366A98D8CB}"/>
              </a:ext>
            </a:extLst>
          </p:cNvPr>
          <p:cNvSpPr txBox="1"/>
          <p:nvPr/>
        </p:nvSpPr>
        <p:spPr>
          <a:xfrm>
            <a:off x="881445" y="1736280"/>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18" name="TextBox 17">
            <a:extLst>
              <a:ext uri="{FF2B5EF4-FFF2-40B4-BE49-F238E27FC236}">
                <a16:creationId xmlns:a16="http://schemas.microsoft.com/office/drawing/2014/main" id="{2FFB06E8-1E35-93DD-B6A3-6B7F9DBFD21A}"/>
              </a:ext>
            </a:extLst>
          </p:cNvPr>
          <p:cNvSpPr txBox="1"/>
          <p:nvPr/>
        </p:nvSpPr>
        <p:spPr>
          <a:xfrm>
            <a:off x="881445" y="4297736"/>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19" name="TextBox 18">
            <a:extLst>
              <a:ext uri="{FF2B5EF4-FFF2-40B4-BE49-F238E27FC236}">
                <a16:creationId xmlns:a16="http://schemas.microsoft.com/office/drawing/2014/main" id="{ECF00972-22FA-D2B9-668B-692ACA752475}"/>
              </a:ext>
            </a:extLst>
          </p:cNvPr>
          <p:cNvSpPr txBox="1"/>
          <p:nvPr/>
        </p:nvSpPr>
        <p:spPr>
          <a:xfrm>
            <a:off x="881445" y="365737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23" name="TextBox 22">
            <a:extLst>
              <a:ext uri="{FF2B5EF4-FFF2-40B4-BE49-F238E27FC236}">
                <a16:creationId xmlns:a16="http://schemas.microsoft.com/office/drawing/2014/main" id="{BB34C67D-4A01-8269-6750-9B089E654834}"/>
              </a:ext>
            </a:extLst>
          </p:cNvPr>
          <p:cNvSpPr txBox="1"/>
          <p:nvPr/>
        </p:nvSpPr>
        <p:spPr>
          <a:xfrm>
            <a:off x="881445" y="3017008"/>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24" name="TextBox 23">
            <a:extLst>
              <a:ext uri="{FF2B5EF4-FFF2-40B4-BE49-F238E27FC236}">
                <a16:creationId xmlns:a16="http://schemas.microsoft.com/office/drawing/2014/main" id="{76A4454C-0BD3-E33E-FD17-6E416D3F5C0D}"/>
              </a:ext>
            </a:extLst>
          </p:cNvPr>
          <p:cNvSpPr txBox="1"/>
          <p:nvPr/>
        </p:nvSpPr>
        <p:spPr>
          <a:xfrm>
            <a:off x="881445" y="237664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25" name="Oval 24">
            <a:extLst>
              <a:ext uri="{FF2B5EF4-FFF2-40B4-BE49-F238E27FC236}">
                <a16:creationId xmlns:a16="http://schemas.microsoft.com/office/drawing/2014/main" id="{6B70E7D6-60D3-257B-86CB-31DE237EE831}"/>
              </a:ext>
            </a:extLst>
          </p:cNvPr>
          <p:cNvSpPr/>
          <p:nvPr/>
        </p:nvSpPr>
        <p:spPr>
          <a:xfrm>
            <a:off x="1696257" y="366946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991DA539-E666-43F4-4300-AAD7A560C0D1}"/>
              </a:ext>
            </a:extLst>
          </p:cNvPr>
          <p:cNvSpPr/>
          <p:nvPr/>
        </p:nvSpPr>
        <p:spPr>
          <a:xfrm>
            <a:off x="2219953" y="319696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4562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2C95E-FCE6-E214-8FD6-BFD4291EE25D}"/>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D48A70BA-C3EA-F8B0-12A9-F2F83EF280D8}"/>
              </a:ext>
            </a:extLst>
          </p:cNvPr>
          <p:cNvGrpSpPr/>
          <p:nvPr/>
        </p:nvGrpSpPr>
        <p:grpSpPr>
          <a:xfrm>
            <a:off x="1235689" y="1512136"/>
            <a:ext cx="4483682" cy="3438144"/>
            <a:chOff x="1402080" y="2616948"/>
            <a:chExt cx="9851136" cy="3438144"/>
          </a:xfrm>
        </p:grpSpPr>
        <p:cxnSp>
          <p:nvCxnSpPr>
            <p:cNvPr id="31" name="Straight Arrow Connector 30">
              <a:extLst>
                <a:ext uri="{FF2B5EF4-FFF2-40B4-BE49-F238E27FC236}">
                  <a16:creationId xmlns:a16="http://schemas.microsoft.com/office/drawing/2014/main" id="{2DD01A60-BE73-9C9C-476A-3A4A336D5AFB}"/>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7EE541F-33F5-6822-99DB-7BC92A419B57}"/>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3B3C7AF-D245-801B-EEF8-636DC3C2C711}"/>
              </a:ext>
            </a:extLst>
          </p:cNvPr>
          <p:cNvSpPr txBox="1"/>
          <p:nvPr/>
        </p:nvSpPr>
        <p:spPr>
          <a:xfrm>
            <a:off x="3002053" y="5305768"/>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22" name="TextBox 21">
            <a:extLst>
              <a:ext uri="{FF2B5EF4-FFF2-40B4-BE49-F238E27FC236}">
                <a16:creationId xmlns:a16="http://schemas.microsoft.com/office/drawing/2014/main" id="{478D684E-B2D4-AB8B-E0AC-20EC2D0ED3BE}"/>
              </a:ext>
            </a:extLst>
          </p:cNvPr>
          <p:cNvSpPr txBox="1"/>
          <p:nvPr/>
        </p:nvSpPr>
        <p:spPr>
          <a:xfrm>
            <a:off x="13430" y="3101607"/>
            <a:ext cx="1148736" cy="553998"/>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log</a:t>
            </a:r>
          </a:p>
          <a:p>
            <a:r>
              <a:rPr lang="en-US" sz="1500" dirty="0">
                <a:solidFill>
                  <a:schemeClr val="accent6">
                    <a:lumMod val="50000"/>
                  </a:schemeClr>
                </a:solidFill>
                <a:latin typeface="Avenir Book" panose="02000503020000020003" pitchFamily="2" charset="0"/>
              </a:rPr>
              <a:t>(Count)</a:t>
            </a:r>
          </a:p>
        </p:txBody>
      </p:sp>
      <p:cxnSp>
        <p:nvCxnSpPr>
          <p:cNvPr id="29" name="Straight Connector 28">
            <a:extLst>
              <a:ext uri="{FF2B5EF4-FFF2-40B4-BE49-F238E27FC236}">
                <a16:creationId xmlns:a16="http://schemas.microsoft.com/office/drawing/2014/main" id="{A3DD5E68-3CE1-5493-9CF5-7EA202204F77}"/>
              </a:ext>
            </a:extLst>
          </p:cNvPr>
          <p:cNvCxnSpPr>
            <a:cxnSpLocks/>
          </p:cNvCxnSpPr>
          <p:nvPr/>
        </p:nvCxnSpPr>
        <p:spPr>
          <a:xfrm flipV="1">
            <a:off x="1242461" y="1811253"/>
            <a:ext cx="3643786" cy="2654156"/>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08DC4832-1512-26B0-364F-A39994B24B26}"/>
              </a:ext>
            </a:extLst>
          </p:cNvPr>
          <p:cNvSpPr/>
          <p:nvPr/>
        </p:nvSpPr>
        <p:spPr>
          <a:xfrm>
            <a:off x="2340839" y="4225948"/>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ABD0F8BA-7BDB-7F4C-8CE7-972CD42D6581}"/>
              </a:ext>
            </a:extLst>
          </p:cNvPr>
          <p:cNvSpPr/>
          <p:nvPr/>
        </p:nvSpPr>
        <p:spPr>
          <a:xfrm>
            <a:off x="3467376" y="190108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F8F4505-E54A-04BF-9A54-E6884BFADFE9}"/>
              </a:ext>
            </a:extLst>
          </p:cNvPr>
          <p:cNvSpPr/>
          <p:nvPr/>
        </p:nvSpPr>
        <p:spPr>
          <a:xfrm>
            <a:off x="3002053" y="299732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AEDB65F-A00E-FD3E-6B40-1B8DC6016986}"/>
              </a:ext>
            </a:extLst>
          </p:cNvPr>
          <p:cNvSpPr/>
          <p:nvPr/>
        </p:nvSpPr>
        <p:spPr>
          <a:xfrm>
            <a:off x="3981810" y="266662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15A8490E-32AE-6CCA-5F72-7ABF10871B47}"/>
              </a:ext>
            </a:extLst>
          </p:cNvPr>
          <p:cNvSpPr/>
          <p:nvPr/>
        </p:nvSpPr>
        <p:spPr>
          <a:xfrm>
            <a:off x="3293930" y="337860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52D69D6-F3DE-3E1D-D711-1C4FDFB4FB2A}"/>
              </a:ext>
            </a:extLst>
          </p:cNvPr>
          <p:cNvSpPr/>
          <p:nvPr/>
        </p:nvSpPr>
        <p:spPr>
          <a:xfrm>
            <a:off x="4696125" y="128726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AAA3B91-66CA-841B-B4C7-2D3CA9E521CC}"/>
              </a:ext>
            </a:extLst>
          </p:cNvPr>
          <p:cNvSpPr/>
          <p:nvPr/>
        </p:nvSpPr>
        <p:spPr>
          <a:xfrm>
            <a:off x="4630737" y="228484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597DA1CE-FE8A-9B70-91CE-5EA7EB7DC97C}"/>
              </a:ext>
            </a:extLst>
          </p:cNvPr>
          <p:cNvGrpSpPr/>
          <p:nvPr/>
        </p:nvGrpSpPr>
        <p:grpSpPr>
          <a:xfrm>
            <a:off x="7180626" y="1512136"/>
            <a:ext cx="4483682" cy="3438144"/>
            <a:chOff x="1402080" y="2616948"/>
            <a:chExt cx="9851136" cy="3438144"/>
          </a:xfrm>
        </p:grpSpPr>
        <p:cxnSp>
          <p:nvCxnSpPr>
            <p:cNvPr id="47" name="Straight Arrow Connector 46">
              <a:extLst>
                <a:ext uri="{FF2B5EF4-FFF2-40B4-BE49-F238E27FC236}">
                  <a16:creationId xmlns:a16="http://schemas.microsoft.com/office/drawing/2014/main" id="{FB66C11B-6BDB-42EF-3078-24DE2C2D66A2}"/>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6CDCE2D-A626-3A64-398A-A8D0B60482E9}"/>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4EAFAB0F-08E9-FFFE-5B3F-D25E1B3B5117}"/>
              </a:ext>
            </a:extLst>
          </p:cNvPr>
          <p:cNvSpPr txBox="1"/>
          <p:nvPr/>
        </p:nvSpPr>
        <p:spPr>
          <a:xfrm>
            <a:off x="5926744" y="3113798"/>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   Count</a:t>
            </a:r>
          </a:p>
        </p:txBody>
      </p:sp>
      <p:sp>
        <p:nvSpPr>
          <p:cNvPr id="49" name="Oval 48">
            <a:extLst>
              <a:ext uri="{FF2B5EF4-FFF2-40B4-BE49-F238E27FC236}">
                <a16:creationId xmlns:a16="http://schemas.microsoft.com/office/drawing/2014/main" id="{BFB733C2-E82F-3FF6-0214-D50DF9736D6B}"/>
              </a:ext>
            </a:extLst>
          </p:cNvPr>
          <p:cNvSpPr/>
          <p:nvPr/>
        </p:nvSpPr>
        <p:spPr>
          <a:xfrm>
            <a:off x="7488794" y="351706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6E8A4CEE-3C62-DF30-8E25-61DEB9EC6A4D}"/>
              </a:ext>
            </a:extLst>
          </p:cNvPr>
          <p:cNvSpPr/>
          <p:nvPr/>
        </p:nvSpPr>
        <p:spPr>
          <a:xfrm>
            <a:off x="8099526" y="350625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CEC2DAC-C048-7C3B-B1D3-7EE95C89A9C2}"/>
              </a:ext>
            </a:extLst>
          </p:cNvPr>
          <p:cNvSpPr/>
          <p:nvPr/>
        </p:nvSpPr>
        <p:spPr>
          <a:xfrm>
            <a:off x="8675998" y="418537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B8E5B0D2-AEBB-BF2B-487D-A1F68E607226}"/>
              </a:ext>
            </a:extLst>
          </p:cNvPr>
          <p:cNvSpPr/>
          <p:nvPr/>
        </p:nvSpPr>
        <p:spPr>
          <a:xfrm>
            <a:off x="9774531" y="263320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8E4263A5-C72E-FCA4-DC00-1B62F3176C07}"/>
              </a:ext>
            </a:extLst>
          </p:cNvPr>
          <p:cNvSpPr/>
          <p:nvPr/>
        </p:nvSpPr>
        <p:spPr>
          <a:xfrm>
            <a:off x="9077457" y="332437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E94ACBAA-F85D-376A-11AC-EAE8230FBD30}"/>
              </a:ext>
            </a:extLst>
          </p:cNvPr>
          <p:cNvSpPr/>
          <p:nvPr/>
        </p:nvSpPr>
        <p:spPr>
          <a:xfrm>
            <a:off x="10414469" y="270470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71D7CE7-654A-8BB0-BC0C-43C10E57DF65}"/>
              </a:ext>
            </a:extLst>
          </p:cNvPr>
          <p:cNvSpPr/>
          <p:nvPr/>
        </p:nvSpPr>
        <p:spPr>
          <a:xfrm>
            <a:off x="9911994" y="381296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B020AECD-D415-44D4-A831-1BF8E2B92C5E}"/>
              </a:ext>
            </a:extLst>
          </p:cNvPr>
          <p:cNvSpPr/>
          <p:nvPr/>
        </p:nvSpPr>
        <p:spPr>
          <a:xfrm>
            <a:off x="11002706" y="1156752"/>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01D2B175-574D-03BB-9233-9D78A577D3A0}"/>
              </a:ext>
            </a:extLst>
          </p:cNvPr>
          <p:cNvSpPr/>
          <p:nvPr/>
        </p:nvSpPr>
        <p:spPr>
          <a:xfrm>
            <a:off x="11001890" y="242943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C16C38C0-4799-E0DF-82BD-A8B17356ECE5}"/>
              </a:ext>
            </a:extLst>
          </p:cNvPr>
          <p:cNvSpPr/>
          <p:nvPr/>
        </p:nvSpPr>
        <p:spPr>
          <a:xfrm>
            <a:off x="7173583" y="1588894"/>
            <a:ext cx="3657600" cy="2482174"/>
          </a:xfrm>
          <a:custGeom>
            <a:avLst/>
            <a:gdLst>
              <a:gd name="connsiteX0" fmla="*/ 0 w 3657600"/>
              <a:gd name="connsiteY0" fmla="*/ 2475571 h 2482174"/>
              <a:gd name="connsiteX1" fmla="*/ 2163337 w 3657600"/>
              <a:gd name="connsiteY1" fmla="*/ 2096430 h 2482174"/>
              <a:gd name="connsiteX2" fmla="*/ 3657600 w 3657600"/>
              <a:gd name="connsiteY2" fmla="*/ 0 h 2482174"/>
            </a:gdLst>
            <a:ahLst/>
            <a:cxnLst>
              <a:cxn ang="0">
                <a:pos x="connsiteX0" y="connsiteY0"/>
              </a:cxn>
              <a:cxn ang="0">
                <a:pos x="connsiteX1" y="connsiteY1"/>
              </a:cxn>
              <a:cxn ang="0">
                <a:pos x="connsiteX2" y="connsiteY2"/>
              </a:cxn>
            </a:cxnLst>
            <a:rect l="l" t="t" r="r" b="b"/>
            <a:pathLst>
              <a:path w="3657600" h="2482174">
                <a:moveTo>
                  <a:pt x="0" y="2475571"/>
                </a:moveTo>
                <a:cubicBezTo>
                  <a:pt x="776868" y="2492298"/>
                  <a:pt x="1553737" y="2509025"/>
                  <a:pt x="2163337" y="2096430"/>
                </a:cubicBezTo>
                <a:cubicBezTo>
                  <a:pt x="2772937" y="1683835"/>
                  <a:pt x="3215268" y="841917"/>
                  <a:pt x="3657600" y="0"/>
                </a:cubicBezTo>
              </a:path>
            </a:pathLst>
          </a:custGeom>
          <a:no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19C869EE-60DF-97B7-D095-D7584CD6C828}"/>
              </a:ext>
            </a:extLst>
          </p:cNvPr>
          <p:cNvSpPr txBox="1"/>
          <p:nvPr/>
        </p:nvSpPr>
        <p:spPr>
          <a:xfrm>
            <a:off x="918817" y="5022158"/>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62" name="TextBox 61">
            <a:extLst>
              <a:ext uri="{FF2B5EF4-FFF2-40B4-BE49-F238E27FC236}">
                <a16:creationId xmlns:a16="http://schemas.microsoft.com/office/drawing/2014/main" id="{DB810713-8894-EA17-4E20-3CAEBFB6CEBF}"/>
              </a:ext>
            </a:extLst>
          </p:cNvPr>
          <p:cNvSpPr txBox="1"/>
          <p:nvPr/>
        </p:nvSpPr>
        <p:spPr>
          <a:xfrm>
            <a:off x="881445" y="1736280"/>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63" name="TextBox 62">
            <a:extLst>
              <a:ext uri="{FF2B5EF4-FFF2-40B4-BE49-F238E27FC236}">
                <a16:creationId xmlns:a16="http://schemas.microsoft.com/office/drawing/2014/main" id="{93196CE7-C40C-1CEE-52C3-8BEAF3ED82F1}"/>
              </a:ext>
            </a:extLst>
          </p:cNvPr>
          <p:cNvSpPr txBox="1"/>
          <p:nvPr/>
        </p:nvSpPr>
        <p:spPr>
          <a:xfrm>
            <a:off x="881445" y="4297736"/>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64" name="TextBox 63">
            <a:extLst>
              <a:ext uri="{FF2B5EF4-FFF2-40B4-BE49-F238E27FC236}">
                <a16:creationId xmlns:a16="http://schemas.microsoft.com/office/drawing/2014/main" id="{5E409DF5-4A1A-0A82-6A48-0CF66736054B}"/>
              </a:ext>
            </a:extLst>
          </p:cNvPr>
          <p:cNvSpPr txBox="1"/>
          <p:nvPr/>
        </p:nvSpPr>
        <p:spPr>
          <a:xfrm>
            <a:off x="881445" y="365737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65" name="TextBox 64">
            <a:extLst>
              <a:ext uri="{FF2B5EF4-FFF2-40B4-BE49-F238E27FC236}">
                <a16:creationId xmlns:a16="http://schemas.microsoft.com/office/drawing/2014/main" id="{DE3320E1-FD77-EEFE-5335-EE0B3B3B6048}"/>
              </a:ext>
            </a:extLst>
          </p:cNvPr>
          <p:cNvSpPr txBox="1"/>
          <p:nvPr/>
        </p:nvSpPr>
        <p:spPr>
          <a:xfrm>
            <a:off x="881445" y="3017008"/>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66" name="TextBox 65">
            <a:extLst>
              <a:ext uri="{FF2B5EF4-FFF2-40B4-BE49-F238E27FC236}">
                <a16:creationId xmlns:a16="http://schemas.microsoft.com/office/drawing/2014/main" id="{DBFE794B-D20E-05B4-9F0B-F0027ABE9581}"/>
              </a:ext>
            </a:extLst>
          </p:cNvPr>
          <p:cNvSpPr txBox="1"/>
          <p:nvPr/>
        </p:nvSpPr>
        <p:spPr>
          <a:xfrm>
            <a:off x="881445" y="237664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67" name="TextBox 66">
            <a:extLst>
              <a:ext uri="{FF2B5EF4-FFF2-40B4-BE49-F238E27FC236}">
                <a16:creationId xmlns:a16="http://schemas.microsoft.com/office/drawing/2014/main" id="{F47C6F16-74CE-B6C2-82E3-A970D9ED9BC2}"/>
              </a:ext>
            </a:extLst>
          </p:cNvPr>
          <p:cNvSpPr txBox="1"/>
          <p:nvPr/>
        </p:nvSpPr>
        <p:spPr>
          <a:xfrm>
            <a:off x="1747529" y="5022158"/>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1" name="TextBox 70">
            <a:extLst>
              <a:ext uri="{FF2B5EF4-FFF2-40B4-BE49-F238E27FC236}">
                <a16:creationId xmlns:a16="http://schemas.microsoft.com/office/drawing/2014/main" id="{165B0E02-D8E8-D344-F6EC-38E896F969D7}"/>
              </a:ext>
            </a:extLst>
          </p:cNvPr>
          <p:cNvSpPr txBox="1"/>
          <p:nvPr/>
        </p:nvSpPr>
        <p:spPr>
          <a:xfrm>
            <a:off x="9082846" y="5336899"/>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72" name="TextBox 71">
            <a:extLst>
              <a:ext uri="{FF2B5EF4-FFF2-40B4-BE49-F238E27FC236}">
                <a16:creationId xmlns:a16="http://schemas.microsoft.com/office/drawing/2014/main" id="{64BB1B4E-C419-72A6-4AC8-ED05078E9810}"/>
              </a:ext>
            </a:extLst>
          </p:cNvPr>
          <p:cNvSpPr txBox="1"/>
          <p:nvPr/>
        </p:nvSpPr>
        <p:spPr>
          <a:xfrm>
            <a:off x="6914426" y="505391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73" name="TextBox 72">
            <a:extLst>
              <a:ext uri="{FF2B5EF4-FFF2-40B4-BE49-F238E27FC236}">
                <a16:creationId xmlns:a16="http://schemas.microsoft.com/office/drawing/2014/main" id="{C48F4AA6-F671-65C9-E80A-41D491A71F64}"/>
              </a:ext>
            </a:extLst>
          </p:cNvPr>
          <p:cNvSpPr txBox="1"/>
          <p:nvPr/>
        </p:nvSpPr>
        <p:spPr>
          <a:xfrm>
            <a:off x="7828322" y="5053289"/>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4" name="Oval 73">
            <a:extLst>
              <a:ext uri="{FF2B5EF4-FFF2-40B4-BE49-F238E27FC236}">
                <a16:creationId xmlns:a16="http://schemas.microsoft.com/office/drawing/2014/main" id="{AAE2ACD0-0E92-7D36-3C62-5BB0120E5F9A}"/>
              </a:ext>
            </a:extLst>
          </p:cNvPr>
          <p:cNvSpPr/>
          <p:nvPr/>
        </p:nvSpPr>
        <p:spPr>
          <a:xfrm>
            <a:off x="1696257" y="366946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60E6173B-5D97-C38F-BAB3-4FF81D77799C}"/>
              </a:ext>
            </a:extLst>
          </p:cNvPr>
          <p:cNvSpPr/>
          <p:nvPr/>
        </p:nvSpPr>
        <p:spPr>
          <a:xfrm>
            <a:off x="2219953" y="319696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678AEE09-7884-1CD4-59B6-76D835D64D43}"/>
              </a:ext>
            </a:extLst>
          </p:cNvPr>
          <p:cNvSpPr txBox="1"/>
          <p:nvPr/>
        </p:nvSpPr>
        <p:spPr>
          <a:xfrm>
            <a:off x="6623122" y="160169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148</a:t>
            </a:r>
          </a:p>
        </p:txBody>
      </p:sp>
      <p:sp>
        <p:nvSpPr>
          <p:cNvPr id="82" name="TextBox 81">
            <a:extLst>
              <a:ext uri="{FF2B5EF4-FFF2-40B4-BE49-F238E27FC236}">
                <a16:creationId xmlns:a16="http://schemas.microsoft.com/office/drawing/2014/main" id="{659887E7-71EC-0502-D055-E7F28303EAFF}"/>
              </a:ext>
            </a:extLst>
          </p:cNvPr>
          <p:cNvSpPr txBox="1"/>
          <p:nvPr/>
        </p:nvSpPr>
        <p:spPr>
          <a:xfrm>
            <a:off x="6749365" y="427083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83" name="TextBox 82">
            <a:extLst>
              <a:ext uri="{FF2B5EF4-FFF2-40B4-BE49-F238E27FC236}">
                <a16:creationId xmlns:a16="http://schemas.microsoft.com/office/drawing/2014/main" id="{06DDDD96-39DD-9475-E789-2766ADBF2A35}"/>
              </a:ext>
            </a:extLst>
          </p:cNvPr>
          <p:cNvSpPr txBox="1"/>
          <p:nvPr/>
        </p:nvSpPr>
        <p:spPr>
          <a:xfrm>
            <a:off x="6749365" y="362987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7</a:t>
            </a:r>
          </a:p>
        </p:txBody>
      </p:sp>
      <p:sp>
        <p:nvSpPr>
          <p:cNvPr id="84" name="TextBox 83">
            <a:extLst>
              <a:ext uri="{FF2B5EF4-FFF2-40B4-BE49-F238E27FC236}">
                <a16:creationId xmlns:a16="http://schemas.microsoft.com/office/drawing/2014/main" id="{FA6EE16C-215C-92B2-1D95-D85C30BC95A5}"/>
              </a:ext>
            </a:extLst>
          </p:cNvPr>
          <p:cNvSpPr txBox="1"/>
          <p:nvPr/>
        </p:nvSpPr>
        <p:spPr>
          <a:xfrm>
            <a:off x="6679773" y="300003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20</a:t>
            </a:r>
          </a:p>
        </p:txBody>
      </p:sp>
      <p:sp>
        <p:nvSpPr>
          <p:cNvPr id="85" name="TextBox 84">
            <a:extLst>
              <a:ext uri="{FF2B5EF4-FFF2-40B4-BE49-F238E27FC236}">
                <a16:creationId xmlns:a16="http://schemas.microsoft.com/office/drawing/2014/main" id="{79A63683-FA8D-C6E5-4BA5-A0EAE7E7B78D}"/>
              </a:ext>
            </a:extLst>
          </p:cNvPr>
          <p:cNvSpPr txBox="1"/>
          <p:nvPr/>
        </p:nvSpPr>
        <p:spPr>
          <a:xfrm>
            <a:off x="6674166" y="235906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55</a:t>
            </a:r>
          </a:p>
        </p:txBody>
      </p:sp>
      <p:sp>
        <p:nvSpPr>
          <p:cNvPr id="86" name="TextBox 85">
            <a:extLst>
              <a:ext uri="{FF2B5EF4-FFF2-40B4-BE49-F238E27FC236}">
                <a16:creationId xmlns:a16="http://schemas.microsoft.com/office/drawing/2014/main" id="{9F48A4E7-E7EB-4B52-69EA-BAA2CE5051B8}"/>
              </a:ext>
            </a:extLst>
          </p:cNvPr>
          <p:cNvSpPr txBox="1"/>
          <p:nvPr/>
        </p:nvSpPr>
        <p:spPr>
          <a:xfrm>
            <a:off x="10346651" y="6150114"/>
            <a:ext cx="1821893" cy="707886"/>
          </a:xfrm>
          <a:prstGeom prst="rect">
            <a:avLst/>
          </a:prstGeom>
          <a:noFill/>
        </p:spPr>
        <p:txBody>
          <a:bodyPr wrap="square">
            <a:spAutoFit/>
          </a:bodyPr>
          <a:lstStyle/>
          <a:p>
            <a:r>
              <a:rPr lang="en-US" sz="1000" dirty="0">
                <a:solidFill>
                  <a:schemeClr val="accent6">
                    <a:lumMod val="50000"/>
                  </a:schemeClr>
                </a:solidFill>
                <a:latin typeface="Avenir Book" panose="02000503020000020003" pitchFamily="2" charset="0"/>
              </a:rPr>
              <a:t>* General concept – the numbers on the axes are right but the points and lines are rough!</a:t>
            </a:r>
          </a:p>
        </p:txBody>
      </p:sp>
    </p:spTree>
    <p:extLst>
      <p:ext uri="{BB962C8B-B14F-4D97-AF65-F5344CB8AC3E}">
        <p14:creationId xmlns:p14="http://schemas.microsoft.com/office/powerpoint/2010/main" val="16255228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24124-4EAA-A7E7-5434-41F78A2C1C18}"/>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41BD9335-328E-C1B4-A30F-E3286997AE3C}"/>
              </a:ext>
            </a:extLst>
          </p:cNvPr>
          <p:cNvGrpSpPr/>
          <p:nvPr/>
        </p:nvGrpSpPr>
        <p:grpSpPr>
          <a:xfrm>
            <a:off x="1222259" y="541979"/>
            <a:ext cx="4483682" cy="3438144"/>
            <a:chOff x="1402080" y="2616948"/>
            <a:chExt cx="9851136" cy="3438144"/>
          </a:xfrm>
        </p:grpSpPr>
        <p:cxnSp>
          <p:nvCxnSpPr>
            <p:cNvPr id="31" name="Straight Arrow Connector 30">
              <a:extLst>
                <a:ext uri="{FF2B5EF4-FFF2-40B4-BE49-F238E27FC236}">
                  <a16:creationId xmlns:a16="http://schemas.microsoft.com/office/drawing/2014/main" id="{5B1B961E-5B3B-53E3-1FB2-164683FAA706}"/>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9F74FDF-C7F2-A9EE-26EA-B478F317D1F5}"/>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EAA0E4EC-A24C-F4DC-E835-6577CADE1E1E}"/>
              </a:ext>
            </a:extLst>
          </p:cNvPr>
          <p:cNvSpPr txBox="1"/>
          <p:nvPr/>
        </p:nvSpPr>
        <p:spPr>
          <a:xfrm>
            <a:off x="2988623" y="4335611"/>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22" name="TextBox 21">
            <a:extLst>
              <a:ext uri="{FF2B5EF4-FFF2-40B4-BE49-F238E27FC236}">
                <a16:creationId xmlns:a16="http://schemas.microsoft.com/office/drawing/2014/main" id="{D5AC85E7-BA25-A110-0CB8-763E80525B4C}"/>
              </a:ext>
            </a:extLst>
          </p:cNvPr>
          <p:cNvSpPr txBox="1"/>
          <p:nvPr/>
        </p:nvSpPr>
        <p:spPr>
          <a:xfrm>
            <a:off x="0" y="2131450"/>
            <a:ext cx="1148736" cy="553998"/>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log</a:t>
            </a:r>
          </a:p>
          <a:p>
            <a:r>
              <a:rPr lang="en-US" sz="1500" dirty="0">
                <a:solidFill>
                  <a:schemeClr val="accent6">
                    <a:lumMod val="50000"/>
                  </a:schemeClr>
                </a:solidFill>
                <a:latin typeface="Avenir Book" panose="02000503020000020003" pitchFamily="2" charset="0"/>
              </a:rPr>
              <a:t>(Count)</a:t>
            </a:r>
          </a:p>
        </p:txBody>
      </p:sp>
      <p:cxnSp>
        <p:nvCxnSpPr>
          <p:cNvPr id="29" name="Straight Connector 28">
            <a:extLst>
              <a:ext uri="{FF2B5EF4-FFF2-40B4-BE49-F238E27FC236}">
                <a16:creationId xmlns:a16="http://schemas.microsoft.com/office/drawing/2014/main" id="{22281CF7-256F-7830-16C0-1307D4E48898}"/>
              </a:ext>
            </a:extLst>
          </p:cNvPr>
          <p:cNvCxnSpPr>
            <a:cxnSpLocks/>
          </p:cNvCxnSpPr>
          <p:nvPr/>
        </p:nvCxnSpPr>
        <p:spPr>
          <a:xfrm flipV="1">
            <a:off x="1229303" y="795635"/>
            <a:ext cx="3643786" cy="2654156"/>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D644443A-DA75-831D-ACAB-28E419BF4BAA}"/>
              </a:ext>
            </a:extLst>
          </p:cNvPr>
          <p:cNvSpPr/>
          <p:nvPr/>
        </p:nvSpPr>
        <p:spPr>
          <a:xfrm>
            <a:off x="2327409" y="325579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BD4E87E-53C6-0B33-BEAB-4B77B5DDCC23}"/>
              </a:ext>
            </a:extLst>
          </p:cNvPr>
          <p:cNvSpPr/>
          <p:nvPr/>
        </p:nvSpPr>
        <p:spPr>
          <a:xfrm>
            <a:off x="3453946" y="93092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610C4AA-5D3C-C70D-055D-BB40C20A8540}"/>
              </a:ext>
            </a:extLst>
          </p:cNvPr>
          <p:cNvSpPr/>
          <p:nvPr/>
        </p:nvSpPr>
        <p:spPr>
          <a:xfrm>
            <a:off x="2988623" y="202717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EE5F6C3-814F-F111-0CDC-86D57C795F6E}"/>
              </a:ext>
            </a:extLst>
          </p:cNvPr>
          <p:cNvSpPr/>
          <p:nvPr/>
        </p:nvSpPr>
        <p:spPr>
          <a:xfrm>
            <a:off x="3968380" y="169646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8D4CD57-CD0B-ED12-4C06-6472ACB97C74}"/>
              </a:ext>
            </a:extLst>
          </p:cNvPr>
          <p:cNvSpPr/>
          <p:nvPr/>
        </p:nvSpPr>
        <p:spPr>
          <a:xfrm>
            <a:off x="3280500" y="240844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E31827D-667E-F87B-965C-F82625DC9B26}"/>
              </a:ext>
            </a:extLst>
          </p:cNvPr>
          <p:cNvSpPr/>
          <p:nvPr/>
        </p:nvSpPr>
        <p:spPr>
          <a:xfrm>
            <a:off x="4682695" y="31710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0F956BF7-BBA0-DA91-4818-432FC7A1D0E9}"/>
              </a:ext>
            </a:extLst>
          </p:cNvPr>
          <p:cNvSpPr/>
          <p:nvPr/>
        </p:nvSpPr>
        <p:spPr>
          <a:xfrm>
            <a:off x="4617307" y="131468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A4C3469B-69C5-4C2C-81A8-3BA97B1969B6}"/>
              </a:ext>
            </a:extLst>
          </p:cNvPr>
          <p:cNvGrpSpPr/>
          <p:nvPr/>
        </p:nvGrpSpPr>
        <p:grpSpPr>
          <a:xfrm>
            <a:off x="7167196" y="541979"/>
            <a:ext cx="4483682" cy="3438144"/>
            <a:chOff x="1402080" y="2616948"/>
            <a:chExt cx="9851136" cy="3438144"/>
          </a:xfrm>
        </p:grpSpPr>
        <p:cxnSp>
          <p:nvCxnSpPr>
            <p:cNvPr id="47" name="Straight Arrow Connector 46">
              <a:extLst>
                <a:ext uri="{FF2B5EF4-FFF2-40B4-BE49-F238E27FC236}">
                  <a16:creationId xmlns:a16="http://schemas.microsoft.com/office/drawing/2014/main" id="{3D0C2751-601C-22F6-9619-682141492D91}"/>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CDBF4C7-27E6-CE6C-9F29-58550B417FE0}"/>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E0DC3AD2-CBD8-214B-D5CD-6514077B035E}"/>
              </a:ext>
            </a:extLst>
          </p:cNvPr>
          <p:cNvSpPr txBox="1"/>
          <p:nvPr/>
        </p:nvSpPr>
        <p:spPr>
          <a:xfrm>
            <a:off x="5913314" y="214364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   Count</a:t>
            </a:r>
          </a:p>
        </p:txBody>
      </p:sp>
      <p:sp>
        <p:nvSpPr>
          <p:cNvPr id="49" name="Oval 48">
            <a:extLst>
              <a:ext uri="{FF2B5EF4-FFF2-40B4-BE49-F238E27FC236}">
                <a16:creationId xmlns:a16="http://schemas.microsoft.com/office/drawing/2014/main" id="{A8EE5F89-4888-A938-68C0-C088B526D11F}"/>
              </a:ext>
            </a:extLst>
          </p:cNvPr>
          <p:cNvSpPr/>
          <p:nvPr/>
        </p:nvSpPr>
        <p:spPr>
          <a:xfrm>
            <a:off x="7464345" y="312649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41A1222-B7CC-2866-DB66-4F4623408B68}"/>
              </a:ext>
            </a:extLst>
          </p:cNvPr>
          <p:cNvSpPr/>
          <p:nvPr/>
        </p:nvSpPr>
        <p:spPr>
          <a:xfrm>
            <a:off x="8132332" y="303161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B0DEA4F-AA4E-301C-283A-E086CCE33C5A}"/>
              </a:ext>
            </a:extLst>
          </p:cNvPr>
          <p:cNvSpPr/>
          <p:nvPr/>
        </p:nvSpPr>
        <p:spPr>
          <a:xfrm>
            <a:off x="8636338" y="363913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6B2A0ACC-E876-E643-06F1-3C6703A343C0}"/>
              </a:ext>
            </a:extLst>
          </p:cNvPr>
          <p:cNvSpPr/>
          <p:nvPr/>
        </p:nvSpPr>
        <p:spPr>
          <a:xfrm>
            <a:off x="9761101" y="166304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A9BDA447-5E91-7825-DE8F-5791A6B14663}"/>
              </a:ext>
            </a:extLst>
          </p:cNvPr>
          <p:cNvSpPr/>
          <p:nvPr/>
        </p:nvSpPr>
        <p:spPr>
          <a:xfrm>
            <a:off x="9064027" y="235421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8CA49C70-04B0-C409-C78E-34E800FD1596}"/>
              </a:ext>
            </a:extLst>
          </p:cNvPr>
          <p:cNvSpPr/>
          <p:nvPr/>
        </p:nvSpPr>
        <p:spPr>
          <a:xfrm>
            <a:off x="10401039" y="173454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A67F7C13-866A-05AA-0DC9-3CE97A56EFE0}"/>
              </a:ext>
            </a:extLst>
          </p:cNvPr>
          <p:cNvSpPr/>
          <p:nvPr/>
        </p:nvSpPr>
        <p:spPr>
          <a:xfrm>
            <a:off x="9898564" y="284281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9344BAD8-A3B9-5C01-D867-AD1325EDE9C9}"/>
              </a:ext>
            </a:extLst>
          </p:cNvPr>
          <p:cNvSpPr/>
          <p:nvPr/>
        </p:nvSpPr>
        <p:spPr>
          <a:xfrm>
            <a:off x="10989276" y="18659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0ED6FEAC-CB78-2D01-156A-CC9A21796C3A}"/>
              </a:ext>
            </a:extLst>
          </p:cNvPr>
          <p:cNvSpPr/>
          <p:nvPr/>
        </p:nvSpPr>
        <p:spPr>
          <a:xfrm>
            <a:off x="10988460" y="145927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C76BF0E3-3E0B-039F-FB40-311487B98B84}"/>
              </a:ext>
            </a:extLst>
          </p:cNvPr>
          <p:cNvSpPr/>
          <p:nvPr/>
        </p:nvSpPr>
        <p:spPr>
          <a:xfrm>
            <a:off x="7169417" y="380248"/>
            <a:ext cx="4154555" cy="3257847"/>
          </a:xfrm>
          <a:custGeom>
            <a:avLst/>
            <a:gdLst>
              <a:gd name="connsiteX0" fmla="*/ 0 w 3657600"/>
              <a:gd name="connsiteY0" fmla="*/ 2475571 h 2482174"/>
              <a:gd name="connsiteX1" fmla="*/ 2163337 w 3657600"/>
              <a:gd name="connsiteY1" fmla="*/ 2096430 h 2482174"/>
              <a:gd name="connsiteX2" fmla="*/ 3657600 w 3657600"/>
              <a:gd name="connsiteY2" fmla="*/ 0 h 2482174"/>
            </a:gdLst>
            <a:ahLst/>
            <a:cxnLst>
              <a:cxn ang="0">
                <a:pos x="connsiteX0" y="connsiteY0"/>
              </a:cxn>
              <a:cxn ang="0">
                <a:pos x="connsiteX1" y="connsiteY1"/>
              </a:cxn>
              <a:cxn ang="0">
                <a:pos x="connsiteX2" y="connsiteY2"/>
              </a:cxn>
            </a:cxnLst>
            <a:rect l="l" t="t" r="r" b="b"/>
            <a:pathLst>
              <a:path w="3657600" h="2482174">
                <a:moveTo>
                  <a:pt x="0" y="2475571"/>
                </a:moveTo>
                <a:cubicBezTo>
                  <a:pt x="776868" y="2492298"/>
                  <a:pt x="1553737" y="2509025"/>
                  <a:pt x="2163337" y="2096430"/>
                </a:cubicBezTo>
                <a:cubicBezTo>
                  <a:pt x="2772937" y="1683835"/>
                  <a:pt x="3215268" y="841917"/>
                  <a:pt x="3657600" y="0"/>
                </a:cubicBezTo>
              </a:path>
            </a:pathLst>
          </a:custGeom>
          <a:no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0439422F-67D3-C4DF-F4DF-D05F31D561A5}"/>
              </a:ext>
            </a:extLst>
          </p:cNvPr>
          <p:cNvSpPr txBox="1"/>
          <p:nvPr/>
        </p:nvSpPr>
        <p:spPr>
          <a:xfrm>
            <a:off x="905387" y="405200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62" name="TextBox 61">
            <a:extLst>
              <a:ext uri="{FF2B5EF4-FFF2-40B4-BE49-F238E27FC236}">
                <a16:creationId xmlns:a16="http://schemas.microsoft.com/office/drawing/2014/main" id="{01C79529-6D9C-B992-BF4D-9B9FA174FB7F}"/>
              </a:ext>
            </a:extLst>
          </p:cNvPr>
          <p:cNvSpPr txBox="1"/>
          <p:nvPr/>
        </p:nvSpPr>
        <p:spPr>
          <a:xfrm>
            <a:off x="868015" y="76612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63" name="TextBox 62">
            <a:extLst>
              <a:ext uri="{FF2B5EF4-FFF2-40B4-BE49-F238E27FC236}">
                <a16:creationId xmlns:a16="http://schemas.microsoft.com/office/drawing/2014/main" id="{06A09EF6-C925-6B1C-5407-7EF69D0EF822}"/>
              </a:ext>
            </a:extLst>
          </p:cNvPr>
          <p:cNvSpPr txBox="1"/>
          <p:nvPr/>
        </p:nvSpPr>
        <p:spPr>
          <a:xfrm>
            <a:off x="868015" y="332757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64" name="TextBox 63">
            <a:extLst>
              <a:ext uri="{FF2B5EF4-FFF2-40B4-BE49-F238E27FC236}">
                <a16:creationId xmlns:a16="http://schemas.microsoft.com/office/drawing/2014/main" id="{46C52480-E525-5624-39CE-88EDA62444D2}"/>
              </a:ext>
            </a:extLst>
          </p:cNvPr>
          <p:cNvSpPr txBox="1"/>
          <p:nvPr/>
        </p:nvSpPr>
        <p:spPr>
          <a:xfrm>
            <a:off x="868015" y="268721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65" name="TextBox 64">
            <a:extLst>
              <a:ext uri="{FF2B5EF4-FFF2-40B4-BE49-F238E27FC236}">
                <a16:creationId xmlns:a16="http://schemas.microsoft.com/office/drawing/2014/main" id="{C7872A31-629D-4466-1113-EAD24115F5AD}"/>
              </a:ext>
            </a:extLst>
          </p:cNvPr>
          <p:cNvSpPr txBox="1"/>
          <p:nvPr/>
        </p:nvSpPr>
        <p:spPr>
          <a:xfrm>
            <a:off x="868015" y="204685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66" name="TextBox 65">
            <a:extLst>
              <a:ext uri="{FF2B5EF4-FFF2-40B4-BE49-F238E27FC236}">
                <a16:creationId xmlns:a16="http://schemas.microsoft.com/office/drawing/2014/main" id="{947EDD7A-D301-02C5-1FF2-0D37C7D10B44}"/>
              </a:ext>
            </a:extLst>
          </p:cNvPr>
          <p:cNvSpPr txBox="1"/>
          <p:nvPr/>
        </p:nvSpPr>
        <p:spPr>
          <a:xfrm>
            <a:off x="868015" y="140648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67" name="TextBox 66">
            <a:extLst>
              <a:ext uri="{FF2B5EF4-FFF2-40B4-BE49-F238E27FC236}">
                <a16:creationId xmlns:a16="http://schemas.microsoft.com/office/drawing/2014/main" id="{6E8DD972-9BAF-514E-F152-9AB8DD024EA1}"/>
              </a:ext>
            </a:extLst>
          </p:cNvPr>
          <p:cNvSpPr txBox="1"/>
          <p:nvPr/>
        </p:nvSpPr>
        <p:spPr>
          <a:xfrm>
            <a:off x="1734099" y="4052001"/>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1" name="TextBox 70">
            <a:extLst>
              <a:ext uri="{FF2B5EF4-FFF2-40B4-BE49-F238E27FC236}">
                <a16:creationId xmlns:a16="http://schemas.microsoft.com/office/drawing/2014/main" id="{293C9F8C-EE2D-AC67-7BF6-24CCB530DC6A}"/>
              </a:ext>
            </a:extLst>
          </p:cNvPr>
          <p:cNvSpPr txBox="1"/>
          <p:nvPr/>
        </p:nvSpPr>
        <p:spPr>
          <a:xfrm>
            <a:off x="9069416" y="4366742"/>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72" name="TextBox 71">
            <a:extLst>
              <a:ext uri="{FF2B5EF4-FFF2-40B4-BE49-F238E27FC236}">
                <a16:creationId xmlns:a16="http://schemas.microsoft.com/office/drawing/2014/main" id="{794119E6-B7C6-A9C2-3389-961FEF8AC269}"/>
              </a:ext>
            </a:extLst>
          </p:cNvPr>
          <p:cNvSpPr txBox="1"/>
          <p:nvPr/>
        </p:nvSpPr>
        <p:spPr>
          <a:xfrm>
            <a:off x="6900996" y="408376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73" name="TextBox 72">
            <a:extLst>
              <a:ext uri="{FF2B5EF4-FFF2-40B4-BE49-F238E27FC236}">
                <a16:creationId xmlns:a16="http://schemas.microsoft.com/office/drawing/2014/main" id="{A3A9A3C9-09F1-B237-1288-655B22C0C279}"/>
              </a:ext>
            </a:extLst>
          </p:cNvPr>
          <p:cNvSpPr txBox="1"/>
          <p:nvPr/>
        </p:nvSpPr>
        <p:spPr>
          <a:xfrm>
            <a:off x="7567164" y="4093815"/>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4" name="Oval 73">
            <a:extLst>
              <a:ext uri="{FF2B5EF4-FFF2-40B4-BE49-F238E27FC236}">
                <a16:creationId xmlns:a16="http://schemas.microsoft.com/office/drawing/2014/main" id="{D5DEC8C8-4ED8-AB4F-F82C-BE544785888F}"/>
              </a:ext>
            </a:extLst>
          </p:cNvPr>
          <p:cNvSpPr/>
          <p:nvPr/>
        </p:nvSpPr>
        <p:spPr>
          <a:xfrm>
            <a:off x="1682827" y="269930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8509E3E8-5D24-480D-C6FA-3F8B62822048}"/>
              </a:ext>
            </a:extLst>
          </p:cNvPr>
          <p:cNvSpPr/>
          <p:nvPr/>
        </p:nvSpPr>
        <p:spPr>
          <a:xfrm>
            <a:off x="2206523" y="222680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D7BB23DF-AED5-27C8-8AD7-1B75C1B76EF6}"/>
              </a:ext>
            </a:extLst>
          </p:cNvPr>
          <p:cNvSpPr txBox="1"/>
          <p:nvPr/>
        </p:nvSpPr>
        <p:spPr>
          <a:xfrm>
            <a:off x="6609692" y="631536"/>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148</a:t>
            </a:r>
          </a:p>
        </p:txBody>
      </p:sp>
      <p:sp>
        <p:nvSpPr>
          <p:cNvPr id="82" name="TextBox 81">
            <a:extLst>
              <a:ext uri="{FF2B5EF4-FFF2-40B4-BE49-F238E27FC236}">
                <a16:creationId xmlns:a16="http://schemas.microsoft.com/office/drawing/2014/main" id="{884863E9-0CFB-CF7A-56F8-792E910FDABA}"/>
              </a:ext>
            </a:extLst>
          </p:cNvPr>
          <p:cNvSpPr txBox="1"/>
          <p:nvPr/>
        </p:nvSpPr>
        <p:spPr>
          <a:xfrm>
            <a:off x="6735935" y="330068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83" name="TextBox 82">
            <a:extLst>
              <a:ext uri="{FF2B5EF4-FFF2-40B4-BE49-F238E27FC236}">
                <a16:creationId xmlns:a16="http://schemas.microsoft.com/office/drawing/2014/main" id="{011A2037-AC47-7ADA-5E5D-5C6D8260A422}"/>
              </a:ext>
            </a:extLst>
          </p:cNvPr>
          <p:cNvSpPr txBox="1"/>
          <p:nvPr/>
        </p:nvSpPr>
        <p:spPr>
          <a:xfrm>
            <a:off x="6735935" y="265971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7</a:t>
            </a:r>
          </a:p>
        </p:txBody>
      </p:sp>
      <p:sp>
        <p:nvSpPr>
          <p:cNvPr id="84" name="TextBox 83">
            <a:extLst>
              <a:ext uri="{FF2B5EF4-FFF2-40B4-BE49-F238E27FC236}">
                <a16:creationId xmlns:a16="http://schemas.microsoft.com/office/drawing/2014/main" id="{A2EBF51D-6AAA-D264-B8EA-859FC1705D34}"/>
              </a:ext>
            </a:extLst>
          </p:cNvPr>
          <p:cNvSpPr txBox="1"/>
          <p:nvPr/>
        </p:nvSpPr>
        <p:spPr>
          <a:xfrm>
            <a:off x="6666343" y="20298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20</a:t>
            </a:r>
          </a:p>
        </p:txBody>
      </p:sp>
      <p:sp>
        <p:nvSpPr>
          <p:cNvPr id="85" name="TextBox 84">
            <a:extLst>
              <a:ext uri="{FF2B5EF4-FFF2-40B4-BE49-F238E27FC236}">
                <a16:creationId xmlns:a16="http://schemas.microsoft.com/office/drawing/2014/main" id="{C231D9BE-FF5C-4D93-6EC0-0E25E050F289}"/>
              </a:ext>
            </a:extLst>
          </p:cNvPr>
          <p:cNvSpPr txBox="1"/>
          <p:nvPr/>
        </p:nvSpPr>
        <p:spPr>
          <a:xfrm>
            <a:off x="6660736" y="138890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55</a:t>
            </a:r>
          </a:p>
        </p:txBody>
      </p:sp>
      <p:graphicFrame>
        <p:nvGraphicFramePr>
          <p:cNvPr id="2" name="Table 1">
            <a:extLst>
              <a:ext uri="{FF2B5EF4-FFF2-40B4-BE49-F238E27FC236}">
                <a16:creationId xmlns:a16="http://schemas.microsoft.com/office/drawing/2014/main" id="{AA5D3425-EBB3-AE56-89D0-B749509DFA7C}"/>
              </a:ext>
            </a:extLst>
          </p:cNvPr>
          <p:cNvGraphicFramePr>
            <a:graphicFrameLocks noGrp="1"/>
          </p:cNvGraphicFramePr>
          <p:nvPr>
            <p:extLst>
              <p:ext uri="{D42A27DB-BD31-4B8C-83A1-F6EECF244321}">
                <p14:modId xmlns:p14="http://schemas.microsoft.com/office/powerpoint/2010/main" val="4094110088"/>
              </p:ext>
            </p:extLst>
          </p:nvPr>
        </p:nvGraphicFramePr>
        <p:xfrm>
          <a:off x="735214" y="5297602"/>
          <a:ext cx="5178100" cy="138176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0.08</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bl>
          </a:graphicData>
        </a:graphic>
      </p:graphicFrame>
      <p:sp>
        <p:nvSpPr>
          <p:cNvPr id="4" name="TextBox 3">
            <a:extLst>
              <a:ext uri="{FF2B5EF4-FFF2-40B4-BE49-F238E27FC236}">
                <a16:creationId xmlns:a16="http://schemas.microsoft.com/office/drawing/2014/main" id="{ACFD9823-49E8-CF24-0448-7345A58199A7}"/>
              </a:ext>
            </a:extLst>
          </p:cNvPr>
          <p:cNvSpPr txBox="1"/>
          <p:nvPr/>
        </p:nvSpPr>
        <p:spPr>
          <a:xfrm>
            <a:off x="7138785" y="4832777"/>
            <a:ext cx="45120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In year 0, the log of the number of birds is 1. </a:t>
            </a:r>
          </a:p>
        </p:txBody>
      </p:sp>
    </p:spTree>
    <p:extLst>
      <p:ext uri="{BB962C8B-B14F-4D97-AF65-F5344CB8AC3E}">
        <p14:creationId xmlns:p14="http://schemas.microsoft.com/office/powerpoint/2010/main" val="21027387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951A4-6EC3-71FE-5CF3-B70B96B5B55F}"/>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62DE1F19-4A0E-C905-410E-2DB324EB34C3}"/>
              </a:ext>
            </a:extLst>
          </p:cNvPr>
          <p:cNvGrpSpPr/>
          <p:nvPr/>
        </p:nvGrpSpPr>
        <p:grpSpPr>
          <a:xfrm>
            <a:off x="1222259" y="541979"/>
            <a:ext cx="4483682" cy="3438144"/>
            <a:chOff x="1402080" y="2616948"/>
            <a:chExt cx="9851136" cy="3438144"/>
          </a:xfrm>
        </p:grpSpPr>
        <p:cxnSp>
          <p:nvCxnSpPr>
            <p:cNvPr id="31" name="Straight Arrow Connector 30">
              <a:extLst>
                <a:ext uri="{FF2B5EF4-FFF2-40B4-BE49-F238E27FC236}">
                  <a16:creationId xmlns:a16="http://schemas.microsoft.com/office/drawing/2014/main" id="{ABFEB1CF-BACD-5DFF-D900-4C9B4C615265}"/>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E7B330C-A8EF-5123-C455-CF69131CC7BF}"/>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DAB85089-1377-C4AC-C8C8-65D2C01404CD}"/>
              </a:ext>
            </a:extLst>
          </p:cNvPr>
          <p:cNvSpPr txBox="1"/>
          <p:nvPr/>
        </p:nvSpPr>
        <p:spPr>
          <a:xfrm>
            <a:off x="2988623" y="4335611"/>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22" name="TextBox 21">
            <a:extLst>
              <a:ext uri="{FF2B5EF4-FFF2-40B4-BE49-F238E27FC236}">
                <a16:creationId xmlns:a16="http://schemas.microsoft.com/office/drawing/2014/main" id="{4D9F2434-436A-D8CD-BAB5-AA1F4CDE19B0}"/>
              </a:ext>
            </a:extLst>
          </p:cNvPr>
          <p:cNvSpPr txBox="1"/>
          <p:nvPr/>
        </p:nvSpPr>
        <p:spPr>
          <a:xfrm>
            <a:off x="0" y="2131450"/>
            <a:ext cx="1148736" cy="553998"/>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log</a:t>
            </a:r>
          </a:p>
          <a:p>
            <a:r>
              <a:rPr lang="en-US" sz="1500" dirty="0">
                <a:solidFill>
                  <a:schemeClr val="accent6">
                    <a:lumMod val="50000"/>
                  </a:schemeClr>
                </a:solidFill>
                <a:latin typeface="Avenir Book" panose="02000503020000020003" pitchFamily="2" charset="0"/>
              </a:rPr>
              <a:t>(Count)</a:t>
            </a:r>
          </a:p>
        </p:txBody>
      </p:sp>
      <p:cxnSp>
        <p:nvCxnSpPr>
          <p:cNvPr id="29" name="Straight Connector 28">
            <a:extLst>
              <a:ext uri="{FF2B5EF4-FFF2-40B4-BE49-F238E27FC236}">
                <a16:creationId xmlns:a16="http://schemas.microsoft.com/office/drawing/2014/main" id="{77D3AC84-7595-D08F-9810-530DFBE4045E}"/>
              </a:ext>
            </a:extLst>
          </p:cNvPr>
          <p:cNvCxnSpPr>
            <a:cxnSpLocks/>
          </p:cNvCxnSpPr>
          <p:nvPr/>
        </p:nvCxnSpPr>
        <p:spPr>
          <a:xfrm flipV="1">
            <a:off x="1229303" y="795635"/>
            <a:ext cx="3643786" cy="2654156"/>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25AA1E12-0038-E972-41A5-2610944C9620}"/>
              </a:ext>
            </a:extLst>
          </p:cNvPr>
          <p:cNvSpPr/>
          <p:nvPr/>
        </p:nvSpPr>
        <p:spPr>
          <a:xfrm>
            <a:off x="2327409" y="325579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3C0E0B8-FA0E-EE38-0163-10D5083524F2}"/>
              </a:ext>
            </a:extLst>
          </p:cNvPr>
          <p:cNvSpPr/>
          <p:nvPr/>
        </p:nvSpPr>
        <p:spPr>
          <a:xfrm>
            <a:off x="3453946" y="93092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4D95946-FDD9-8640-0221-2E0BAB88ADE4}"/>
              </a:ext>
            </a:extLst>
          </p:cNvPr>
          <p:cNvSpPr/>
          <p:nvPr/>
        </p:nvSpPr>
        <p:spPr>
          <a:xfrm>
            <a:off x="2988623" y="202717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C97500C1-09F0-EFC6-E054-AEE8B53CF5A8}"/>
              </a:ext>
            </a:extLst>
          </p:cNvPr>
          <p:cNvSpPr/>
          <p:nvPr/>
        </p:nvSpPr>
        <p:spPr>
          <a:xfrm>
            <a:off x="3968380" y="169646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545D0A19-9465-D2C8-611A-F21947FBE7D3}"/>
              </a:ext>
            </a:extLst>
          </p:cNvPr>
          <p:cNvSpPr/>
          <p:nvPr/>
        </p:nvSpPr>
        <p:spPr>
          <a:xfrm>
            <a:off x="3280500" y="240844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C246C06-C71E-EE71-2920-9B13DE1023AA}"/>
              </a:ext>
            </a:extLst>
          </p:cNvPr>
          <p:cNvSpPr/>
          <p:nvPr/>
        </p:nvSpPr>
        <p:spPr>
          <a:xfrm>
            <a:off x="4682695" y="31710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E6377EB-F5B1-C85E-C001-FB474D8C6717}"/>
              </a:ext>
            </a:extLst>
          </p:cNvPr>
          <p:cNvSpPr/>
          <p:nvPr/>
        </p:nvSpPr>
        <p:spPr>
          <a:xfrm>
            <a:off x="4617307" y="131468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65F93CBB-111D-338A-AC85-1AAF276B5DBF}"/>
              </a:ext>
            </a:extLst>
          </p:cNvPr>
          <p:cNvGrpSpPr/>
          <p:nvPr/>
        </p:nvGrpSpPr>
        <p:grpSpPr>
          <a:xfrm>
            <a:off x="7167196" y="541979"/>
            <a:ext cx="4483682" cy="3438144"/>
            <a:chOff x="1402080" y="2616948"/>
            <a:chExt cx="9851136" cy="3438144"/>
          </a:xfrm>
        </p:grpSpPr>
        <p:cxnSp>
          <p:nvCxnSpPr>
            <p:cNvPr id="47" name="Straight Arrow Connector 46">
              <a:extLst>
                <a:ext uri="{FF2B5EF4-FFF2-40B4-BE49-F238E27FC236}">
                  <a16:creationId xmlns:a16="http://schemas.microsoft.com/office/drawing/2014/main" id="{F64574F7-1344-F8C3-3657-AFFD3CAD5E4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EE6FD80-8AB0-8E10-1CAD-03E3D7CD8363}"/>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2A023938-2CB1-9F35-C608-46C92BEA5229}"/>
              </a:ext>
            </a:extLst>
          </p:cNvPr>
          <p:cNvSpPr txBox="1"/>
          <p:nvPr/>
        </p:nvSpPr>
        <p:spPr>
          <a:xfrm>
            <a:off x="5913314" y="214364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   Count</a:t>
            </a:r>
          </a:p>
        </p:txBody>
      </p:sp>
      <p:sp>
        <p:nvSpPr>
          <p:cNvPr id="49" name="Oval 48">
            <a:extLst>
              <a:ext uri="{FF2B5EF4-FFF2-40B4-BE49-F238E27FC236}">
                <a16:creationId xmlns:a16="http://schemas.microsoft.com/office/drawing/2014/main" id="{3D6EBAA8-49E9-7C22-CF67-714F50A93349}"/>
              </a:ext>
            </a:extLst>
          </p:cNvPr>
          <p:cNvSpPr/>
          <p:nvPr/>
        </p:nvSpPr>
        <p:spPr>
          <a:xfrm>
            <a:off x="7464345" y="312649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6EFF60F-07C6-7FF7-FE10-6BCF77686A2B}"/>
              </a:ext>
            </a:extLst>
          </p:cNvPr>
          <p:cNvSpPr/>
          <p:nvPr/>
        </p:nvSpPr>
        <p:spPr>
          <a:xfrm>
            <a:off x="8132332" y="303161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20B1DA3-5E0A-003F-2C74-C9AE46ADFC66}"/>
              </a:ext>
            </a:extLst>
          </p:cNvPr>
          <p:cNvSpPr/>
          <p:nvPr/>
        </p:nvSpPr>
        <p:spPr>
          <a:xfrm>
            <a:off x="8636338" y="363913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BA60B6BD-4F2F-7974-A83A-E36405884F64}"/>
              </a:ext>
            </a:extLst>
          </p:cNvPr>
          <p:cNvSpPr/>
          <p:nvPr/>
        </p:nvSpPr>
        <p:spPr>
          <a:xfrm>
            <a:off x="9761101" y="166304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496754D3-88BD-CD8C-B3AF-2DDD023D8E97}"/>
              </a:ext>
            </a:extLst>
          </p:cNvPr>
          <p:cNvSpPr/>
          <p:nvPr/>
        </p:nvSpPr>
        <p:spPr>
          <a:xfrm>
            <a:off x="9064027" y="235421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692B135-C2D4-0414-D16E-D8640B34212A}"/>
              </a:ext>
            </a:extLst>
          </p:cNvPr>
          <p:cNvSpPr/>
          <p:nvPr/>
        </p:nvSpPr>
        <p:spPr>
          <a:xfrm>
            <a:off x="10401039" y="173454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01937CA3-6178-3EF9-C944-069201834FAE}"/>
              </a:ext>
            </a:extLst>
          </p:cNvPr>
          <p:cNvSpPr/>
          <p:nvPr/>
        </p:nvSpPr>
        <p:spPr>
          <a:xfrm>
            <a:off x="9898564" y="284281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FDBC89FB-04B6-A802-A58E-FE294805CA95}"/>
              </a:ext>
            </a:extLst>
          </p:cNvPr>
          <p:cNvSpPr/>
          <p:nvPr/>
        </p:nvSpPr>
        <p:spPr>
          <a:xfrm>
            <a:off x="10989276" y="18659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0A32BB37-DEC3-3AEB-BC87-54C82F4F7103}"/>
              </a:ext>
            </a:extLst>
          </p:cNvPr>
          <p:cNvSpPr/>
          <p:nvPr/>
        </p:nvSpPr>
        <p:spPr>
          <a:xfrm>
            <a:off x="10988460" y="145927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9249CB2F-D392-EA8A-EBC2-2490001F3B2A}"/>
              </a:ext>
            </a:extLst>
          </p:cNvPr>
          <p:cNvSpPr/>
          <p:nvPr/>
        </p:nvSpPr>
        <p:spPr>
          <a:xfrm>
            <a:off x="7169417" y="380248"/>
            <a:ext cx="4154555" cy="3257847"/>
          </a:xfrm>
          <a:custGeom>
            <a:avLst/>
            <a:gdLst>
              <a:gd name="connsiteX0" fmla="*/ 0 w 3657600"/>
              <a:gd name="connsiteY0" fmla="*/ 2475571 h 2482174"/>
              <a:gd name="connsiteX1" fmla="*/ 2163337 w 3657600"/>
              <a:gd name="connsiteY1" fmla="*/ 2096430 h 2482174"/>
              <a:gd name="connsiteX2" fmla="*/ 3657600 w 3657600"/>
              <a:gd name="connsiteY2" fmla="*/ 0 h 2482174"/>
            </a:gdLst>
            <a:ahLst/>
            <a:cxnLst>
              <a:cxn ang="0">
                <a:pos x="connsiteX0" y="connsiteY0"/>
              </a:cxn>
              <a:cxn ang="0">
                <a:pos x="connsiteX1" y="connsiteY1"/>
              </a:cxn>
              <a:cxn ang="0">
                <a:pos x="connsiteX2" y="connsiteY2"/>
              </a:cxn>
            </a:cxnLst>
            <a:rect l="l" t="t" r="r" b="b"/>
            <a:pathLst>
              <a:path w="3657600" h="2482174">
                <a:moveTo>
                  <a:pt x="0" y="2475571"/>
                </a:moveTo>
                <a:cubicBezTo>
                  <a:pt x="776868" y="2492298"/>
                  <a:pt x="1553737" y="2509025"/>
                  <a:pt x="2163337" y="2096430"/>
                </a:cubicBezTo>
                <a:cubicBezTo>
                  <a:pt x="2772937" y="1683835"/>
                  <a:pt x="3215268" y="841917"/>
                  <a:pt x="3657600" y="0"/>
                </a:cubicBezTo>
              </a:path>
            </a:pathLst>
          </a:custGeom>
          <a:no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70297A31-26C6-6CF4-92D0-3EE6BFE2D33D}"/>
              </a:ext>
            </a:extLst>
          </p:cNvPr>
          <p:cNvSpPr txBox="1"/>
          <p:nvPr/>
        </p:nvSpPr>
        <p:spPr>
          <a:xfrm>
            <a:off x="905387" y="405200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62" name="TextBox 61">
            <a:extLst>
              <a:ext uri="{FF2B5EF4-FFF2-40B4-BE49-F238E27FC236}">
                <a16:creationId xmlns:a16="http://schemas.microsoft.com/office/drawing/2014/main" id="{37B9E081-4745-8DBE-D630-EF01681525C5}"/>
              </a:ext>
            </a:extLst>
          </p:cNvPr>
          <p:cNvSpPr txBox="1"/>
          <p:nvPr/>
        </p:nvSpPr>
        <p:spPr>
          <a:xfrm>
            <a:off x="868015" y="76612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63" name="TextBox 62">
            <a:extLst>
              <a:ext uri="{FF2B5EF4-FFF2-40B4-BE49-F238E27FC236}">
                <a16:creationId xmlns:a16="http://schemas.microsoft.com/office/drawing/2014/main" id="{F159EA63-E4CD-45A7-2C7F-099E1588FCE0}"/>
              </a:ext>
            </a:extLst>
          </p:cNvPr>
          <p:cNvSpPr txBox="1"/>
          <p:nvPr/>
        </p:nvSpPr>
        <p:spPr>
          <a:xfrm>
            <a:off x="868015" y="332757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64" name="TextBox 63">
            <a:extLst>
              <a:ext uri="{FF2B5EF4-FFF2-40B4-BE49-F238E27FC236}">
                <a16:creationId xmlns:a16="http://schemas.microsoft.com/office/drawing/2014/main" id="{15757FA7-782E-BE38-4D24-992C05F3B756}"/>
              </a:ext>
            </a:extLst>
          </p:cNvPr>
          <p:cNvSpPr txBox="1"/>
          <p:nvPr/>
        </p:nvSpPr>
        <p:spPr>
          <a:xfrm>
            <a:off x="868015" y="268721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65" name="TextBox 64">
            <a:extLst>
              <a:ext uri="{FF2B5EF4-FFF2-40B4-BE49-F238E27FC236}">
                <a16:creationId xmlns:a16="http://schemas.microsoft.com/office/drawing/2014/main" id="{79A7A924-356B-5725-9F5F-1297D85EDBE1}"/>
              </a:ext>
            </a:extLst>
          </p:cNvPr>
          <p:cNvSpPr txBox="1"/>
          <p:nvPr/>
        </p:nvSpPr>
        <p:spPr>
          <a:xfrm>
            <a:off x="868015" y="204685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66" name="TextBox 65">
            <a:extLst>
              <a:ext uri="{FF2B5EF4-FFF2-40B4-BE49-F238E27FC236}">
                <a16:creationId xmlns:a16="http://schemas.microsoft.com/office/drawing/2014/main" id="{FF916B41-DB1F-68F5-A4BC-C5E27EBEFB72}"/>
              </a:ext>
            </a:extLst>
          </p:cNvPr>
          <p:cNvSpPr txBox="1"/>
          <p:nvPr/>
        </p:nvSpPr>
        <p:spPr>
          <a:xfrm>
            <a:off x="868015" y="140648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67" name="TextBox 66">
            <a:extLst>
              <a:ext uri="{FF2B5EF4-FFF2-40B4-BE49-F238E27FC236}">
                <a16:creationId xmlns:a16="http://schemas.microsoft.com/office/drawing/2014/main" id="{C7CECD96-F233-E270-0E84-178890741FD3}"/>
              </a:ext>
            </a:extLst>
          </p:cNvPr>
          <p:cNvSpPr txBox="1"/>
          <p:nvPr/>
        </p:nvSpPr>
        <p:spPr>
          <a:xfrm>
            <a:off x="1734099" y="4052001"/>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1" name="TextBox 70">
            <a:extLst>
              <a:ext uri="{FF2B5EF4-FFF2-40B4-BE49-F238E27FC236}">
                <a16:creationId xmlns:a16="http://schemas.microsoft.com/office/drawing/2014/main" id="{69C5CDD0-C571-13D1-7C12-8140211AE348}"/>
              </a:ext>
            </a:extLst>
          </p:cNvPr>
          <p:cNvSpPr txBox="1"/>
          <p:nvPr/>
        </p:nvSpPr>
        <p:spPr>
          <a:xfrm>
            <a:off x="9069416" y="4366742"/>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72" name="TextBox 71">
            <a:extLst>
              <a:ext uri="{FF2B5EF4-FFF2-40B4-BE49-F238E27FC236}">
                <a16:creationId xmlns:a16="http://schemas.microsoft.com/office/drawing/2014/main" id="{E792D589-2DA3-F402-CF76-887651E3412C}"/>
              </a:ext>
            </a:extLst>
          </p:cNvPr>
          <p:cNvSpPr txBox="1"/>
          <p:nvPr/>
        </p:nvSpPr>
        <p:spPr>
          <a:xfrm>
            <a:off x="6900996" y="408376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73" name="TextBox 72">
            <a:extLst>
              <a:ext uri="{FF2B5EF4-FFF2-40B4-BE49-F238E27FC236}">
                <a16:creationId xmlns:a16="http://schemas.microsoft.com/office/drawing/2014/main" id="{D9E1F349-C27E-A7C0-3988-A744E3A0DEDB}"/>
              </a:ext>
            </a:extLst>
          </p:cNvPr>
          <p:cNvSpPr txBox="1"/>
          <p:nvPr/>
        </p:nvSpPr>
        <p:spPr>
          <a:xfrm>
            <a:off x="7567164" y="4093815"/>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4" name="Oval 73">
            <a:extLst>
              <a:ext uri="{FF2B5EF4-FFF2-40B4-BE49-F238E27FC236}">
                <a16:creationId xmlns:a16="http://schemas.microsoft.com/office/drawing/2014/main" id="{1AD5D4FA-C409-1C8B-5CDD-F4430DFB2CDD}"/>
              </a:ext>
            </a:extLst>
          </p:cNvPr>
          <p:cNvSpPr/>
          <p:nvPr/>
        </p:nvSpPr>
        <p:spPr>
          <a:xfrm>
            <a:off x="1682827" y="269930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9C2DE8C5-7ACE-F13F-7CEF-CC21478482D7}"/>
              </a:ext>
            </a:extLst>
          </p:cNvPr>
          <p:cNvSpPr/>
          <p:nvPr/>
        </p:nvSpPr>
        <p:spPr>
          <a:xfrm>
            <a:off x="2206523" y="222680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D6E54285-5FE1-9CB5-C7B4-AA676F895745}"/>
              </a:ext>
            </a:extLst>
          </p:cNvPr>
          <p:cNvSpPr txBox="1"/>
          <p:nvPr/>
        </p:nvSpPr>
        <p:spPr>
          <a:xfrm>
            <a:off x="6609692" y="631536"/>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148</a:t>
            </a:r>
          </a:p>
        </p:txBody>
      </p:sp>
      <p:sp>
        <p:nvSpPr>
          <p:cNvPr id="82" name="TextBox 81">
            <a:extLst>
              <a:ext uri="{FF2B5EF4-FFF2-40B4-BE49-F238E27FC236}">
                <a16:creationId xmlns:a16="http://schemas.microsoft.com/office/drawing/2014/main" id="{26336C93-2C1A-D7D2-5333-A75C5F853337}"/>
              </a:ext>
            </a:extLst>
          </p:cNvPr>
          <p:cNvSpPr txBox="1"/>
          <p:nvPr/>
        </p:nvSpPr>
        <p:spPr>
          <a:xfrm>
            <a:off x="6735935" y="330068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83" name="TextBox 82">
            <a:extLst>
              <a:ext uri="{FF2B5EF4-FFF2-40B4-BE49-F238E27FC236}">
                <a16:creationId xmlns:a16="http://schemas.microsoft.com/office/drawing/2014/main" id="{E91E908E-A8FA-8468-5684-EC0BB4A6F989}"/>
              </a:ext>
            </a:extLst>
          </p:cNvPr>
          <p:cNvSpPr txBox="1"/>
          <p:nvPr/>
        </p:nvSpPr>
        <p:spPr>
          <a:xfrm>
            <a:off x="6735935" y="265971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7</a:t>
            </a:r>
          </a:p>
        </p:txBody>
      </p:sp>
      <p:sp>
        <p:nvSpPr>
          <p:cNvPr id="84" name="TextBox 83">
            <a:extLst>
              <a:ext uri="{FF2B5EF4-FFF2-40B4-BE49-F238E27FC236}">
                <a16:creationId xmlns:a16="http://schemas.microsoft.com/office/drawing/2014/main" id="{745E08BA-2029-3693-9C44-06AF8E2A6D48}"/>
              </a:ext>
            </a:extLst>
          </p:cNvPr>
          <p:cNvSpPr txBox="1"/>
          <p:nvPr/>
        </p:nvSpPr>
        <p:spPr>
          <a:xfrm>
            <a:off x="6666343" y="20298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20</a:t>
            </a:r>
          </a:p>
        </p:txBody>
      </p:sp>
      <p:sp>
        <p:nvSpPr>
          <p:cNvPr id="85" name="TextBox 84">
            <a:extLst>
              <a:ext uri="{FF2B5EF4-FFF2-40B4-BE49-F238E27FC236}">
                <a16:creationId xmlns:a16="http://schemas.microsoft.com/office/drawing/2014/main" id="{AA2C1CDA-0973-8BD1-2733-B8E4D0E1AFC5}"/>
              </a:ext>
            </a:extLst>
          </p:cNvPr>
          <p:cNvSpPr txBox="1"/>
          <p:nvPr/>
        </p:nvSpPr>
        <p:spPr>
          <a:xfrm>
            <a:off x="6660736" y="138890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55</a:t>
            </a:r>
          </a:p>
        </p:txBody>
      </p:sp>
      <p:graphicFrame>
        <p:nvGraphicFramePr>
          <p:cNvPr id="2" name="Table 1">
            <a:extLst>
              <a:ext uri="{FF2B5EF4-FFF2-40B4-BE49-F238E27FC236}">
                <a16:creationId xmlns:a16="http://schemas.microsoft.com/office/drawing/2014/main" id="{74D53BEF-2EAF-59A1-F342-C4FD421420D4}"/>
              </a:ext>
            </a:extLst>
          </p:cNvPr>
          <p:cNvGraphicFramePr>
            <a:graphicFrameLocks noGrp="1"/>
          </p:cNvGraphicFramePr>
          <p:nvPr>
            <p:extLst>
              <p:ext uri="{D42A27DB-BD31-4B8C-83A1-F6EECF244321}">
                <p14:modId xmlns:p14="http://schemas.microsoft.com/office/powerpoint/2010/main" val="2021548604"/>
              </p:ext>
            </p:extLst>
          </p:nvPr>
        </p:nvGraphicFramePr>
        <p:xfrm>
          <a:off x="735214" y="5297602"/>
          <a:ext cx="5178100" cy="138176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0.08</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bl>
          </a:graphicData>
        </a:graphic>
      </p:graphicFrame>
      <p:sp>
        <p:nvSpPr>
          <p:cNvPr id="3" name="TextBox 2">
            <a:extLst>
              <a:ext uri="{FF2B5EF4-FFF2-40B4-BE49-F238E27FC236}">
                <a16:creationId xmlns:a16="http://schemas.microsoft.com/office/drawing/2014/main" id="{C3E17ACE-54B7-E314-5BAD-FE1CF09C9440}"/>
              </a:ext>
            </a:extLst>
          </p:cNvPr>
          <p:cNvSpPr txBox="1"/>
          <p:nvPr/>
        </p:nvSpPr>
        <p:spPr>
          <a:xfrm>
            <a:off x="7138785" y="4832777"/>
            <a:ext cx="45120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In year 0, the log of the number of birds is 1. </a:t>
            </a:r>
          </a:p>
        </p:txBody>
      </p:sp>
      <p:sp>
        <p:nvSpPr>
          <p:cNvPr id="6" name="TextBox 5">
            <a:extLst>
              <a:ext uri="{FF2B5EF4-FFF2-40B4-BE49-F238E27FC236}">
                <a16:creationId xmlns:a16="http://schemas.microsoft.com/office/drawing/2014/main" id="{F8F0472C-7652-2921-2C0F-0166B23EA5DE}"/>
              </a:ext>
            </a:extLst>
          </p:cNvPr>
          <p:cNvSpPr txBox="1"/>
          <p:nvPr/>
        </p:nvSpPr>
        <p:spPr>
          <a:xfrm>
            <a:off x="6613256" y="5400397"/>
            <a:ext cx="5400068" cy="784830"/>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If 	</a:t>
            </a:r>
            <a:r>
              <a:rPr lang="en-US" sz="1500" dirty="0" err="1">
                <a:solidFill>
                  <a:schemeClr val="accent6">
                    <a:lumMod val="50000"/>
                  </a:schemeClr>
                </a:solidFill>
                <a:latin typeface="Avenir Book" panose="02000503020000020003" pitchFamily="2" charset="0"/>
              </a:rPr>
              <a:t>log</a:t>
            </a:r>
            <a:r>
              <a:rPr lang="en-US" sz="1500" baseline="-25000" dirty="0" err="1">
                <a:solidFill>
                  <a:schemeClr val="accent6">
                    <a:lumMod val="50000"/>
                  </a:schemeClr>
                </a:solidFill>
                <a:latin typeface="Avenir Book" panose="02000503020000020003" pitchFamily="2" charset="0"/>
              </a:rPr>
              <a:t>e</a:t>
            </a:r>
            <a:r>
              <a:rPr lang="en-US" sz="1500" dirty="0" err="1">
                <a:solidFill>
                  <a:schemeClr val="accent6">
                    <a:lumMod val="50000"/>
                  </a:schemeClr>
                </a:solidFill>
                <a:latin typeface="Avenir Book" panose="02000503020000020003" pitchFamily="2" charset="0"/>
              </a:rPr>
              <a:t>a</a:t>
            </a:r>
            <a:r>
              <a:rPr lang="en-US" sz="1500" dirty="0">
                <a:solidFill>
                  <a:schemeClr val="accent6">
                    <a:lumMod val="50000"/>
                  </a:schemeClr>
                </a:solidFill>
                <a:latin typeface="Avenir Book" panose="02000503020000020003" pitchFamily="2" charset="0"/>
              </a:rPr>
              <a:t> = b 		then 	</a:t>
            </a:r>
            <a:r>
              <a:rPr lang="en-US" sz="1500" dirty="0" err="1">
                <a:solidFill>
                  <a:schemeClr val="accent6">
                    <a:lumMod val="50000"/>
                  </a:schemeClr>
                </a:solidFill>
                <a:latin typeface="Avenir Book" panose="02000503020000020003" pitchFamily="2" charset="0"/>
              </a:rPr>
              <a:t>e</a:t>
            </a:r>
            <a:r>
              <a:rPr lang="en-US" sz="1500" baseline="30000" dirty="0" err="1">
                <a:solidFill>
                  <a:schemeClr val="accent6">
                    <a:lumMod val="50000"/>
                  </a:schemeClr>
                </a:solidFill>
                <a:latin typeface="Avenir Book" panose="02000503020000020003" pitchFamily="2" charset="0"/>
              </a:rPr>
              <a:t>b</a:t>
            </a:r>
            <a:r>
              <a:rPr lang="en-US" sz="1500" dirty="0">
                <a:solidFill>
                  <a:schemeClr val="accent6">
                    <a:lumMod val="50000"/>
                  </a:schemeClr>
                </a:solidFill>
                <a:latin typeface="Avenir Book" panose="02000503020000020003" pitchFamily="2" charset="0"/>
              </a:rPr>
              <a:t> = a</a:t>
            </a:r>
          </a:p>
          <a:p>
            <a:endParaRPr lang="en-US" sz="1500" dirty="0">
              <a:solidFill>
                <a:schemeClr val="accent6">
                  <a:lumMod val="50000"/>
                </a:schemeClr>
              </a:solidFill>
              <a:latin typeface="Avenir Book" panose="02000503020000020003" pitchFamily="2" charset="0"/>
            </a:endParaRPr>
          </a:p>
          <a:p>
            <a:endParaRPr lang="en-US" sz="15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7721259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98413-F456-D974-86A1-E67FB169F852}"/>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1AB4880-6A83-7AD8-88D8-55302027A639}"/>
              </a:ext>
            </a:extLst>
          </p:cNvPr>
          <p:cNvGrpSpPr/>
          <p:nvPr/>
        </p:nvGrpSpPr>
        <p:grpSpPr>
          <a:xfrm>
            <a:off x="1222259" y="541979"/>
            <a:ext cx="4483682" cy="3438144"/>
            <a:chOff x="1402080" y="2616948"/>
            <a:chExt cx="9851136" cy="3438144"/>
          </a:xfrm>
        </p:grpSpPr>
        <p:cxnSp>
          <p:nvCxnSpPr>
            <p:cNvPr id="31" name="Straight Arrow Connector 30">
              <a:extLst>
                <a:ext uri="{FF2B5EF4-FFF2-40B4-BE49-F238E27FC236}">
                  <a16:creationId xmlns:a16="http://schemas.microsoft.com/office/drawing/2014/main" id="{B3E02E74-DD87-86D0-0198-F2B01997393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339BCDB-EE29-E1C7-A86C-4D9E8C9B9828}"/>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1103F095-1212-B214-1BE1-E060729DAC08}"/>
              </a:ext>
            </a:extLst>
          </p:cNvPr>
          <p:cNvSpPr txBox="1"/>
          <p:nvPr/>
        </p:nvSpPr>
        <p:spPr>
          <a:xfrm>
            <a:off x="2988623" y="4335611"/>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22" name="TextBox 21">
            <a:extLst>
              <a:ext uri="{FF2B5EF4-FFF2-40B4-BE49-F238E27FC236}">
                <a16:creationId xmlns:a16="http://schemas.microsoft.com/office/drawing/2014/main" id="{D08326C5-D226-C770-447B-AD65EEE6D859}"/>
              </a:ext>
            </a:extLst>
          </p:cNvPr>
          <p:cNvSpPr txBox="1"/>
          <p:nvPr/>
        </p:nvSpPr>
        <p:spPr>
          <a:xfrm>
            <a:off x="0" y="2131450"/>
            <a:ext cx="1148736" cy="553998"/>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log</a:t>
            </a:r>
          </a:p>
          <a:p>
            <a:r>
              <a:rPr lang="en-US" sz="1500" dirty="0">
                <a:solidFill>
                  <a:schemeClr val="accent6">
                    <a:lumMod val="50000"/>
                  </a:schemeClr>
                </a:solidFill>
                <a:latin typeface="Avenir Book" panose="02000503020000020003" pitchFamily="2" charset="0"/>
              </a:rPr>
              <a:t>(Count)</a:t>
            </a:r>
          </a:p>
        </p:txBody>
      </p:sp>
      <p:cxnSp>
        <p:nvCxnSpPr>
          <p:cNvPr id="29" name="Straight Connector 28">
            <a:extLst>
              <a:ext uri="{FF2B5EF4-FFF2-40B4-BE49-F238E27FC236}">
                <a16:creationId xmlns:a16="http://schemas.microsoft.com/office/drawing/2014/main" id="{680D8473-288F-D840-A827-7B5E5536FC25}"/>
              </a:ext>
            </a:extLst>
          </p:cNvPr>
          <p:cNvCxnSpPr>
            <a:cxnSpLocks/>
          </p:cNvCxnSpPr>
          <p:nvPr/>
        </p:nvCxnSpPr>
        <p:spPr>
          <a:xfrm flipV="1">
            <a:off x="1229303" y="795635"/>
            <a:ext cx="3643786" cy="2654156"/>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B31CD8E8-BFFF-7261-5DBA-39668A41B9D1}"/>
              </a:ext>
            </a:extLst>
          </p:cNvPr>
          <p:cNvSpPr/>
          <p:nvPr/>
        </p:nvSpPr>
        <p:spPr>
          <a:xfrm>
            <a:off x="2327409" y="325579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750CE97-F58E-D8A9-2357-F0C79E3F4AC2}"/>
              </a:ext>
            </a:extLst>
          </p:cNvPr>
          <p:cNvSpPr/>
          <p:nvPr/>
        </p:nvSpPr>
        <p:spPr>
          <a:xfrm>
            <a:off x="3453946" y="93092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D5EB5018-8DEE-2776-51EF-D335562AECE2}"/>
              </a:ext>
            </a:extLst>
          </p:cNvPr>
          <p:cNvSpPr/>
          <p:nvPr/>
        </p:nvSpPr>
        <p:spPr>
          <a:xfrm>
            <a:off x="2988623" y="202717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5203326-6B76-71A0-71AF-F95706C14087}"/>
              </a:ext>
            </a:extLst>
          </p:cNvPr>
          <p:cNvSpPr/>
          <p:nvPr/>
        </p:nvSpPr>
        <p:spPr>
          <a:xfrm>
            <a:off x="3968380" y="169646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B906297-A662-2FC5-8111-A00931F148AD}"/>
              </a:ext>
            </a:extLst>
          </p:cNvPr>
          <p:cNvSpPr/>
          <p:nvPr/>
        </p:nvSpPr>
        <p:spPr>
          <a:xfrm>
            <a:off x="3280500" y="240844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823C502-D5B8-BC13-FB5E-EC903145F8AF}"/>
              </a:ext>
            </a:extLst>
          </p:cNvPr>
          <p:cNvSpPr/>
          <p:nvPr/>
        </p:nvSpPr>
        <p:spPr>
          <a:xfrm>
            <a:off x="4682695" y="31710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25E779C1-7B32-84D5-1D81-8E6BEDE044A3}"/>
              </a:ext>
            </a:extLst>
          </p:cNvPr>
          <p:cNvSpPr/>
          <p:nvPr/>
        </p:nvSpPr>
        <p:spPr>
          <a:xfrm>
            <a:off x="4617307" y="131468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D10B6A2C-4CAF-06E3-A7CB-AB43B28E390B}"/>
              </a:ext>
            </a:extLst>
          </p:cNvPr>
          <p:cNvGrpSpPr/>
          <p:nvPr/>
        </p:nvGrpSpPr>
        <p:grpSpPr>
          <a:xfrm>
            <a:off x="7167196" y="541979"/>
            <a:ext cx="4483682" cy="3438144"/>
            <a:chOff x="1402080" y="2616948"/>
            <a:chExt cx="9851136" cy="3438144"/>
          </a:xfrm>
        </p:grpSpPr>
        <p:cxnSp>
          <p:nvCxnSpPr>
            <p:cNvPr id="47" name="Straight Arrow Connector 46">
              <a:extLst>
                <a:ext uri="{FF2B5EF4-FFF2-40B4-BE49-F238E27FC236}">
                  <a16:creationId xmlns:a16="http://schemas.microsoft.com/office/drawing/2014/main" id="{1699CAC9-DDEE-C6FB-EFD6-8C7DA27EEFBD}"/>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E02C4E9-4EE1-223E-076D-C9E861919814}"/>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A2CAE417-926F-1AC1-9E1F-A2E8E593BDB4}"/>
              </a:ext>
            </a:extLst>
          </p:cNvPr>
          <p:cNvSpPr txBox="1"/>
          <p:nvPr/>
        </p:nvSpPr>
        <p:spPr>
          <a:xfrm>
            <a:off x="5913314" y="214364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   Count</a:t>
            </a:r>
          </a:p>
        </p:txBody>
      </p:sp>
      <p:sp>
        <p:nvSpPr>
          <p:cNvPr id="49" name="Oval 48">
            <a:extLst>
              <a:ext uri="{FF2B5EF4-FFF2-40B4-BE49-F238E27FC236}">
                <a16:creationId xmlns:a16="http://schemas.microsoft.com/office/drawing/2014/main" id="{1408E3B2-5503-DABC-7251-C1017D2128FF}"/>
              </a:ext>
            </a:extLst>
          </p:cNvPr>
          <p:cNvSpPr/>
          <p:nvPr/>
        </p:nvSpPr>
        <p:spPr>
          <a:xfrm>
            <a:off x="7464345" y="312649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DD100199-5FAB-5003-1CD7-CC625348E224}"/>
              </a:ext>
            </a:extLst>
          </p:cNvPr>
          <p:cNvSpPr/>
          <p:nvPr/>
        </p:nvSpPr>
        <p:spPr>
          <a:xfrm>
            <a:off x="8132332" y="303161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7A0820D5-DE69-F325-0D5D-FC46CD0A4D24}"/>
              </a:ext>
            </a:extLst>
          </p:cNvPr>
          <p:cNvSpPr/>
          <p:nvPr/>
        </p:nvSpPr>
        <p:spPr>
          <a:xfrm>
            <a:off x="8636338" y="363913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06801222-4237-F21D-4B55-156C144FB6C7}"/>
              </a:ext>
            </a:extLst>
          </p:cNvPr>
          <p:cNvSpPr/>
          <p:nvPr/>
        </p:nvSpPr>
        <p:spPr>
          <a:xfrm>
            <a:off x="9761101" y="166304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5349266A-914A-B989-18EC-B9008307BDDB}"/>
              </a:ext>
            </a:extLst>
          </p:cNvPr>
          <p:cNvSpPr/>
          <p:nvPr/>
        </p:nvSpPr>
        <p:spPr>
          <a:xfrm>
            <a:off x="9064027" y="235421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A997843-1994-BD91-2F11-972D73031134}"/>
              </a:ext>
            </a:extLst>
          </p:cNvPr>
          <p:cNvSpPr/>
          <p:nvPr/>
        </p:nvSpPr>
        <p:spPr>
          <a:xfrm>
            <a:off x="10401039" y="173454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2DC3ADA8-31C1-393B-5C5C-C04374D1A39E}"/>
              </a:ext>
            </a:extLst>
          </p:cNvPr>
          <p:cNvSpPr/>
          <p:nvPr/>
        </p:nvSpPr>
        <p:spPr>
          <a:xfrm>
            <a:off x="9898564" y="284281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CCA36183-0E56-EA21-C1DF-6587F590A5C9}"/>
              </a:ext>
            </a:extLst>
          </p:cNvPr>
          <p:cNvSpPr/>
          <p:nvPr/>
        </p:nvSpPr>
        <p:spPr>
          <a:xfrm>
            <a:off x="10989276" y="18659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69C84D7-6D46-9FC4-3330-6A28562B1A74}"/>
              </a:ext>
            </a:extLst>
          </p:cNvPr>
          <p:cNvSpPr/>
          <p:nvPr/>
        </p:nvSpPr>
        <p:spPr>
          <a:xfrm>
            <a:off x="10988460" y="145927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B68990AD-368D-A62F-F00F-CEE57ED0083F}"/>
              </a:ext>
            </a:extLst>
          </p:cNvPr>
          <p:cNvSpPr/>
          <p:nvPr/>
        </p:nvSpPr>
        <p:spPr>
          <a:xfrm>
            <a:off x="7169417" y="380248"/>
            <a:ext cx="4154555" cy="3257847"/>
          </a:xfrm>
          <a:custGeom>
            <a:avLst/>
            <a:gdLst>
              <a:gd name="connsiteX0" fmla="*/ 0 w 3657600"/>
              <a:gd name="connsiteY0" fmla="*/ 2475571 h 2482174"/>
              <a:gd name="connsiteX1" fmla="*/ 2163337 w 3657600"/>
              <a:gd name="connsiteY1" fmla="*/ 2096430 h 2482174"/>
              <a:gd name="connsiteX2" fmla="*/ 3657600 w 3657600"/>
              <a:gd name="connsiteY2" fmla="*/ 0 h 2482174"/>
            </a:gdLst>
            <a:ahLst/>
            <a:cxnLst>
              <a:cxn ang="0">
                <a:pos x="connsiteX0" y="connsiteY0"/>
              </a:cxn>
              <a:cxn ang="0">
                <a:pos x="connsiteX1" y="connsiteY1"/>
              </a:cxn>
              <a:cxn ang="0">
                <a:pos x="connsiteX2" y="connsiteY2"/>
              </a:cxn>
            </a:cxnLst>
            <a:rect l="l" t="t" r="r" b="b"/>
            <a:pathLst>
              <a:path w="3657600" h="2482174">
                <a:moveTo>
                  <a:pt x="0" y="2475571"/>
                </a:moveTo>
                <a:cubicBezTo>
                  <a:pt x="776868" y="2492298"/>
                  <a:pt x="1553737" y="2509025"/>
                  <a:pt x="2163337" y="2096430"/>
                </a:cubicBezTo>
                <a:cubicBezTo>
                  <a:pt x="2772937" y="1683835"/>
                  <a:pt x="3215268" y="841917"/>
                  <a:pt x="3657600" y="0"/>
                </a:cubicBezTo>
              </a:path>
            </a:pathLst>
          </a:custGeom>
          <a:no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1A90B69E-0DE1-5105-A6DA-2A4FC95B3D35}"/>
              </a:ext>
            </a:extLst>
          </p:cNvPr>
          <p:cNvSpPr txBox="1"/>
          <p:nvPr/>
        </p:nvSpPr>
        <p:spPr>
          <a:xfrm>
            <a:off x="905387" y="405200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62" name="TextBox 61">
            <a:extLst>
              <a:ext uri="{FF2B5EF4-FFF2-40B4-BE49-F238E27FC236}">
                <a16:creationId xmlns:a16="http://schemas.microsoft.com/office/drawing/2014/main" id="{FE4C3627-03C8-B011-5F13-70E26ADEB514}"/>
              </a:ext>
            </a:extLst>
          </p:cNvPr>
          <p:cNvSpPr txBox="1"/>
          <p:nvPr/>
        </p:nvSpPr>
        <p:spPr>
          <a:xfrm>
            <a:off x="868015" y="76612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63" name="TextBox 62">
            <a:extLst>
              <a:ext uri="{FF2B5EF4-FFF2-40B4-BE49-F238E27FC236}">
                <a16:creationId xmlns:a16="http://schemas.microsoft.com/office/drawing/2014/main" id="{D8086925-ED62-12A3-5629-0A947B26BC0F}"/>
              </a:ext>
            </a:extLst>
          </p:cNvPr>
          <p:cNvSpPr txBox="1"/>
          <p:nvPr/>
        </p:nvSpPr>
        <p:spPr>
          <a:xfrm>
            <a:off x="868015" y="332757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64" name="TextBox 63">
            <a:extLst>
              <a:ext uri="{FF2B5EF4-FFF2-40B4-BE49-F238E27FC236}">
                <a16:creationId xmlns:a16="http://schemas.microsoft.com/office/drawing/2014/main" id="{9529F7AE-756F-E157-3AF3-53CD9C5651E4}"/>
              </a:ext>
            </a:extLst>
          </p:cNvPr>
          <p:cNvSpPr txBox="1"/>
          <p:nvPr/>
        </p:nvSpPr>
        <p:spPr>
          <a:xfrm>
            <a:off x="868015" y="268721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65" name="TextBox 64">
            <a:extLst>
              <a:ext uri="{FF2B5EF4-FFF2-40B4-BE49-F238E27FC236}">
                <a16:creationId xmlns:a16="http://schemas.microsoft.com/office/drawing/2014/main" id="{7AE4592C-B5FF-A18D-44C0-D6186DAD36EF}"/>
              </a:ext>
            </a:extLst>
          </p:cNvPr>
          <p:cNvSpPr txBox="1"/>
          <p:nvPr/>
        </p:nvSpPr>
        <p:spPr>
          <a:xfrm>
            <a:off x="868015" y="204685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66" name="TextBox 65">
            <a:extLst>
              <a:ext uri="{FF2B5EF4-FFF2-40B4-BE49-F238E27FC236}">
                <a16:creationId xmlns:a16="http://schemas.microsoft.com/office/drawing/2014/main" id="{037121E3-D6FC-89EE-EEFF-92F74A705096}"/>
              </a:ext>
            </a:extLst>
          </p:cNvPr>
          <p:cNvSpPr txBox="1"/>
          <p:nvPr/>
        </p:nvSpPr>
        <p:spPr>
          <a:xfrm>
            <a:off x="868015" y="140648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67" name="TextBox 66">
            <a:extLst>
              <a:ext uri="{FF2B5EF4-FFF2-40B4-BE49-F238E27FC236}">
                <a16:creationId xmlns:a16="http://schemas.microsoft.com/office/drawing/2014/main" id="{33C83801-61EB-ECC0-D250-917B5E3CA4A9}"/>
              </a:ext>
            </a:extLst>
          </p:cNvPr>
          <p:cNvSpPr txBox="1"/>
          <p:nvPr/>
        </p:nvSpPr>
        <p:spPr>
          <a:xfrm>
            <a:off x="1734099" y="4052001"/>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1" name="TextBox 70">
            <a:extLst>
              <a:ext uri="{FF2B5EF4-FFF2-40B4-BE49-F238E27FC236}">
                <a16:creationId xmlns:a16="http://schemas.microsoft.com/office/drawing/2014/main" id="{6DE4A27B-C395-D4F9-9C6D-904CD55261DD}"/>
              </a:ext>
            </a:extLst>
          </p:cNvPr>
          <p:cNvSpPr txBox="1"/>
          <p:nvPr/>
        </p:nvSpPr>
        <p:spPr>
          <a:xfrm>
            <a:off x="9069416" y="4366742"/>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72" name="TextBox 71">
            <a:extLst>
              <a:ext uri="{FF2B5EF4-FFF2-40B4-BE49-F238E27FC236}">
                <a16:creationId xmlns:a16="http://schemas.microsoft.com/office/drawing/2014/main" id="{702DC663-B341-28B9-BA69-EDF301FEF655}"/>
              </a:ext>
            </a:extLst>
          </p:cNvPr>
          <p:cNvSpPr txBox="1"/>
          <p:nvPr/>
        </p:nvSpPr>
        <p:spPr>
          <a:xfrm>
            <a:off x="6900996" y="408376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73" name="TextBox 72">
            <a:extLst>
              <a:ext uri="{FF2B5EF4-FFF2-40B4-BE49-F238E27FC236}">
                <a16:creationId xmlns:a16="http://schemas.microsoft.com/office/drawing/2014/main" id="{42345B27-EF4A-4B96-4073-307808C5B8E1}"/>
              </a:ext>
            </a:extLst>
          </p:cNvPr>
          <p:cNvSpPr txBox="1"/>
          <p:nvPr/>
        </p:nvSpPr>
        <p:spPr>
          <a:xfrm>
            <a:off x="7567164" y="4093815"/>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4" name="Oval 73">
            <a:extLst>
              <a:ext uri="{FF2B5EF4-FFF2-40B4-BE49-F238E27FC236}">
                <a16:creationId xmlns:a16="http://schemas.microsoft.com/office/drawing/2014/main" id="{68E39F82-A8C7-DE24-9498-6C06F16B4D71}"/>
              </a:ext>
            </a:extLst>
          </p:cNvPr>
          <p:cNvSpPr/>
          <p:nvPr/>
        </p:nvSpPr>
        <p:spPr>
          <a:xfrm>
            <a:off x="1682827" y="269930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18CC8AC-C6DF-8ADF-656F-04633D302FDA}"/>
              </a:ext>
            </a:extLst>
          </p:cNvPr>
          <p:cNvSpPr/>
          <p:nvPr/>
        </p:nvSpPr>
        <p:spPr>
          <a:xfrm>
            <a:off x="2206523" y="222680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CC67C680-B545-0EDB-B2A7-AA64308CE186}"/>
              </a:ext>
            </a:extLst>
          </p:cNvPr>
          <p:cNvSpPr txBox="1"/>
          <p:nvPr/>
        </p:nvSpPr>
        <p:spPr>
          <a:xfrm>
            <a:off x="6609692" y="631536"/>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148</a:t>
            </a:r>
          </a:p>
        </p:txBody>
      </p:sp>
      <p:sp>
        <p:nvSpPr>
          <p:cNvPr id="82" name="TextBox 81">
            <a:extLst>
              <a:ext uri="{FF2B5EF4-FFF2-40B4-BE49-F238E27FC236}">
                <a16:creationId xmlns:a16="http://schemas.microsoft.com/office/drawing/2014/main" id="{43259847-A374-D0B4-6250-4088C657149C}"/>
              </a:ext>
            </a:extLst>
          </p:cNvPr>
          <p:cNvSpPr txBox="1"/>
          <p:nvPr/>
        </p:nvSpPr>
        <p:spPr>
          <a:xfrm>
            <a:off x="6735935" y="330068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83" name="TextBox 82">
            <a:extLst>
              <a:ext uri="{FF2B5EF4-FFF2-40B4-BE49-F238E27FC236}">
                <a16:creationId xmlns:a16="http://schemas.microsoft.com/office/drawing/2014/main" id="{92CB8680-7346-853F-6D5D-AF2DC2DF3521}"/>
              </a:ext>
            </a:extLst>
          </p:cNvPr>
          <p:cNvSpPr txBox="1"/>
          <p:nvPr/>
        </p:nvSpPr>
        <p:spPr>
          <a:xfrm>
            <a:off x="6735935" y="265971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7</a:t>
            </a:r>
          </a:p>
        </p:txBody>
      </p:sp>
      <p:sp>
        <p:nvSpPr>
          <p:cNvPr id="84" name="TextBox 83">
            <a:extLst>
              <a:ext uri="{FF2B5EF4-FFF2-40B4-BE49-F238E27FC236}">
                <a16:creationId xmlns:a16="http://schemas.microsoft.com/office/drawing/2014/main" id="{A47E0EFB-DEEA-AE81-39E0-2FA2BCA00515}"/>
              </a:ext>
            </a:extLst>
          </p:cNvPr>
          <p:cNvSpPr txBox="1"/>
          <p:nvPr/>
        </p:nvSpPr>
        <p:spPr>
          <a:xfrm>
            <a:off x="6666343" y="20298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20</a:t>
            </a:r>
          </a:p>
        </p:txBody>
      </p:sp>
      <p:sp>
        <p:nvSpPr>
          <p:cNvPr id="85" name="TextBox 84">
            <a:extLst>
              <a:ext uri="{FF2B5EF4-FFF2-40B4-BE49-F238E27FC236}">
                <a16:creationId xmlns:a16="http://schemas.microsoft.com/office/drawing/2014/main" id="{244F18D4-8ACC-37E5-17D1-1F33D4E7C20C}"/>
              </a:ext>
            </a:extLst>
          </p:cNvPr>
          <p:cNvSpPr txBox="1"/>
          <p:nvPr/>
        </p:nvSpPr>
        <p:spPr>
          <a:xfrm>
            <a:off x="6660736" y="138890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55</a:t>
            </a:r>
          </a:p>
        </p:txBody>
      </p:sp>
      <p:graphicFrame>
        <p:nvGraphicFramePr>
          <p:cNvPr id="2" name="Table 1">
            <a:extLst>
              <a:ext uri="{FF2B5EF4-FFF2-40B4-BE49-F238E27FC236}">
                <a16:creationId xmlns:a16="http://schemas.microsoft.com/office/drawing/2014/main" id="{5CD94F06-8A11-95B7-18B7-0D4E9147FA0D}"/>
              </a:ext>
            </a:extLst>
          </p:cNvPr>
          <p:cNvGraphicFramePr>
            <a:graphicFrameLocks noGrp="1"/>
          </p:cNvGraphicFramePr>
          <p:nvPr>
            <p:extLst>
              <p:ext uri="{D42A27DB-BD31-4B8C-83A1-F6EECF244321}">
                <p14:modId xmlns:p14="http://schemas.microsoft.com/office/powerpoint/2010/main" val="1942485709"/>
              </p:ext>
            </p:extLst>
          </p:nvPr>
        </p:nvGraphicFramePr>
        <p:xfrm>
          <a:off x="735214" y="5297602"/>
          <a:ext cx="5178100" cy="138176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0.08</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bl>
          </a:graphicData>
        </a:graphic>
      </p:graphicFrame>
      <p:sp>
        <p:nvSpPr>
          <p:cNvPr id="3" name="TextBox 2">
            <a:extLst>
              <a:ext uri="{FF2B5EF4-FFF2-40B4-BE49-F238E27FC236}">
                <a16:creationId xmlns:a16="http://schemas.microsoft.com/office/drawing/2014/main" id="{1F5F681E-2ECA-F6D9-8ABC-663510685EC1}"/>
              </a:ext>
            </a:extLst>
          </p:cNvPr>
          <p:cNvSpPr txBox="1"/>
          <p:nvPr/>
        </p:nvSpPr>
        <p:spPr>
          <a:xfrm>
            <a:off x="7138785" y="4832777"/>
            <a:ext cx="45120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In year 0, the log of the number of birds is 1. </a:t>
            </a:r>
          </a:p>
        </p:txBody>
      </p:sp>
      <p:sp>
        <p:nvSpPr>
          <p:cNvPr id="6" name="TextBox 5">
            <a:extLst>
              <a:ext uri="{FF2B5EF4-FFF2-40B4-BE49-F238E27FC236}">
                <a16:creationId xmlns:a16="http://schemas.microsoft.com/office/drawing/2014/main" id="{046D387D-DBB8-E3EB-B0F3-A869363E3F97}"/>
              </a:ext>
            </a:extLst>
          </p:cNvPr>
          <p:cNvSpPr txBox="1"/>
          <p:nvPr/>
        </p:nvSpPr>
        <p:spPr>
          <a:xfrm>
            <a:off x="6613256" y="5400397"/>
            <a:ext cx="5400068" cy="1015663"/>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If 	</a:t>
            </a:r>
            <a:r>
              <a:rPr lang="en-US" sz="1500" dirty="0" err="1">
                <a:solidFill>
                  <a:schemeClr val="accent6">
                    <a:lumMod val="50000"/>
                  </a:schemeClr>
                </a:solidFill>
                <a:latin typeface="Avenir Book" panose="02000503020000020003" pitchFamily="2" charset="0"/>
              </a:rPr>
              <a:t>log</a:t>
            </a:r>
            <a:r>
              <a:rPr lang="en-US" sz="1500" baseline="-25000" dirty="0" err="1">
                <a:solidFill>
                  <a:schemeClr val="accent6">
                    <a:lumMod val="50000"/>
                  </a:schemeClr>
                </a:solidFill>
                <a:latin typeface="Avenir Book" panose="02000503020000020003" pitchFamily="2" charset="0"/>
              </a:rPr>
              <a:t>e</a:t>
            </a:r>
            <a:r>
              <a:rPr lang="en-US" sz="1500" dirty="0" err="1">
                <a:solidFill>
                  <a:schemeClr val="accent6">
                    <a:lumMod val="50000"/>
                  </a:schemeClr>
                </a:solidFill>
                <a:latin typeface="Avenir Book" panose="02000503020000020003" pitchFamily="2" charset="0"/>
              </a:rPr>
              <a:t>a</a:t>
            </a:r>
            <a:r>
              <a:rPr lang="en-US" sz="1500" dirty="0">
                <a:solidFill>
                  <a:schemeClr val="accent6">
                    <a:lumMod val="50000"/>
                  </a:schemeClr>
                </a:solidFill>
                <a:latin typeface="Avenir Book" panose="02000503020000020003" pitchFamily="2" charset="0"/>
              </a:rPr>
              <a:t> = b 		then 	</a:t>
            </a:r>
            <a:r>
              <a:rPr lang="en-US" sz="1500" dirty="0" err="1">
                <a:solidFill>
                  <a:schemeClr val="accent6">
                    <a:lumMod val="50000"/>
                  </a:schemeClr>
                </a:solidFill>
                <a:latin typeface="Avenir Book" panose="02000503020000020003" pitchFamily="2" charset="0"/>
              </a:rPr>
              <a:t>e</a:t>
            </a:r>
            <a:r>
              <a:rPr lang="en-US" sz="1500" baseline="30000" dirty="0" err="1">
                <a:solidFill>
                  <a:schemeClr val="accent6">
                    <a:lumMod val="50000"/>
                  </a:schemeClr>
                </a:solidFill>
                <a:latin typeface="Avenir Book" panose="02000503020000020003" pitchFamily="2" charset="0"/>
              </a:rPr>
              <a:t>b</a:t>
            </a:r>
            <a:r>
              <a:rPr lang="en-US" sz="1500" dirty="0">
                <a:solidFill>
                  <a:schemeClr val="accent6">
                    <a:lumMod val="50000"/>
                  </a:schemeClr>
                </a:solidFill>
                <a:latin typeface="Avenir Book" panose="02000503020000020003" pitchFamily="2" charset="0"/>
              </a:rPr>
              <a:t> = a</a:t>
            </a:r>
          </a:p>
          <a:p>
            <a:endParaRPr lang="en-US" sz="1500" dirty="0">
              <a:solidFill>
                <a:schemeClr val="accent6">
                  <a:lumMod val="50000"/>
                </a:schemeClr>
              </a:solidFill>
              <a:latin typeface="Avenir Book" panose="02000503020000020003" pitchFamily="2" charset="0"/>
            </a:endParaRPr>
          </a:p>
          <a:p>
            <a:r>
              <a:rPr lang="en-US" sz="1500" dirty="0">
                <a:solidFill>
                  <a:schemeClr val="accent6">
                    <a:lumMod val="50000"/>
                  </a:schemeClr>
                </a:solidFill>
                <a:latin typeface="Avenir Book" panose="02000503020000020003" pitchFamily="2" charset="0"/>
              </a:rPr>
              <a:t>If 	log</a:t>
            </a:r>
            <a:r>
              <a:rPr lang="en-US" sz="1500" baseline="-25000" dirty="0">
                <a:solidFill>
                  <a:schemeClr val="accent6">
                    <a:lumMod val="50000"/>
                  </a:schemeClr>
                </a:solidFill>
                <a:latin typeface="Avenir Book" panose="02000503020000020003" pitchFamily="2" charset="0"/>
              </a:rPr>
              <a:t>e</a:t>
            </a:r>
            <a:r>
              <a:rPr lang="en-US" sz="1500" dirty="0">
                <a:solidFill>
                  <a:schemeClr val="accent6">
                    <a:lumMod val="50000"/>
                  </a:schemeClr>
                </a:solidFill>
                <a:latin typeface="Avenir Book" panose="02000503020000020003" pitchFamily="2" charset="0"/>
              </a:rPr>
              <a:t>(</a:t>
            </a:r>
            <a:r>
              <a:rPr lang="en-US" sz="1500" dirty="0" err="1">
                <a:solidFill>
                  <a:schemeClr val="accent6">
                    <a:lumMod val="50000"/>
                  </a:schemeClr>
                </a:solidFill>
                <a:latin typeface="Avenir Book" panose="02000503020000020003" pitchFamily="2" charset="0"/>
              </a:rPr>
              <a:t>NumBirds</a:t>
            </a:r>
            <a:r>
              <a:rPr lang="en-US" sz="1500" dirty="0">
                <a:solidFill>
                  <a:schemeClr val="accent6">
                    <a:lumMod val="50000"/>
                  </a:schemeClr>
                </a:solidFill>
                <a:latin typeface="Avenir Book" panose="02000503020000020003" pitchFamily="2" charset="0"/>
              </a:rPr>
              <a:t>) = 1	then 	</a:t>
            </a:r>
            <a:r>
              <a:rPr lang="en-US" sz="1500" dirty="0" err="1">
                <a:solidFill>
                  <a:schemeClr val="accent6">
                    <a:lumMod val="50000"/>
                  </a:schemeClr>
                </a:solidFill>
                <a:latin typeface="Avenir Book" panose="02000503020000020003" pitchFamily="2" charset="0"/>
              </a:rPr>
              <a:t>NumBirds</a:t>
            </a:r>
            <a:r>
              <a:rPr lang="en-US" sz="1500" dirty="0">
                <a:solidFill>
                  <a:schemeClr val="accent6">
                    <a:lumMod val="50000"/>
                  </a:schemeClr>
                </a:solidFill>
                <a:latin typeface="Avenir Book" panose="02000503020000020003" pitchFamily="2" charset="0"/>
              </a:rPr>
              <a:t> = e</a:t>
            </a:r>
            <a:r>
              <a:rPr lang="en-US" sz="1500" baseline="30000" dirty="0">
                <a:solidFill>
                  <a:schemeClr val="accent6">
                    <a:lumMod val="50000"/>
                  </a:schemeClr>
                </a:solidFill>
                <a:latin typeface="Avenir Book" panose="02000503020000020003" pitchFamily="2" charset="0"/>
              </a:rPr>
              <a:t>1</a:t>
            </a:r>
            <a:r>
              <a:rPr lang="en-US" sz="1500" dirty="0">
                <a:solidFill>
                  <a:schemeClr val="accent6">
                    <a:lumMod val="50000"/>
                  </a:schemeClr>
                </a:solidFill>
                <a:latin typeface="Avenir Book" panose="02000503020000020003" pitchFamily="2" charset="0"/>
              </a:rPr>
              <a:t> </a:t>
            </a:r>
          </a:p>
          <a:p>
            <a:endParaRPr lang="en-US" sz="15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25238528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9D6E4-8EE1-207D-B97E-4EC34A249AEE}"/>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CE585847-EE19-DB31-8E5C-CB9E10E2D41E}"/>
              </a:ext>
            </a:extLst>
          </p:cNvPr>
          <p:cNvGrpSpPr/>
          <p:nvPr/>
        </p:nvGrpSpPr>
        <p:grpSpPr>
          <a:xfrm>
            <a:off x="1222259" y="541979"/>
            <a:ext cx="4483682" cy="3438144"/>
            <a:chOff x="1402080" y="2616948"/>
            <a:chExt cx="9851136" cy="3438144"/>
          </a:xfrm>
        </p:grpSpPr>
        <p:cxnSp>
          <p:nvCxnSpPr>
            <p:cNvPr id="31" name="Straight Arrow Connector 30">
              <a:extLst>
                <a:ext uri="{FF2B5EF4-FFF2-40B4-BE49-F238E27FC236}">
                  <a16:creationId xmlns:a16="http://schemas.microsoft.com/office/drawing/2014/main" id="{733329B8-B6E6-B81A-AC52-EC3A9CC08C98}"/>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671DB29-DB3E-E861-C707-9FD4449691B0}"/>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7ECB1341-F75B-6E6C-1642-820915E78DF4}"/>
              </a:ext>
            </a:extLst>
          </p:cNvPr>
          <p:cNvSpPr txBox="1"/>
          <p:nvPr/>
        </p:nvSpPr>
        <p:spPr>
          <a:xfrm>
            <a:off x="2988623" y="4335611"/>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22" name="TextBox 21">
            <a:extLst>
              <a:ext uri="{FF2B5EF4-FFF2-40B4-BE49-F238E27FC236}">
                <a16:creationId xmlns:a16="http://schemas.microsoft.com/office/drawing/2014/main" id="{B76D64F8-1E83-C3B6-EB65-4D6564DE2054}"/>
              </a:ext>
            </a:extLst>
          </p:cNvPr>
          <p:cNvSpPr txBox="1"/>
          <p:nvPr/>
        </p:nvSpPr>
        <p:spPr>
          <a:xfrm>
            <a:off x="0" y="2131450"/>
            <a:ext cx="1148736" cy="553998"/>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log</a:t>
            </a:r>
          </a:p>
          <a:p>
            <a:r>
              <a:rPr lang="en-US" sz="1500" dirty="0">
                <a:solidFill>
                  <a:schemeClr val="accent6">
                    <a:lumMod val="50000"/>
                  </a:schemeClr>
                </a:solidFill>
                <a:latin typeface="Avenir Book" panose="02000503020000020003" pitchFamily="2" charset="0"/>
              </a:rPr>
              <a:t>(Count)</a:t>
            </a:r>
          </a:p>
        </p:txBody>
      </p:sp>
      <p:cxnSp>
        <p:nvCxnSpPr>
          <p:cNvPr id="29" name="Straight Connector 28">
            <a:extLst>
              <a:ext uri="{FF2B5EF4-FFF2-40B4-BE49-F238E27FC236}">
                <a16:creationId xmlns:a16="http://schemas.microsoft.com/office/drawing/2014/main" id="{44DCC6CE-092B-CDBE-7859-43B58AA94359}"/>
              </a:ext>
            </a:extLst>
          </p:cNvPr>
          <p:cNvCxnSpPr>
            <a:cxnSpLocks/>
          </p:cNvCxnSpPr>
          <p:nvPr/>
        </p:nvCxnSpPr>
        <p:spPr>
          <a:xfrm flipV="1">
            <a:off x="1229303" y="795635"/>
            <a:ext cx="3643786" cy="2654156"/>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9ABC2479-FC27-6685-F17C-62365F553305}"/>
              </a:ext>
            </a:extLst>
          </p:cNvPr>
          <p:cNvSpPr/>
          <p:nvPr/>
        </p:nvSpPr>
        <p:spPr>
          <a:xfrm>
            <a:off x="2327409" y="325579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71E8416-E603-DBC8-1515-C0A615C8AA20}"/>
              </a:ext>
            </a:extLst>
          </p:cNvPr>
          <p:cNvSpPr/>
          <p:nvPr/>
        </p:nvSpPr>
        <p:spPr>
          <a:xfrm>
            <a:off x="3453946" y="93092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204C5EC-EDB8-9D2A-915C-F566A1888FB0}"/>
              </a:ext>
            </a:extLst>
          </p:cNvPr>
          <p:cNvSpPr/>
          <p:nvPr/>
        </p:nvSpPr>
        <p:spPr>
          <a:xfrm>
            <a:off x="2988623" y="202717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5E67585-D712-B13A-B4E0-73AF073C9A98}"/>
              </a:ext>
            </a:extLst>
          </p:cNvPr>
          <p:cNvSpPr/>
          <p:nvPr/>
        </p:nvSpPr>
        <p:spPr>
          <a:xfrm>
            <a:off x="3968380" y="169646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5CC4F46-ACC6-9205-B7B0-3CD6B60CB26F}"/>
              </a:ext>
            </a:extLst>
          </p:cNvPr>
          <p:cNvSpPr/>
          <p:nvPr/>
        </p:nvSpPr>
        <p:spPr>
          <a:xfrm>
            <a:off x="3280500" y="240844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D90994C-D6DD-73FB-734F-5D47C2600648}"/>
              </a:ext>
            </a:extLst>
          </p:cNvPr>
          <p:cNvSpPr/>
          <p:nvPr/>
        </p:nvSpPr>
        <p:spPr>
          <a:xfrm>
            <a:off x="4682695" y="31710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6FEE3E3-1920-9FFE-66EC-FABD4B640EC8}"/>
              </a:ext>
            </a:extLst>
          </p:cNvPr>
          <p:cNvSpPr/>
          <p:nvPr/>
        </p:nvSpPr>
        <p:spPr>
          <a:xfrm>
            <a:off x="4617307" y="131468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4D9BA66F-8228-D8BB-C4A5-E52B280AA1A3}"/>
              </a:ext>
            </a:extLst>
          </p:cNvPr>
          <p:cNvGrpSpPr/>
          <p:nvPr/>
        </p:nvGrpSpPr>
        <p:grpSpPr>
          <a:xfrm>
            <a:off x="7167196" y="541979"/>
            <a:ext cx="4483682" cy="3438144"/>
            <a:chOff x="1402080" y="2616948"/>
            <a:chExt cx="9851136" cy="3438144"/>
          </a:xfrm>
        </p:grpSpPr>
        <p:cxnSp>
          <p:nvCxnSpPr>
            <p:cNvPr id="47" name="Straight Arrow Connector 46">
              <a:extLst>
                <a:ext uri="{FF2B5EF4-FFF2-40B4-BE49-F238E27FC236}">
                  <a16:creationId xmlns:a16="http://schemas.microsoft.com/office/drawing/2014/main" id="{DE9800BE-E4FD-CE27-2186-E8C3F71DF089}"/>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22FC98A-86F3-0B69-A132-0BA6BD3D2435}"/>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AE10EA6F-C183-879E-D5B8-7771565C76AE}"/>
              </a:ext>
            </a:extLst>
          </p:cNvPr>
          <p:cNvSpPr txBox="1"/>
          <p:nvPr/>
        </p:nvSpPr>
        <p:spPr>
          <a:xfrm>
            <a:off x="5913314" y="214364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   Count</a:t>
            </a:r>
          </a:p>
        </p:txBody>
      </p:sp>
      <p:sp>
        <p:nvSpPr>
          <p:cNvPr id="49" name="Oval 48">
            <a:extLst>
              <a:ext uri="{FF2B5EF4-FFF2-40B4-BE49-F238E27FC236}">
                <a16:creationId xmlns:a16="http://schemas.microsoft.com/office/drawing/2014/main" id="{839A81DC-D155-CC5D-18C2-0F5D1D3A4AD6}"/>
              </a:ext>
            </a:extLst>
          </p:cNvPr>
          <p:cNvSpPr/>
          <p:nvPr/>
        </p:nvSpPr>
        <p:spPr>
          <a:xfrm>
            <a:off x="7464345" y="312649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7E6AC786-E700-0125-FDE2-D31A40539DD5}"/>
              </a:ext>
            </a:extLst>
          </p:cNvPr>
          <p:cNvSpPr/>
          <p:nvPr/>
        </p:nvSpPr>
        <p:spPr>
          <a:xfrm>
            <a:off x="8132332" y="303161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7CE76476-3288-D915-01F6-353E46C6A00E}"/>
              </a:ext>
            </a:extLst>
          </p:cNvPr>
          <p:cNvSpPr/>
          <p:nvPr/>
        </p:nvSpPr>
        <p:spPr>
          <a:xfrm>
            <a:off x="8636338" y="363913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25D943A-2B82-2070-7455-61240B2C9716}"/>
              </a:ext>
            </a:extLst>
          </p:cNvPr>
          <p:cNvSpPr/>
          <p:nvPr/>
        </p:nvSpPr>
        <p:spPr>
          <a:xfrm>
            <a:off x="9761101" y="166304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98097259-13BB-A495-99B3-958FB5FE79B8}"/>
              </a:ext>
            </a:extLst>
          </p:cNvPr>
          <p:cNvSpPr/>
          <p:nvPr/>
        </p:nvSpPr>
        <p:spPr>
          <a:xfrm>
            <a:off x="9064027" y="235421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B3F1F1CA-D5BF-D236-40EE-AC9BCFDFE636}"/>
              </a:ext>
            </a:extLst>
          </p:cNvPr>
          <p:cNvSpPr/>
          <p:nvPr/>
        </p:nvSpPr>
        <p:spPr>
          <a:xfrm>
            <a:off x="10401039" y="173454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FFFA248F-CB1E-5168-128E-6CAE6C2F8E0A}"/>
              </a:ext>
            </a:extLst>
          </p:cNvPr>
          <p:cNvSpPr/>
          <p:nvPr/>
        </p:nvSpPr>
        <p:spPr>
          <a:xfrm>
            <a:off x="9898564" y="284281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1F1AFE62-0A67-3E94-F108-3EC6C1206B54}"/>
              </a:ext>
            </a:extLst>
          </p:cNvPr>
          <p:cNvSpPr/>
          <p:nvPr/>
        </p:nvSpPr>
        <p:spPr>
          <a:xfrm>
            <a:off x="10989276" y="18659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4367C00-C061-3009-E5BD-C9C929509C10}"/>
              </a:ext>
            </a:extLst>
          </p:cNvPr>
          <p:cNvSpPr/>
          <p:nvPr/>
        </p:nvSpPr>
        <p:spPr>
          <a:xfrm>
            <a:off x="10988460" y="145927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052C825C-A77B-59F4-94EB-8D2A9BE3D9F3}"/>
              </a:ext>
            </a:extLst>
          </p:cNvPr>
          <p:cNvSpPr/>
          <p:nvPr/>
        </p:nvSpPr>
        <p:spPr>
          <a:xfrm>
            <a:off x="7169417" y="380248"/>
            <a:ext cx="4154555" cy="3257847"/>
          </a:xfrm>
          <a:custGeom>
            <a:avLst/>
            <a:gdLst>
              <a:gd name="connsiteX0" fmla="*/ 0 w 3657600"/>
              <a:gd name="connsiteY0" fmla="*/ 2475571 h 2482174"/>
              <a:gd name="connsiteX1" fmla="*/ 2163337 w 3657600"/>
              <a:gd name="connsiteY1" fmla="*/ 2096430 h 2482174"/>
              <a:gd name="connsiteX2" fmla="*/ 3657600 w 3657600"/>
              <a:gd name="connsiteY2" fmla="*/ 0 h 2482174"/>
            </a:gdLst>
            <a:ahLst/>
            <a:cxnLst>
              <a:cxn ang="0">
                <a:pos x="connsiteX0" y="connsiteY0"/>
              </a:cxn>
              <a:cxn ang="0">
                <a:pos x="connsiteX1" y="connsiteY1"/>
              </a:cxn>
              <a:cxn ang="0">
                <a:pos x="connsiteX2" y="connsiteY2"/>
              </a:cxn>
            </a:cxnLst>
            <a:rect l="l" t="t" r="r" b="b"/>
            <a:pathLst>
              <a:path w="3657600" h="2482174">
                <a:moveTo>
                  <a:pt x="0" y="2475571"/>
                </a:moveTo>
                <a:cubicBezTo>
                  <a:pt x="776868" y="2492298"/>
                  <a:pt x="1553737" y="2509025"/>
                  <a:pt x="2163337" y="2096430"/>
                </a:cubicBezTo>
                <a:cubicBezTo>
                  <a:pt x="2772937" y="1683835"/>
                  <a:pt x="3215268" y="841917"/>
                  <a:pt x="3657600" y="0"/>
                </a:cubicBezTo>
              </a:path>
            </a:pathLst>
          </a:custGeom>
          <a:no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CA46A6B1-78AE-6EB7-004C-2A0875E2F65B}"/>
              </a:ext>
            </a:extLst>
          </p:cNvPr>
          <p:cNvSpPr txBox="1"/>
          <p:nvPr/>
        </p:nvSpPr>
        <p:spPr>
          <a:xfrm>
            <a:off x="905387" y="405200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62" name="TextBox 61">
            <a:extLst>
              <a:ext uri="{FF2B5EF4-FFF2-40B4-BE49-F238E27FC236}">
                <a16:creationId xmlns:a16="http://schemas.microsoft.com/office/drawing/2014/main" id="{71D4E2EB-EA38-EA04-00B7-405006942728}"/>
              </a:ext>
            </a:extLst>
          </p:cNvPr>
          <p:cNvSpPr txBox="1"/>
          <p:nvPr/>
        </p:nvSpPr>
        <p:spPr>
          <a:xfrm>
            <a:off x="868015" y="76612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63" name="TextBox 62">
            <a:extLst>
              <a:ext uri="{FF2B5EF4-FFF2-40B4-BE49-F238E27FC236}">
                <a16:creationId xmlns:a16="http://schemas.microsoft.com/office/drawing/2014/main" id="{BB7EB96E-0E07-43D5-02FC-5989355AB72B}"/>
              </a:ext>
            </a:extLst>
          </p:cNvPr>
          <p:cNvSpPr txBox="1"/>
          <p:nvPr/>
        </p:nvSpPr>
        <p:spPr>
          <a:xfrm>
            <a:off x="868015" y="332757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64" name="TextBox 63">
            <a:extLst>
              <a:ext uri="{FF2B5EF4-FFF2-40B4-BE49-F238E27FC236}">
                <a16:creationId xmlns:a16="http://schemas.microsoft.com/office/drawing/2014/main" id="{1A8317AF-A36B-1AAA-6140-3F1370E26579}"/>
              </a:ext>
            </a:extLst>
          </p:cNvPr>
          <p:cNvSpPr txBox="1"/>
          <p:nvPr/>
        </p:nvSpPr>
        <p:spPr>
          <a:xfrm>
            <a:off x="868015" y="268721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65" name="TextBox 64">
            <a:extLst>
              <a:ext uri="{FF2B5EF4-FFF2-40B4-BE49-F238E27FC236}">
                <a16:creationId xmlns:a16="http://schemas.microsoft.com/office/drawing/2014/main" id="{5B0312AA-5A81-1DC9-3DCC-25432C5C6A53}"/>
              </a:ext>
            </a:extLst>
          </p:cNvPr>
          <p:cNvSpPr txBox="1"/>
          <p:nvPr/>
        </p:nvSpPr>
        <p:spPr>
          <a:xfrm>
            <a:off x="868015" y="204685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66" name="TextBox 65">
            <a:extLst>
              <a:ext uri="{FF2B5EF4-FFF2-40B4-BE49-F238E27FC236}">
                <a16:creationId xmlns:a16="http://schemas.microsoft.com/office/drawing/2014/main" id="{DA1C906F-5288-6E15-E735-8FC9BC9EE583}"/>
              </a:ext>
            </a:extLst>
          </p:cNvPr>
          <p:cNvSpPr txBox="1"/>
          <p:nvPr/>
        </p:nvSpPr>
        <p:spPr>
          <a:xfrm>
            <a:off x="868015" y="140648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67" name="TextBox 66">
            <a:extLst>
              <a:ext uri="{FF2B5EF4-FFF2-40B4-BE49-F238E27FC236}">
                <a16:creationId xmlns:a16="http://schemas.microsoft.com/office/drawing/2014/main" id="{6BB58C66-2124-0813-3312-5E4C877B90D0}"/>
              </a:ext>
            </a:extLst>
          </p:cNvPr>
          <p:cNvSpPr txBox="1"/>
          <p:nvPr/>
        </p:nvSpPr>
        <p:spPr>
          <a:xfrm>
            <a:off x="1734099" y="4052001"/>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1" name="TextBox 70">
            <a:extLst>
              <a:ext uri="{FF2B5EF4-FFF2-40B4-BE49-F238E27FC236}">
                <a16:creationId xmlns:a16="http://schemas.microsoft.com/office/drawing/2014/main" id="{CC1CB845-CAC9-9481-7E6A-AA85B02AED1F}"/>
              </a:ext>
            </a:extLst>
          </p:cNvPr>
          <p:cNvSpPr txBox="1"/>
          <p:nvPr/>
        </p:nvSpPr>
        <p:spPr>
          <a:xfrm>
            <a:off x="9069416" y="4366742"/>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72" name="TextBox 71">
            <a:extLst>
              <a:ext uri="{FF2B5EF4-FFF2-40B4-BE49-F238E27FC236}">
                <a16:creationId xmlns:a16="http://schemas.microsoft.com/office/drawing/2014/main" id="{19174C03-3C33-0ED3-1D19-F3E8D232F87B}"/>
              </a:ext>
            </a:extLst>
          </p:cNvPr>
          <p:cNvSpPr txBox="1"/>
          <p:nvPr/>
        </p:nvSpPr>
        <p:spPr>
          <a:xfrm>
            <a:off x="6900996" y="408376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73" name="TextBox 72">
            <a:extLst>
              <a:ext uri="{FF2B5EF4-FFF2-40B4-BE49-F238E27FC236}">
                <a16:creationId xmlns:a16="http://schemas.microsoft.com/office/drawing/2014/main" id="{28297544-C78B-9123-7D75-9BAECE953949}"/>
              </a:ext>
            </a:extLst>
          </p:cNvPr>
          <p:cNvSpPr txBox="1"/>
          <p:nvPr/>
        </p:nvSpPr>
        <p:spPr>
          <a:xfrm>
            <a:off x="7567164" y="4093815"/>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4" name="Oval 73">
            <a:extLst>
              <a:ext uri="{FF2B5EF4-FFF2-40B4-BE49-F238E27FC236}">
                <a16:creationId xmlns:a16="http://schemas.microsoft.com/office/drawing/2014/main" id="{6CC392D7-D943-8D1C-4B44-D5AC5BAADF2B}"/>
              </a:ext>
            </a:extLst>
          </p:cNvPr>
          <p:cNvSpPr/>
          <p:nvPr/>
        </p:nvSpPr>
        <p:spPr>
          <a:xfrm>
            <a:off x="1682827" y="269930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3D929D59-56FD-607B-80EC-408F30EBC685}"/>
              </a:ext>
            </a:extLst>
          </p:cNvPr>
          <p:cNvSpPr/>
          <p:nvPr/>
        </p:nvSpPr>
        <p:spPr>
          <a:xfrm>
            <a:off x="2206523" y="222680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7E69267E-EEEF-8CF4-7E3B-E7FF798C604C}"/>
              </a:ext>
            </a:extLst>
          </p:cNvPr>
          <p:cNvSpPr txBox="1"/>
          <p:nvPr/>
        </p:nvSpPr>
        <p:spPr>
          <a:xfrm>
            <a:off x="6609692" y="631536"/>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148</a:t>
            </a:r>
          </a:p>
        </p:txBody>
      </p:sp>
      <p:sp>
        <p:nvSpPr>
          <p:cNvPr id="82" name="TextBox 81">
            <a:extLst>
              <a:ext uri="{FF2B5EF4-FFF2-40B4-BE49-F238E27FC236}">
                <a16:creationId xmlns:a16="http://schemas.microsoft.com/office/drawing/2014/main" id="{E51FCD14-6BF1-CD69-E966-33393228685E}"/>
              </a:ext>
            </a:extLst>
          </p:cNvPr>
          <p:cNvSpPr txBox="1"/>
          <p:nvPr/>
        </p:nvSpPr>
        <p:spPr>
          <a:xfrm>
            <a:off x="6735935" y="330068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83" name="TextBox 82">
            <a:extLst>
              <a:ext uri="{FF2B5EF4-FFF2-40B4-BE49-F238E27FC236}">
                <a16:creationId xmlns:a16="http://schemas.microsoft.com/office/drawing/2014/main" id="{45CBAC30-672D-C8A8-08C5-A26A24AA2DFD}"/>
              </a:ext>
            </a:extLst>
          </p:cNvPr>
          <p:cNvSpPr txBox="1"/>
          <p:nvPr/>
        </p:nvSpPr>
        <p:spPr>
          <a:xfrm>
            <a:off x="6735935" y="265971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7</a:t>
            </a:r>
          </a:p>
        </p:txBody>
      </p:sp>
      <p:sp>
        <p:nvSpPr>
          <p:cNvPr id="84" name="TextBox 83">
            <a:extLst>
              <a:ext uri="{FF2B5EF4-FFF2-40B4-BE49-F238E27FC236}">
                <a16:creationId xmlns:a16="http://schemas.microsoft.com/office/drawing/2014/main" id="{FAB1FFAA-8A21-78E5-E1AD-3D688DB2800A}"/>
              </a:ext>
            </a:extLst>
          </p:cNvPr>
          <p:cNvSpPr txBox="1"/>
          <p:nvPr/>
        </p:nvSpPr>
        <p:spPr>
          <a:xfrm>
            <a:off x="6666343" y="20298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20</a:t>
            </a:r>
          </a:p>
        </p:txBody>
      </p:sp>
      <p:sp>
        <p:nvSpPr>
          <p:cNvPr id="85" name="TextBox 84">
            <a:extLst>
              <a:ext uri="{FF2B5EF4-FFF2-40B4-BE49-F238E27FC236}">
                <a16:creationId xmlns:a16="http://schemas.microsoft.com/office/drawing/2014/main" id="{6219B53F-240B-45F8-71EA-BB4F44070E2E}"/>
              </a:ext>
            </a:extLst>
          </p:cNvPr>
          <p:cNvSpPr txBox="1"/>
          <p:nvPr/>
        </p:nvSpPr>
        <p:spPr>
          <a:xfrm>
            <a:off x="6660736" y="138890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55</a:t>
            </a:r>
          </a:p>
        </p:txBody>
      </p:sp>
      <p:graphicFrame>
        <p:nvGraphicFramePr>
          <p:cNvPr id="2" name="Table 1">
            <a:extLst>
              <a:ext uri="{FF2B5EF4-FFF2-40B4-BE49-F238E27FC236}">
                <a16:creationId xmlns:a16="http://schemas.microsoft.com/office/drawing/2014/main" id="{4ACCC0CC-5230-C8EC-3077-7796259672C0}"/>
              </a:ext>
            </a:extLst>
          </p:cNvPr>
          <p:cNvGraphicFramePr>
            <a:graphicFrameLocks noGrp="1"/>
          </p:cNvGraphicFramePr>
          <p:nvPr>
            <p:extLst>
              <p:ext uri="{D42A27DB-BD31-4B8C-83A1-F6EECF244321}">
                <p14:modId xmlns:p14="http://schemas.microsoft.com/office/powerpoint/2010/main" val="2030476284"/>
              </p:ext>
            </p:extLst>
          </p:nvPr>
        </p:nvGraphicFramePr>
        <p:xfrm>
          <a:off x="735214" y="5297602"/>
          <a:ext cx="5178100" cy="138176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0.08</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bl>
          </a:graphicData>
        </a:graphic>
      </p:graphicFrame>
      <p:sp>
        <p:nvSpPr>
          <p:cNvPr id="3" name="TextBox 2">
            <a:extLst>
              <a:ext uri="{FF2B5EF4-FFF2-40B4-BE49-F238E27FC236}">
                <a16:creationId xmlns:a16="http://schemas.microsoft.com/office/drawing/2014/main" id="{3FC5A5EB-238D-E49B-9909-03F3FA8ED2D1}"/>
              </a:ext>
            </a:extLst>
          </p:cNvPr>
          <p:cNvSpPr txBox="1"/>
          <p:nvPr/>
        </p:nvSpPr>
        <p:spPr>
          <a:xfrm>
            <a:off x="7138785" y="4832777"/>
            <a:ext cx="45120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In year 0, the log of the number of birds is 1. </a:t>
            </a:r>
          </a:p>
        </p:txBody>
      </p:sp>
      <p:sp>
        <p:nvSpPr>
          <p:cNvPr id="4" name="TextBox 3">
            <a:extLst>
              <a:ext uri="{FF2B5EF4-FFF2-40B4-BE49-F238E27FC236}">
                <a16:creationId xmlns:a16="http://schemas.microsoft.com/office/drawing/2014/main" id="{0BD5B327-DE41-CB95-3A2B-029A8B48B85D}"/>
              </a:ext>
            </a:extLst>
          </p:cNvPr>
          <p:cNvSpPr txBox="1"/>
          <p:nvPr/>
        </p:nvSpPr>
        <p:spPr>
          <a:xfrm>
            <a:off x="7565751" y="6447099"/>
            <a:ext cx="45120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e</a:t>
            </a:r>
            <a:r>
              <a:rPr lang="en-US" sz="1500" baseline="30000" dirty="0">
                <a:solidFill>
                  <a:schemeClr val="accent6">
                    <a:lumMod val="50000"/>
                  </a:schemeClr>
                </a:solidFill>
                <a:latin typeface="Avenir Book" panose="02000503020000020003" pitchFamily="2" charset="0"/>
              </a:rPr>
              <a:t>1 </a:t>
            </a:r>
            <a:r>
              <a:rPr lang="en-US" sz="1500" dirty="0">
                <a:solidFill>
                  <a:schemeClr val="accent6">
                    <a:lumMod val="50000"/>
                  </a:schemeClr>
                </a:solidFill>
                <a:latin typeface="Avenir Book" panose="02000503020000020003" pitchFamily="2" charset="0"/>
              </a:rPr>
              <a:t>= 2.7, so there are 2.7 birds in Year 0. </a:t>
            </a:r>
          </a:p>
        </p:txBody>
      </p:sp>
      <p:sp>
        <p:nvSpPr>
          <p:cNvPr id="6" name="TextBox 5">
            <a:extLst>
              <a:ext uri="{FF2B5EF4-FFF2-40B4-BE49-F238E27FC236}">
                <a16:creationId xmlns:a16="http://schemas.microsoft.com/office/drawing/2014/main" id="{63410A4F-314E-CBA2-4335-E957BDD48B1A}"/>
              </a:ext>
            </a:extLst>
          </p:cNvPr>
          <p:cNvSpPr txBox="1"/>
          <p:nvPr/>
        </p:nvSpPr>
        <p:spPr>
          <a:xfrm>
            <a:off x="6613256" y="5400397"/>
            <a:ext cx="5400068" cy="1015663"/>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If 	</a:t>
            </a:r>
            <a:r>
              <a:rPr lang="en-US" sz="1500" dirty="0" err="1">
                <a:solidFill>
                  <a:schemeClr val="accent6">
                    <a:lumMod val="50000"/>
                  </a:schemeClr>
                </a:solidFill>
                <a:latin typeface="Avenir Book" panose="02000503020000020003" pitchFamily="2" charset="0"/>
              </a:rPr>
              <a:t>log</a:t>
            </a:r>
            <a:r>
              <a:rPr lang="en-US" sz="1500" baseline="-25000" dirty="0" err="1">
                <a:solidFill>
                  <a:schemeClr val="accent6">
                    <a:lumMod val="50000"/>
                  </a:schemeClr>
                </a:solidFill>
                <a:latin typeface="Avenir Book" panose="02000503020000020003" pitchFamily="2" charset="0"/>
              </a:rPr>
              <a:t>e</a:t>
            </a:r>
            <a:r>
              <a:rPr lang="en-US" sz="1500" dirty="0" err="1">
                <a:solidFill>
                  <a:schemeClr val="accent6">
                    <a:lumMod val="50000"/>
                  </a:schemeClr>
                </a:solidFill>
                <a:latin typeface="Avenir Book" panose="02000503020000020003" pitchFamily="2" charset="0"/>
              </a:rPr>
              <a:t>a</a:t>
            </a:r>
            <a:r>
              <a:rPr lang="en-US" sz="1500" dirty="0">
                <a:solidFill>
                  <a:schemeClr val="accent6">
                    <a:lumMod val="50000"/>
                  </a:schemeClr>
                </a:solidFill>
                <a:latin typeface="Avenir Book" panose="02000503020000020003" pitchFamily="2" charset="0"/>
              </a:rPr>
              <a:t> = b 		then 	</a:t>
            </a:r>
            <a:r>
              <a:rPr lang="en-US" sz="1500" dirty="0" err="1">
                <a:solidFill>
                  <a:schemeClr val="accent6">
                    <a:lumMod val="50000"/>
                  </a:schemeClr>
                </a:solidFill>
                <a:latin typeface="Avenir Book" panose="02000503020000020003" pitchFamily="2" charset="0"/>
              </a:rPr>
              <a:t>e</a:t>
            </a:r>
            <a:r>
              <a:rPr lang="en-US" sz="1500" baseline="30000" dirty="0" err="1">
                <a:solidFill>
                  <a:schemeClr val="accent6">
                    <a:lumMod val="50000"/>
                  </a:schemeClr>
                </a:solidFill>
                <a:latin typeface="Avenir Book" panose="02000503020000020003" pitchFamily="2" charset="0"/>
              </a:rPr>
              <a:t>b</a:t>
            </a:r>
            <a:r>
              <a:rPr lang="en-US" sz="1500" dirty="0">
                <a:solidFill>
                  <a:schemeClr val="accent6">
                    <a:lumMod val="50000"/>
                  </a:schemeClr>
                </a:solidFill>
                <a:latin typeface="Avenir Book" panose="02000503020000020003" pitchFamily="2" charset="0"/>
              </a:rPr>
              <a:t> = a</a:t>
            </a:r>
          </a:p>
          <a:p>
            <a:endParaRPr lang="en-US" sz="1500" dirty="0">
              <a:solidFill>
                <a:schemeClr val="accent6">
                  <a:lumMod val="50000"/>
                </a:schemeClr>
              </a:solidFill>
              <a:latin typeface="Avenir Book" panose="02000503020000020003" pitchFamily="2" charset="0"/>
            </a:endParaRPr>
          </a:p>
          <a:p>
            <a:r>
              <a:rPr lang="en-US" sz="1500" dirty="0">
                <a:solidFill>
                  <a:schemeClr val="accent6">
                    <a:lumMod val="50000"/>
                  </a:schemeClr>
                </a:solidFill>
                <a:latin typeface="Avenir Book" panose="02000503020000020003" pitchFamily="2" charset="0"/>
              </a:rPr>
              <a:t>If 	log</a:t>
            </a:r>
            <a:r>
              <a:rPr lang="en-US" sz="1500" baseline="-25000" dirty="0">
                <a:solidFill>
                  <a:schemeClr val="accent6">
                    <a:lumMod val="50000"/>
                  </a:schemeClr>
                </a:solidFill>
                <a:latin typeface="Avenir Book" panose="02000503020000020003" pitchFamily="2" charset="0"/>
              </a:rPr>
              <a:t>e</a:t>
            </a:r>
            <a:r>
              <a:rPr lang="en-US" sz="1500" dirty="0">
                <a:solidFill>
                  <a:schemeClr val="accent6">
                    <a:lumMod val="50000"/>
                  </a:schemeClr>
                </a:solidFill>
                <a:latin typeface="Avenir Book" panose="02000503020000020003" pitchFamily="2" charset="0"/>
              </a:rPr>
              <a:t>(</a:t>
            </a:r>
            <a:r>
              <a:rPr lang="en-US" sz="1500" dirty="0" err="1">
                <a:solidFill>
                  <a:schemeClr val="accent6">
                    <a:lumMod val="50000"/>
                  </a:schemeClr>
                </a:solidFill>
                <a:latin typeface="Avenir Book" panose="02000503020000020003" pitchFamily="2" charset="0"/>
              </a:rPr>
              <a:t>NumBirds</a:t>
            </a:r>
            <a:r>
              <a:rPr lang="en-US" sz="1500" dirty="0">
                <a:solidFill>
                  <a:schemeClr val="accent6">
                    <a:lumMod val="50000"/>
                  </a:schemeClr>
                </a:solidFill>
                <a:latin typeface="Avenir Book" panose="02000503020000020003" pitchFamily="2" charset="0"/>
              </a:rPr>
              <a:t>) = 1	then 	</a:t>
            </a:r>
            <a:r>
              <a:rPr lang="en-US" sz="1500" dirty="0" err="1">
                <a:solidFill>
                  <a:schemeClr val="accent6">
                    <a:lumMod val="50000"/>
                  </a:schemeClr>
                </a:solidFill>
                <a:latin typeface="Avenir Book" panose="02000503020000020003" pitchFamily="2" charset="0"/>
              </a:rPr>
              <a:t>NumBirds</a:t>
            </a:r>
            <a:r>
              <a:rPr lang="en-US" sz="1500" dirty="0">
                <a:solidFill>
                  <a:schemeClr val="accent6">
                    <a:lumMod val="50000"/>
                  </a:schemeClr>
                </a:solidFill>
                <a:latin typeface="Avenir Book" panose="02000503020000020003" pitchFamily="2" charset="0"/>
              </a:rPr>
              <a:t> = e</a:t>
            </a:r>
            <a:r>
              <a:rPr lang="en-US" sz="1500" baseline="30000" dirty="0">
                <a:solidFill>
                  <a:schemeClr val="accent6">
                    <a:lumMod val="50000"/>
                  </a:schemeClr>
                </a:solidFill>
                <a:latin typeface="Avenir Book" panose="02000503020000020003" pitchFamily="2" charset="0"/>
              </a:rPr>
              <a:t>1</a:t>
            </a:r>
            <a:r>
              <a:rPr lang="en-US" sz="1500" dirty="0">
                <a:solidFill>
                  <a:schemeClr val="accent6">
                    <a:lumMod val="50000"/>
                  </a:schemeClr>
                </a:solidFill>
                <a:latin typeface="Avenir Book" panose="02000503020000020003" pitchFamily="2" charset="0"/>
              </a:rPr>
              <a:t> </a:t>
            </a:r>
          </a:p>
          <a:p>
            <a:endParaRPr lang="en-US" sz="1500" dirty="0">
              <a:solidFill>
                <a:schemeClr val="accent6">
                  <a:lumMod val="50000"/>
                </a:schemeClr>
              </a:solidFill>
              <a:latin typeface="Avenir Book" panose="02000503020000020003" pitchFamily="2" charset="0"/>
            </a:endParaRPr>
          </a:p>
        </p:txBody>
      </p:sp>
    </p:spTree>
    <p:extLst>
      <p:ext uri="{BB962C8B-B14F-4D97-AF65-F5344CB8AC3E}">
        <p14:creationId xmlns:p14="http://schemas.microsoft.com/office/powerpoint/2010/main" val="17841971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345E8-D868-A1C6-0B6D-8708EB743650}"/>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74CB5471-CE86-B5F5-D1AF-8DDA5F90A6E6}"/>
              </a:ext>
            </a:extLst>
          </p:cNvPr>
          <p:cNvGrpSpPr/>
          <p:nvPr/>
        </p:nvGrpSpPr>
        <p:grpSpPr>
          <a:xfrm>
            <a:off x="1222259" y="541979"/>
            <a:ext cx="4483682" cy="3438144"/>
            <a:chOff x="1402080" y="2616948"/>
            <a:chExt cx="9851136" cy="3438144"/>
          </a:xfrm>
        </p:grpSpPr>
        <p:cxnSp>
          <p:nvCxnSpPr>
            <p:cNvPr id="31" name="Straight Arrow Connector 30">
              <a:extLst>
                <a:ext uri="{FF2B5EF4-FFF2-40B4-BE49-F238E27FC236}">
                  <a16:creationId xmlns:a16="http://schemas.microsoft.com/office/drawing/2014/main" id="{3FAB4C22-8602-CE4B-555B-FD5E2110E0CE}"/>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C3A1FA1-438B-D6C6-A41D-B444E0D54081}"/>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3FEDB5EB-C2B8-3F99-82A8-093AB560CC29}"/>
              </a:ext>
            </a:extLst>
          </p:cNvPr>
          <p:cNvSpPr txBox="1"/>
          <p:nvPr/>
        </p:nvSpPr>
        <p:spPr>
          <a:xfrm>
            <a:off x="2988623" y="4335611"/>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22" name="TextBox 21">
            <a:extLst>
              <a:ext uri="{FF2B5EF4-FFF2-40B4-BE49-F238E27FC236}">
                <a16:creationId xmlns:a16="http://schemas.microsoft.com/office/drawing/2014/main" id="{F3093509-AD89-7BF0-4AE0-114B01037EA3}"/>
              </a:ext>
            </a:extLst>
          </p:cNvPr>
          <p:cNvSpPr txBox="1"/>
          <p:nvPr/>
        </p:nvSpPr>
        <p:spPr>
          <a:xfrm>
            <a:off x="0" y="2131450"/>
            <a:ext cx="1148736" cy="553998"/>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log</a:t>
            </a:r>
          </a:p>
          <a:p>
            <a:r>
              <a:rPr lang="en-US" sz="1500" dirty="0">
                <a:solidFill>
                  <a:schemeClr val="accent6">
                    <a:lumMod val="50000"/>
                  </a:schemeClr>
                </a:solidFill>
                <a:latin typeface="Avenir Book" panose="02000503020000020003" pitchFamily="2" charset="0"/>
              </a:rPr>
              <a:t>(Count)</a:t>
            </a:r>
          </a:p>
        </p:txBody>
      </p:sp>
      <p:cxnSp>
        <p:nvCxnSpPr>
          <p:cNvPr id="29" name="Straight Connector 28">
            <a:extLst>
              <a:ext uri="{FF2B5EF4-FFF2-40B4-BE49-F238E27FC236}">
                <a16:creationId xmlns:a16="http://schemas.microsoft.com/office/drawing/2014/main" id="{36BCD141-6B89-AE23-F82C-ED9F6BBA577C}"/>
              </a:ext>
            </a:extLst>
          </p:cNvPr>
          <p:cNvCxnSpPr>
            <a:cxnSpLocks/>
          </p:cNvCxnSpPr>
          <p:nvPr/>
        </p:nvCxnSpPr>
        <p:spPr>
          <a:xfrm flipV="1">
            <a:off x="1229303" y="795635"/>
            <a:ext cx="3643786" cy="2654156"/>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DBED60D6-4317-87A7-6EEE-BB11950342B4}"/>
              </a:ext>
            </a:extLst>
          </p:cNvPr>
          <p:cNvSpPr/>
          <p:nvPr/>
        </p:nvSpPr>
        <p:spPr>
          <a:xfrm>
            <a:off x="2327409" y="3255791"/>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41764EF-23D5-1B4F-53BB-6DC68FF65C1D}"/>
              </a:ext>
            </a:extLst>
          </p:cNvPr>
          <p:cNvSpPr/>
          <p:nvPr/>
        </p:nvSpPr>
        <p:spPr>
          <a:xfrm>
            <a:off x="3453946" y="93092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F2F1F803-255E-437E-7BEB-4FEDA31B2CE7}"/>
              </a:ext>
            </a:extLst>
          </p:cNvPr>
          <p:cNvSpPr/>
          <p:nvPr/>
        </p:nvSpPr>
        <p:spPr>
          <a:xfrm>
            <a:off x="2988623" y="202717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8F1C4B7-BD72-6480-CC76-780AADEA796A}"/>
              </a:ext>
            </a:extLst>
          </p:cNvPr>
          <p:cNvSpPr/>
          <p:nvPr/>
        </p:nvSpPr>
        <p:spPr>
          <a:xfrm>
            <a:off x="3968380" y="169646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3F02F20-2919-D81B-89C1-B4151F05D67D}"/>
              </a:ext>
            </a:extLst>
          </p:cNvPr>
          <p:cNvSpPr/>
          <p:nvPr/>
        </p:nvSpPr>
        <p:spPr>
          <a:xfrm>
            <a:off x="3280500" y="240844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D2B0A7B6-CF16-3993-C993-733A53B13C35}"/>
              </a:ext>
            </a:extLst>
          </p:cNvPr>
          <p:cNvSpPr/>
          <p:nvPr/>
        </p:nvSpPr>
        <p:spPr>
          <a:xfrm>
            <a:off x="4682695" y="31710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0EA600D5-A4D9-C6CE-8FC8-3CE25E0AE9F0}"/>
              </a:ext>
            </a:extLst>
          </p:cNvPr>
          <p:cNvSpPr/>
          <p:nvPr/>
        </p:nvSpPr>
        <p:spPr>
          <a:xfrm>
            <a:off x="4617307" y="131468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523181B6-A98B-F3ED-61A9-5F0D3D97F9AB}"/>
              </a:ext>
            </a:extLst>
          </p:cNvPr>
          <p:cNvGrpSpPr/>
          <p:nvPr/>
        </p:nvGrpSpPr>
        <p:grpSpPr>
          <a:xfrm>
            <a:off x="7167196" y="541979"/>
            <a:ext cx="4483682" cy="3438144"/>
            <a:chOff x="1402080" y="2616948"/>
            <a:chExt cx="9851136" cy="3438144"/>
          </a:xfrm>
        </p:grpSpPr>
        <p:cxnSp>
          <p:nvCxnSpPr>
            <p:cNvPr id="47" name="Straight Arrow Connector 46">
              <a:extLst>
                <a:ext uri="{FF2B5EF4-FFF2-40B4-BE49-F238E27FC236}">
                  <a16:creationId xmlns:a16="http://schemas.microsoft.com/office/drawing/2014/main" id="{9E6715F1-962E-8AFF-A635-7864765E4417}"/>
                </a:ext>
              </a:extLst>
            </p:cNvPr>
            <p:cNvCxnSpPr/>
            <p:nvPr/>
          </p:nvCxnSpPr>
          <p:spPr>
            <a:xfrm>
              <a:off x="1402080" y="6055092"/>
              <a:ext cx="9851136" cy="0"/>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1D7EF24-E2AE-6897-FA69-39155BD1A3B5}"/>
                </a:ext>
              </a:extLst>
            </p:cNvPr>
            <p:cNvCxnSpPr>
              <a:cxnSpLocks/>
            </p:cNvCxnSpPr>
            <p:nvPr/>
          </p:nvCxnSpPr>
          <p:spPr>
            <a:xfrm flipV="1">
              <a:off x="1402080" y="2616948"/>
              <a:ext cx="0" cy="343204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277760A6-F573-EF91-70B1-5A994B2CF892}"/>
              </a:ext>
            </a:extLst>
          </p:cNvPr>
          <p:cNvSpPr txBox="1"/>
          <p:nvPr/>
        </p:nvSpPr>
        <p:spPr>
          <a:xfrm>
            <a:off x="5913314" y="214364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   Count</a:t>
            </a:r>
          </a:p>
        </p:txBody>
      </p:sp>
      <p:sp>
        <p:nvSpPr>
          <p:cNvPr id="49" name="Oval 48">
            <a:extLst>
              <a:ext uri="{FF2B5EF4-FFF2-40B4-BE49-F238E27FC236}">
                <a16:creationId xmlns:a16="http://schemas.microsoft.com/office/drawing/2014/main" id="{DCEFBD7B-9BDD-365C-59E9-C2232AA0E0D5}"/>
              </a:ext>
            </a:extLst>
          </p:cNvPr>
          <p:cNvSpPr/>
          <p:nvPr/>
        </p:nvSpPr>
        <p:spPr>
          <a:xfrm>
            <a:off x="7464345" y="312649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2A665F8-6E5B-7938-6852-AD397E50C45F}"/>
              </a:ext>
            </a:extLst>
          </p:cNvPr>
          <p:cNvSpPr/>
          <p:nvPr/>
        </p:nvSpPr>
        <p:spPr>
          <a:xfrm>
            <a:off x="8132332" y="303161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89A2F324-FA03-D91A-4286-D1FBCCDE61F9}"/>
              </a:ext>
            </a:extLst>
          </p:cNvPr>
          <p:cNvSpPr/>
          <p:nvPr/>
        </p:nvSpPr>
        <p:spPr>
          <a:xfrm>
            <a:off x="8636338" y="363913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89713647-9E51-7068-8FE0-EF15FA2B7B93}"/>
              </a:ext>
            </a:extLst>
          </p:cNvPr>
          <p:cNvSpPr/>
          <p:nvPr/>
        </p:nvSpPr>
        <p:spPr>
          <a:xfrm>
            <a:off x="9761101" y="166304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0C8911B4-4457-426E-F159-5ABE43EB1E13}"/>
              </a:ext>
            </a:extLst>
          </p:cNvPr>
          <p:cNvSpPr/>
          <p:nvPr/>
        </p:nvSpPr>
        <p:spPr>
          <a:xfrm>
            <a:off x="9064027" y="2354216"/>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4C9EF758-4D52-68F2-259C-3E5BE9A67944}"/>
              </a:ext>
            </a:extLst>
          </p:cNvPr>
          <p:cNvSpPr/>
          <p:nvPr/>
        </p:nvSpPr>
        <p:spPr>
          <a:xfrm>
            <a:off x="10401039" y="1734549"/>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53A9A797-0DBB-46D0-70E4-8237C8B4C945}"/>
              </a:ext>
            </a:extLst>
          </p:cNvPr>
          <p:cNvSpPr/>
          <p:nvPr/>
        </p:nvSpPr>
        <p:spPr>
          <a:xfrm>
            <a:off x="9898564" y="2842810"/>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B53D170C-9008-9A9B-B30C-7D15B51F359B}"/>
              </a:ext>
            </a:extLst>
          </p:cNvPr>
          <p:cNvSpPr/>
          <p:nvPr/>
        </p:nvSpPr>
        <p:spPr>
          <a:xfrm>
            <a:off x="10989276" y="186595"/>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5FAA088E-2773-76E0-B26C-1C2CFD441774}"/>
              </a:ext>
            </a:extLst>
          </p:cNvPr>
          <p:cNvSpPr/>
          <p:nvPr/>
        </p:nvSpPr>
        <p:spPr>
          <a:xfrm>
            <a:off x="10988460" y="1459274"/>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87D3FCBA-8D94-8180-3247-00E8E55DBA8E}"/>
              </a:ext>
            </a:extLst>
          </p:cNvPr>
          <p:cNvSpPr/>
          <p:nvPr/>
        </p:nvSpPr>
        <p:spPr>
          <a:xfrm>
            <a:off x="7169417" y="380248"/>
            <a:ext cx="4154555" cy="3257847"/>
          </a:xfrm>
          <a:custGeom>
            <a:avLst/>
            <a:gdLst>
              <a:gd name="connsiteX0" fmla="*/ 0 w 3657600"/>
              <a:gd name="connsiteY0" fmla="*/ 2475571 h 2482174"/>
              <a:gd name="connsiteX1" fmla="*/ 2163337 w 3657600"/>
              <a:gd name="connsiteY1" fmla="*/ 2096430 h 2482174"/>
              <a:gd name="connsiteX2" fmla="*/ 3657600 w 3657600"/>
              <a:gd name="connsiteY2" fmla="*/ 0 h 2482174"/>
            </a:gdLst>
            <a:ahLst/>
            <a:cxnLst>
              <a:cxn ang="0">
                <a:pos x="connsiteX0" y="connsiteY0"/>
              </a:cxn>
              <a:cxn ang="0">
                <a:pos x="connsiteX1" y="connsiteY1"/>
              </a:cxn>
              <a:cxn ang="0">
                <a:pos x="connsiteX2" y="connsiteY2"/>
              </a:cxn>
            </a:cxnLst>
            <a:rect l="l" t="t" r="r" b="b"/>
            <a:pathLst>
              <a:path w="3657600" h="2482174">
                <a:moveTo>
                  <a:pt x="0" y="2475571"/>
                </a:moveTo>
                <a:cubicBezTo>
                  <a:pt x="776868" y="2492298"/>
                  <a:pt x="1553737" y="2509025"/>
                  <a:pt x="2163337" y="2096430"/>
                </a:cubicBezTo>
                <a:cubicBezTo>
                  <a:pt x="2772937" y="1683835"/>
                  <a:pt x="3215268" y="841917"/>
                  <a:pt x="3657600" y="0"/>
                </a:cubicBezTo>
              </a:path>
            </a:pathLst>
          </a:custGeom>
          <a:no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C08B73BA-F42B-2137-D53A-8FFE5BBFE745}"/>
              </a:ext>
            </a:extLst>
          </p:cNvPr>
          <p:cNvSpPr txBox="1"/>
          <p:nvPr/>
        </p:nvSpPr>
        <p:spPr>
          <a:xfrm>
            <a:off x="905387" y="405200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62" name="TextBox 61">
            <a:extLst>
              <a:ext uri="{FF2B5EF4-FFF2-40B4-BE49-F238E27FC236}">
                <a16:creationId xmlns:a16="http://schemas.microsoft.com/office/drawing/2014/main" id="{4913226A-D3DE-CC72-9D6D-EE1949A2B8FF}"/>
              </a:ext>
            </a:extLst>
          </p:cNvPr>
          <p:cNvSpPr txBox="1"/>
          <p:nvPr/>
        </p:nvSpPr>
        <p:spPr>
          <a:xfrm>
            <a:off x="868015" y="766123"/>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a:t>
            </a:r>
          </a:p>
        </p:txBody>
      </p:sp>
      <p:sp>
        <p:nvSpPr>
          <p:cNvPr id="63" name="TextBox 62">
            <a:extLst>
              <a:ext uri="{FF2B5EF4-FFF2-40B4-BE49-F238E27FC236}">
                <a16:creationId xmlns:a16="http://schemas.microsoft.com/office/drawing/2014/main" id="{C05E5DF4-F902-6807-E06D-C04BA4E30040}"/>
              </a:ext>
            </a:extLst>
          </p:cNvPr>
          <p:cNvSpPr txBox="1"/>
          <p:nvPr/>
        </p:nvSpPr>
        <p:spPr>
          <a:xfrm>
            <a:off x="868015" y="3327579"/>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a:t>
            </a:r>
          </a:p>
        </p:txBody>
      </p:sp>
      <p:sp>
        <p:nvSpPr>
          <p:cNvPr id="64" name="TextBox 63">
            <a:extLst>
              <a:ext uri="{FF2B5EF4-FFF2-40B4-BE49-F238E27FC236}">
                <a16:creationId xmlns:a16="http://schemas.microsoft.com/office/drawing/2014/main" id="{0D67B0D3-49A8-3156-8235-9A5A624ACC2B}"/>
              </a:ext>
            </a:extLst>
          </p:cNvPr>
          <p:cNvSpPr txBox="1"/>
          <p:nvPr/>
        </p:nvSpPr>
        <p:spPr>
          <a:xfrm>
            <a:off x="868015" y="268721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a:t>
            </a:r>
          </a:p>
        </p:txBody>
      </p:sp>
      <p:sp>
        <p:nvSpPr>
          <p:cNvPr id="65" name="TextBox 64">
            <a:extLst>
              <a:ext uri="{FF2B5EF4-FFF2-40B4-BE49-F238E27FC236}">
                <a16:creationId xmlns:a16="http://schemas.microsoft.com/office/drawing/2014/main" id="{C0EC2715-0BF3-9A42-4F60-8EC0750A4851}"/>
              </a:ext>
            </a:extLst>
          </p:cNvPr>
          <p:cNvSpPr txBox="1"/>
          <p:nvPr/>
        </p:nvSpPr>
        <p:spPr>
          <a:xfrm>
            <a:off x="868015" y="2046851"/>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66" name="TextBox 65">
            <a:extLst>
              <a:ext uri="{FF2B5EF4-FFF2-40B4-BE49-F238E27FC236}">
                <a16:creationId xmlns:a16="http://schemas.microsoft.com/office/drawing/2014/main" id="{64FA753D-7D8F-571D-025F-B2B2EB361F1F}"/>
              </a:ext>
            </a:extLst>
          </p:cNvPr>
          <p:cNvSpPr txBox="1"/>
          <p:nvPr/>
        </p:nvSpPr>
        <p:spPr>
          <a:xfrm>
            <a:off x="868015" y="140648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4</a:t>
            </a:r>
          </a:p>
        </p:txBody>
      </p:sp>
      <p:sp>
        <p:nvSpPr>
          <p:cNvPr id="67" name="TextBox 66">
            <a:extLst>
              <a:ext uri="{FF2B5EF4-FFF2-40B4-BE49-F238E27FC236}">
                <a16:creationId xmlns:a16="http://schemas.microsoft.com/office/drawing/2014/main" id="{C81D6864-DC7B-F420-28C5-FE697B785334}"/>
              </a:ext>
            </a:extLst>
          </p:cNvPr>
          <p:cNvSpPr txBox="1"/>
          <p:nvPr/>
        </p:nvSpPr>
        <p:spPr>
          <a:xfrm>
            <a:off x="1734099" y="4052001"/>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1" name="TextBox 70">
            <a:extLst>
              <a:ext uri="{FF2B5EF4-FFF2-40B4-BE49-F238E27FC236}">
                <a16:creationId xmlns:a16="http://schemas.microsoft.com/office/drawing/2014/main" id="{D1B15B54-E3E9-B99D-4BDE-30669AB4333A}"/>
              </a:ext>
            </a:extLst>
          </p:cNvPr>
          <p:cNvSpPr txBox="1"/>
          <p:nvPr/>
        </p:nvSpPr>
        <p:spPr>
          <a:xfrm>
            <a:off x="9069416" y="4366742"/>
            <a:ext cx="18218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Year</a:t>
            </a:r>
          </a:p>
        </p:txBody>
      </p:sp>
      <p:sp>
        <p:nvSpPr>
          <p:cNvPr id="72" name="TextBox 71">
            <a:extLst>
              <a:ext uri="{FF2B5EF4-FFF2-40B4-BE49-F238E27FC236}">
                <a16:creationId xmlns:a16="http://schemas.microsoft.com/office/drawing/2014/main" id="{03E0CFDF-CDDE-4AE6-A8A5-C453729B1E58}"/>
              </a:ext>
            </a:extLst>
          </p:cNvPr>
          <p:cNvSpPr txBox="1"/>
          <p:nvPr/>
        </p:nvSpPr>
        <p:spPr>
          <a:xfrm>
            <a:off x="6900996" y="408376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0</a:t>
            </a:r>
          </a:p>
        </p:txBody>
      </p:sp>
      <p:sp>
        <p:nvSpPr>
          <p:cNvPr id="73" name="TextBox 72">
            <a:extLst>
              <a:ext uri="{FF2B5EF4-FFF2-40B4-BE49-F238E27FC236}">
                <a16:creationId xmlns:a16="http://schemas.microsoft.com/office/drawing/2014/main" id="{7FE70F0D-25B0-583A-2C40-D6B2EC26CE38}"/>
              </a:ext>
            </a:extLst>
          </p:cNvPr>
          <p:cNvSpPr txBox="1"/>
          <p:nvPr/>
        </p:nvSpPr>
        <p:spPr>
          <a:xfrm>
            <a:off x="7567164" y="4093815"/>
            <a:ext cx="4875593"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	2	3	4	5	</a:t>
            </a:r>
          </a:p>
        </p:txBody>
      </p:sp>
      <p:sp>
        <p:nvSpPr>
          <p:cNvPr id="74" name="Oval 73">
            <a:extLst>
              <a:ext uri="{FF2B5EF4-FFF2-40B4-BE49-F238E27FC236}">
                <a16:creationId xmlns:a16="http://schemas.microsoft.com/office/drawing/2014/main" id="{352A8546-3802-3853-53BB-4A7F723F947D}"/>
              </a:ext>
            </a:extLst>
          </p:cNvPr>
          <p:cNvSpPr/>
          <p:nvPr/>
        </p:nvSpPr>
        <p:spPr>
          <a:xfrm>
            <a:off x="1682827" y="2699307"/>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4384BAA5-5710-CFB5-4516-4B4A568119C5}"/>
              </a:ext>
            </a:extLst>
          </p:cNvPr>
          <p:cNvSpPr/>
          <p:nvPr/>
        </p:nvSpPr>
        <p:spPr>
          <a:xfrm>
            <a:off x="2206523" y="2226803"/>
            <a:ext cx="183600" cy="183600"/>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5FD895CE-E869-C05E-3B19-939C148B35CD}"/>
              </a:ext>
            </a:extLst>
          </p:cNvPr>
          <p:cNvSpPr txBox="1"/>
          <p:nvPr/>
        </p:nvSpPr>
        <p:spPr>
          <a:xfrm>
            <a:off x="6609692" y="631536"/>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148</a:t>
            </a:r>
          </a:p>
        </p:txBody>
      </p:sp>
      <p:sp>
        <p:nvSpPr>
          <p:cNvPr id="82" name="TextBox 81">
            <a:extLst>
              <a:ext uri="{FF2B5EF4-FFF2-40B4-BE49-F238E27FC236}">
                <a16:creationId xmlns:a16="http://schemas.microsoft.com/office/drawing/2014/main" id="{396B985D-BB39-A0E1-6B21-22A104A4642D}"/>
              </a:ext>
            </a:extLst>
          </p:cNvPr>
          <p:cNvSpPr txBox="1"/>
          <p:nvPr/>
        </p:nvSpPr>
        <p:spPr>
          <a:xfrm>
            <a:off x="6735935" y="3300682"/>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3</a:t>
            </a:r>
          </a:p>
        </p:txBody>
      </p:sp>
      <p:sp>
        <p:nvSpPr>
          <p:cNvPr id="83" name="TextBox 82">
            <a:extLst>
              <a:ext uri="{FF2B5EF4-FFF2-40B4-BE49-F238E27FC236}">
                <a16:creationId xmlns:a16="http://schemas.microsoft.com/office/drawing/2014/main" id="{4B9694C2-4BDF-A3AC-75A1-DE7DC43661E8}"/>
              </a:ext>
            </a:extLst>
          </p:cNvPr>
          <p:cNvSpPr txBox="1"/>
          <p:nvPr/>
        </p:nvSpPr>
        <p:spPr>
          <a:xfrm>
            <a:off x="6735935" y="2659715"/>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7</a:t>
            </a:r>
          </a:p>
        </p:txBody>
      </p:sp>
      <p:sp>
        <p:nvSpPr>
          <p:cNvPr id="84" name="TextBox 83">
            <a:extLst>
              <a:ext uri="{FF2B5EF4-FFF2-40B4-BE49-F238E27FC236}">
                <a16:creationId xmlns:a16="http://schemas.microsoft.com/office/drawing/2014/main" id="{C9174D7D-7897-323A-402B-616982FD7656}"/>
              </a:ext>
            </a:extLst>
          </p:cNvPr>
          <p:cNvSpPr txBox="1"/>
          <p:nvPr/>
        </p:nvSpPr>
        <p:spPr>
          <a:xfrm>
            <a:off x="6666343" y="2029874"/>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20</a:t>
            </a:r>
          </a:p>
        </p:txBody>
      </p:sp>
      <p:sp>
        <p:nvSpPr>
          <p:cNvPr id="85" name="TextBox 84">
            <a:extLst>
              <a:ext uri="{FF2B5EF4-FFF2-40B4-BE49-F238E27FC236}">
                <a16:creationId xmlns:a16="http://schemas.microsoft.com/office/drawing/2014/main" id="{C746A783-9924-C669-0050-DE87648F17A7}"/>
              </a:ext>
            </a:extLst>
          </p:cNvPr>
          <p:cNvSpPr txBox="1"/>
          <p:nvPr/>
        </p:nvSpPr>
        <p:spPr>
          <a:xfrm>
            <a:off x="6660736" y="1388907"/>
            <a:ext cx="1148736" cy="32316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55</a:t>
            </a:r>
          </a:p>
        </p:txBody>
      </p:sp>
      <p:graphicFrame>
        <p:nvGraphicFramePr>
          <p:cNvPr id="2" name="Table 1">
            <a:extLst>
              <a:ext uri="{FF2B5EF4-FFF2-40B4-BE49-F238E27FC236}">
                <a16:creationId xmlns:a16="http://schemas.microsoft.com/office/drawing/2014/main" id="{875CB581-645A-AF8B-10D5-1C9684D0FF8D}"/>
              </a:ext>
            </a:extLst>
          </p:cNvPr>
          <p:cNvGraphicFramePr>
            <a:graphicFrameLocks noGrp="1"/>
          </p:cNvGraphicFramePr>
          <p:nvPr>
            <p:extLst>
              <p:ext uri="{D42A27DB-BD31-4B8C-83A1-F6EECF244321}">
                <p14:modId xmlns:p14="http://schemas.microsoft.com/office/powerpoint/2010/main" val="124939714"/>
              </p:ext>
            </p:extLst>
          </p:nvPr>
        </p:nvGraphicFramePr>
        <p:xfrm>
          <a:off x="735214" y="5297602"/>
          <a:ext cx="5178100" cy="1381760"/>
        </p:xfrm>
        <a:graphic>
          <a:graphicData uri="http://schemas.openxmlformats.org/drawingml/2006/table">
            <a:tbl>
              <a:tblPr firstRow="1" bandRow="1">
                <a:tableStyleId>{5C22544A-7EE6-4342-B048-85BDC9FD1C3A}</a:tableStyleId>
              </a:tblPr>
              <a:tblGrid>
                <a:gridCol w="1299780">
                  <a:extLst>
                    <a:ext uri="{9D8B030D-6E8A-4147-A177-3AD203B41FA5}">
                      <a16:colId xmlns:a16="http://schemas.microsoft.com/office/drawing/2014/main" val="2132662897"/>
                    </a:ext>
                  </a:extLst>
                </a:gridCol>
                <a:gridCol w="1114097">
                  <a:extLst>
                    <a:ext uri="{9D8B030D-6E8A-4147-A177-3AD203B41FA5}">
                      <a16:colId xmlns:a16="http://schemas.microsoft.com/office/drawing/2014/main" val="983594484"/>
                    </a:ext>
                  </a:extLst>
                </a:gridCol>
                <a:gridCol w="692983">
                  <a:extLst>
                    <a:ext uri="{9D8B030D-6E8A-4147-A177-3AD203B41FA5}">
                      <a16:colId xmlns:a16="http://schemas.microsoft.com/office/drawing/2014/main" val="3121917033"/>
                    </a:ext>
                  </a:extLst>
                </a:gridCol>
                <a:gridCol w="1035620">
                  <a:extLst>
                    <a:ext uri="{9D8B030D-6E8A-4147-A177-3AD203B41FA5}">
                      <a16:colId xmlns:a16="http://schemas.microsoft.com/office/drawing/2014/main" val="338170958"/>
                    </a:ext>
                  </a:extLst>
                </a:gridCol>
                <a:gridCol w="1035620">
                  <a:extLst>
                    <a:ext uri="{9D8B030D-6E8A-4147-A177-3AD203B41FA5}">
                      <a16:colId xmlns:a16="http://schemas.microsoft.com/office/drawing/2014/main" val="1257978380"/>
                    </a:ext>
                  </a:extLst>
                </a:gridCol>
              </a:tblGrid>
              <a:tr h="370840">
                <a:tc>
                  <a:txBody>
                    <a:bodyPr/>
                    <a:lstStyle/>
                    <a:p>
                      <a:endParaRPr lang="en-US" dirty="0"/>
                    </a:p>
                  </a:txBody>
                  <a:tcPr/>
                </a:tc>
                <a:tc>
                  <a:txBody>
                    <a:bodyPr/>
                    <a:lstStyle/>
                    <a:p>
                      <a:r>
                        <a:rPr lang="en-US" dirty="0"/>
                        <a:t>Estimate</a:t>
                      </a:r>
                    </a:p>
                  </a:txBody>
                  <a:tcPr/>
                </a:tc>
                <a:tc>
                  <a:txBody>
                    <a:bodyPr/>
                    <a:lstStyle/>
                    <a:p>
                      <a:r>
                        <a:rPr lang="en-US" dirty="0"/>
                        <a:t>Std. Error</a:t>
                      </a:r>
                    </a:p>
                  </a:txBody>
                  <a:tcPr/>
                </a:tc>
                <a:tc>
                  <a:txBody>
                    <a:bodyPr/>
                    <a:lstStyle/>
                    <a:p>
                      <a:r>
                        <a:rPr lang="en-US" dirty="0"/>
                        <a:t>z value </a:t>
                      </a:r>
                      <a:r>
                        <a:rPr lang="en-US" sz="1000" dirty="0"/>
                        <a:t>(or T or F)</a:t>
                      </a:r>
                    </a:p>
                  </a:txBody>
                  <a:tcPr/>
                </a:tc>
                <a:tc>
                  <a:txBody>
                    <a:bodyPr/>
                    <a:lstStyle/>
                    <a:p>
                      <a:r>
                        <a:rPr lang="en-US" dirty="0" err="1"/>
                        <a:t>Pr</a:t>
                      </a:r>
                      <a:r>
                        <a:rPr lang="en-US" dirty="0"/>
                        <a:t>(&gt;|z|)</a:t>
                      </a:r>
                    </a:p>
                  </a:txBody>
                  <a:tcPr/>
                </a:tc>
                <a:extLst>
                  <a:ext uri="{0D108BD9-81ED-4DB2-BD59-A6C34878D82A}">
                    <a16:rowId xmlns:a16="http://schemas.microsoft.com/office/drawing/2014/main" val="1913263903"/>
                  </a:ext>
                </a:extLst>
              </a:tr>
              <a:tr h="370840">
                <a:tc>
                  <a:txBody>
                    <a:bodyPr/>
                    <a:lstStyle/>
                    <a:p>
                      <a:r>
                        <a:rPr lang="en-US" dirty="0"/>
                        <a:t>(Intercept)</a:t>
                      </a:r>
                    </a:p>
                  </a:txBody>
                  <a:tcPr/>
                </a:tc>
                <a:tc>
                  <a:txBody>
                    <a:bodyPr/>
                    <a:lstStyle/>
                    <a:p>
                      <a:r>
                        <a:rPr lang="en-US" dirty="0"/>
                        <a:t>1</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473114995"/>
                  </a:ext>
                </a:extLst>
              </a:tr>
              <a:tr h="370840">
                <a:tc>
                  <a:txBody>
                    <a:bodyPr/>
                    <a:lstStyle/>
                    <a:p>
                      <a:r>
                        <a:rPr lang="en-US" dirty="0"/>
                        <a:t>Year</a:t>
                      </a:r>
                    </a:p>
                  </a:txBody>
                  <a:tcPr/>
                </a:tc>
                <a:tc>
                  <a:txBody>
                    <a:bodyPr/>
                    <a:lstStyle/>
                    <a:p>
                      <a:r>
                        <a:rPr lang="en-US" dirty="0"/>
                        <a:t>0.08</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501223438"/>
                  </a:ext>
                </a:extLst>
              </a:tr>
            </a:tbl>
          </a:graphicData>
        </a:graphic>
      </p:graphicFrame>
      <p:sp>
        <p:nvSpPr>
          <p:cNvPr id="3" name="TextBox 2">
            <a:extLst>
              <a:ext uri="{FF2B5EF4-FFF2-40B4-BE49-F238E27FC236}">
                <a16:creationId xmlns:a16="http://schemas.microsoft.com/office/drawing/2014/main" id="{4AB09B13-F08D-E620-0A5D-4CFEB6E49A1A}"/>
              </a:ext>
            </a:extLst>
          </p:cNvPr>
          <p:cNvSpPr txBox="1"/>
          <p:nvPr/>
        </p:nvSpPr>
        <p:spPr>
          <a:xfrm>
            <a:off x="7138785" y="4832777"/>
            <a:ext cx="4512093" cy="338554"/>
          </a:xfrm>
          <a:prstGeom prst="rect">
            <a:avLst/>
          </a:prstGeom>
          <a:noFill/>
        </p:spPr>
        <p:txBody>
          <a:bodyPr wrap="square">
            <a:spAutoFit/>
          </a:bodyPr>
          <a:lstStyle/>
          <a:p>
            <a:r>
              <a:rPr lang="en-US" sz="1600" dirty="0">
                <a:solidFill>
                  <a:schemeClr val="accent6">
                    <a:lumMod val="50000"/>
                  </a:schemeClr>
                </a:solidFill>
                <a:latin typeface="Avenir Book" panose="02000503020000020003" pitchFamily="2" charset="0"/>
              </a:rPr>
              <a:t>log(Count) goes up by 0.08 each year. </a:t>
            </a:r>
            <a:endParaRPr lang="en-US" sz="1600" dirty="0"/>
          </a:p>
        </p:txBody>
      </p:sp>
      <p:sp>
        <p:nvSpPr>
          <p:cNvPr id="4" name="TextBox 3">
            <a:extLst>
              <a:ext uri="{FF2B5EF4-FFF2-40B4-BE49-F238E27FC236}">
                <a16:creationId xmlns:a16="http://schemas.microsoft.com/office/drawing/2014/main" id="{2BCB7087-CB2A-F96E-75FE-F8452164E7CF}"/>
              </a:ext>
            </a:extLst>
          </p:cNvPr>
          <p:cNvSpPr txBox="1"/>
          <p:nvPr/>
        </p:nvSpPr>
        <p:spPr>
          <a:xfrm>
            <a:off x="7126686" y="5203349"/>
            <a:ext cx="4512093" cy="1246495"/>
          </a:xfrm>
          <a:prstGeom prst="rect">
            <a:avLst/>
          </a:prstGeom>
          <a:noFill/>
        </p:spPr>
        <p:txBody>
          <a:bodyPr wrap="square">
            <a:spAutoFit/>
          </a:bodyPr>
          <a:lstStyle/>
          <a:p>
            <a:r>
              <a:rPr lang="en-US" sz="1500" dirty="0">
                <a:solidFill>
                  <a:schemeClr val="accent6">
                    <a:lumMod val="50000"/>
                  </a:schemeClr>
                </a:solidFill>
                <a:latin typeface="Avenir Book" panose="02000503020000020003" pitchFamily="2" charset="0"/>
              </a:rPr>
              <a:t>e</a:t>
            </a:r>
            <a:r>
              <a:rPr lang="en-US" sz="1500" baseline="30000" dirty="0">
                <a:solidFill>
                  <a:schemeClr val="accent6">
                    <a:lumMod val="50000"/>
                  </a:schemeClr>
                </a:solidFill>
                <a:latin typeface="Avenir Book" panose="02000503020000020003" pitchFamily="2" charset="0"/>
              </a:rPr>
              <a:t>0.08</a:t>
            </a:r>
            <a:r>
              <a:rPr lang="en-US" sz="1500" dirty="0">
                <a:solidFill>
                  <a:schemeClr val="accent6">
                    <a:lumMod val="50000"/>
                  </a:schemeClr>
                </a:solidFill>
                <a:latin typeface="Avenir Book" panose="02000503020000020003" pitchFamily="2" charset="0"/>
              </a:rPr>
              <a:t> = 1.08</a:t>
            </a:r>
          </a:p>
          <a:p>
            <a:endParaRPr lang="en-US" sz="1500" dirty="0">
              <a:solidFill>
                <a:schemeClr val="accent6">
                  <a:lumMod val="50000"/>
                </a:schemeClr>
              </a:solidFill>
              <a:latin typeface="Avenir Book" panose="02000503020000020003" pitchFamily="2" charset="0"/>
            </a:endParaRPr>
          </a:p>
          <a:p>
            <a:r>
              <a:rPr lang="en-US" sz="1500" dirty="0">
                <a:solidFill>
                  <a:schemeClr val="accent6">
                    <a:lumMod val="50000"/>
                  </a:schemeClr>
                </a:solidFill>
                <a:latin typeface="Avenir Book" panose="02000503020000020003" pitchFamily="2" charset="0"/>
              </a:rPr>
              <a:t>Now, the population is multiplied by 1.08 every year</a:t>
            </a:r>
          </a:p>
          <a:p>
            <a:endParaRPr lang="en-US" sz="1500" dirty="0">
              <a:solidFill>
                <a:schemeClr val="accent6">
                  <a:lumMod val="50000"/>
                </a:schemeClr>
              </a:solidFill>
              <a:latin typeface="Avenir Book" panose="02000503020000020003" pitchFamily="2" charset="0"/>
            </a:endParaRPr>
          </a:p>
          <a:p>
            <a:r>
              <a:rPr lang="en-US" sz="1500" b="1" dirty="0">
                <a:solidFill>
                  <a:schemeClr val="accent6">
                    <a:lumMod val="50000"/>
                  </a:schemeClr>
                </a:solidFill>
                <a:latin typeface="Avenir Book" panose="02000503020000020003" pitchFamily="2" charset="0"/>
              </a:rPr>
              <a:t>In other words, it goes up by 8% every year </a:t>
            </a:r>
          </a:p>
        </p:txBody>
      </p:sp>
    </p:spTree>
    <p:extLst>
      <p:ext uri="{BB962C8B-B14F-4D97-AF65-F5344CB8AC3E}">
        <p14:creationId xmlns:p14="http://schemas.microsoft.com/office/powerpoint/2010/main" val="11577600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1B4AC-05B7-7C81-30E4-2906F35549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74BAC9-27A9-C9CC-D834-6C01809C1815}"/>
              </a:ext>
            </a:extLst>
          </p:cNvPr>
          <p:cNvSpPr txBox="1"/>
          <p:nvPr/>
        </p:nvSpPr>
        <p:spPr>
          <a:xfrm>
            <a:off x="3066345" y="515320"/>
            <a:ext cx="6290719" cy="3785652"/>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Worksheet!</a:t>
            </a:r>
          </a:p>
          <a:p>
            <a:pPr algn="ct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a:p>
            <a:pPr algn="ctr"/>
            <a:r>
              <a:rPr lang="en-GB" sz="3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Exercise 4 hint: remember to run exp(…) on your estimate. You can run exp(</a:t>
            </a:r>
            <a:r>
              <a:rPr lang="en-GB" sz="3000" dirty="0" err="1">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confint</a:t>
            </a:r>
            <a:r>
              <a:rPr lang="en-GB" sz="3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 to get your 95% confidence intervals too!</a:t>
            </a:r>
            <a:endParaRPr lang="en-GB" sz="3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pic>
        <p:nvPicPr>
          <p:cNvPr id="6" name="Picture 5">
            <a:extLst>
              <a:ext uri="{FF2B5EF4-FFF2-40B4-BE49-F238E27FC236}">
                <a16:creationId xmlns:a16="http://schemas.microsoft.com/office/drawing/2014/main" id="{9C7E642C-7667-4F4A-B284-4E706E06A405}"/>
              </a:ext>
            </a:extLst>
          </p:cNvPr>
          <p:cNvPicPr>
            <a:picLocks noChangeAspect="1"/>
          </p:cNvPicPr>
          <p:nvPr/>
        </p:nvPicPr>
        <p:blipFill>
          <a:blip r:embed="rId2"/>
          <a:stretch>
            <a:fillRect/>
          </a:stretch>
        </p:blipFill>
        <p:spPr>
          <a:xfrm>
            <a:off x="2845006" y="5123387"/>
            <a:ext cx="3035456" cy="787440"/>
          </a:xfrm>
          <a:prstGeom prst="rect">
            <a:avLst/>
          </a:prstGeom>
        </p:spPr>
      </p:pic>
      <p:sp>
        <p:nvSpPr>
          <p:cNvPr id="7" name="TextBox 6">
            <a:extLst>
              <a:ext uri="{FF2B5EF4-FFF2-40B4-BE49-F238E27FC236}">
                <a16:creationId xmlns:a16="http://schemas.microsoft.com/office/drawing/2014/main" id="{36702590-29C4-4978-BD39-62FF1D02C9D6}"/>
              </a:ext>
            </a:extLst>
          </p:cNvPr>
          <p:cNvSpPr txBox="1"/>
          <p:nvPr/>
        </p:nvSpPr>
        <p:spPr>
          <a:xfrm>
            <a:off x="5824148" y="5434308"/>
            <a:ext cx="6290719" cy="400110"/>
          </a:xfrm>
          <a:prstGeom prst="rect">
            <a:avLst/>
          </a:prstGeom>
          <a:noFill/>
        </p:spPr>
        <p:txBody>
          <a:bodyPr wrap="square">
            <a:spAutoFit/>
          </a:bodyPr>
          <a:lstStyle/>
          <a:p>
            <a:pPr algn="ctr"/>
            <a:r>
              <a:rPr lang="en-GB" sz="2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In this case the 95% CIs of Intercept at 1.6 and 2.2</a:t>
            </a:r>
            <a:endParaRPr lang="en-GB" sz="2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8005217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1B4AC-05B7-7C81-30E4-2906F35549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74BAC9-27A9-C9CC-D834-6C01809C1815}"/>
              </a:ext>
            </a:extLst>
          </p:cNvPr>
          <p:cNvSpPr txBox="1"/>
          <p:nvPr/>
        </p:nvSpPr>
        <p:spPr>
          <a:xfrm>
            <a:off x="2224585" y="515320"/>
            <a:ext cx="8461612" cy="1938992"/>
          </a:xfrm>
          <a:prstGeom prst="rect">
            <a:avLst/>
          </a:prstGeom>
          <a:noFill/>
        </p:spPr>
        <p:txBody>
          <a:bodyPr wrap="square">
            <a:spAutoFit/>
          </a:bodyPr>
          <a:lstStyle/>
          <a:p>
            <a:pPr algn="ctr"/>
            <a:r>
              <a:rPr lang="en-GB" sz="6000" dirty="0">
                <a:solidFill>
                  <a:schemeClr val="accent4">
                    <a:lumMod val="75000"/>
                  </a:schemeClr>
                </a:solidFill>
                <a:latin typeface="Avenir Heavy" panose="02000503020000020003" pitchFamily="2" charset="0"/>
                <a:ea typeface="Helvetica Neue Condensed Black" panose="02000503000000020004" pitchFamily="2" charset="0"/>
                <a:cs typeface="Helvetica Neue Condensed Black" panose="02000503000000020004" pitchFamily="2" charset="0"/>
              </a:rPr>
              <a:t>WWF Report Reminders!</a:t>
            </a:r>
          </a:p>
          <a:p>
            <a:pPr algn="ctr"/>
            <a:endParaRPr lang="en-GB" sz="6000" dirty="0">
              <a:solidFill>
                <a:schemeClr val="accent4">
                  <a:lumMod val="75000"/>
                </a:schemeClr>
              </a:solidFill>
              <a:effectLst/>
              <a:latin typeface="Avenir Heavy" panose="02000503020000020003" pitchFamily="2" charset="0"/>
              <a:ea typeface="Helvetica Neue Condensed Black" panose="02000503000000020004" pitchFamily="2" charset="0"/>
              <a:cs typeface="Helvetica Neue Condensed Black" panose="02000503000000020004" pitchFamily="2" charset="0"/>
            </a:endParaRPr>
          </a:p>
        </p:txBody>
      </p:sp>
      <p:sp>
        <p:nvSpPr>
          <p:cNvPr id="5" name="TextBox 4">
            <a:extLst>
              <a:ext uri="{FF2B5EF4-FFF2-40B4-BE49-F238E27FC236}">
                <a16:creationId xmlns:a16="http://schemas.microsoft.com/office/drawing/2014/main" id="{FACEEC1C-4E3A-4FD2-8C3F-A88577D43357}"/>
              </a:ext>
            </a:extLst>
          </p:cNvPr>
          <p:cNvSpPr txBox="1"/>
          <p:nvPr/>
        </p:nvSpPr>
        <p:spPr>
          <a:xfrm>
            <a:off x="516244" y="3156816"/>
            <a:ext cx="11291362" cy="3170099"/>
          </a:xfrm>
          <a:prstGeom prst="rect">
            <a:avLst/>
          </a:prstGeom>
          <a:noFill/>
        </p:spPr>
        <p:txBody>
          <a:bodyPr wrap="square">
            <a:spAutoFit/>
          </a:bodyPr>
          <a:lstStyle/>
          <a:p>
            <a:r>
              <a:rPr lang="en-US" sz="2000" dirty="0">
                <a:solidFill>
                  <a:schemeClr val="accent6">
                    <a:lumMod val="50000"/>
                  </a:schemeClr>
                </a:solidFill>
                <a:latin typeface="Avenir Book" panose="02000503020000020003" pitchFamily="2" charset="0"/>
              </a:rPr>
              <a:t>Due Next Friday</a:t>
            </a:r>
          </a:p>
          <a:p>
            <a:endParaRPr lang="en-US" sz="2000" dirty="0">
              <a:solidFill>
                <a:schemeClr val="accent6">
                  <a:lumMod val="50000"/>
                </a:schemeClr>
              </a:solidFill>
              <a:latin typeface="Avenir Book" panose="02000503020000020003" pitchFamily="2" charset="0"/>
            </a:endParaRPr>
          </a:p>
          <a:p>
            <a:r>
              <a:rPr lang="en-US" sz="2000" dirty="0">
                <a:solidFill>
                  <a:schemeClr val="accent6">
                    <a:lumMod val="50000"/>
                  </a:schemeClr>
                </a:solidFill>
                <a:latin typeface="Avenir Book" panose="02000503020000020003" pitchFamily="2" charset="0"/>
              </a:rPr>
              <a:t>MAKE SURE you push your edits to the repo (check in the web browser that it looks right). Make sure you haven’t manually forked your repo</a:t>
            </a:r>
          </a:p>
          <a:p>
            <a:endParaRPr lang="en-US" sz="2000" dirty="0">
              <a:solidFill>
                <a:schemeClr val="accent6">
                  <a:lumMod val="50000"/>
                </a:schemeClr>
              </a:solidFill>
              <a:latin typeface="Avenir Book" panose="02000503020000020003" pitchFamily="2" charset="0"/>
            </a:endParaRPr>
          </a:p>
          <a:p>
            <a:r>
              <a:rPr lang="en-US" sz="2000" dirty="0">
                <a:solidFill>
                  <a:schemeClr val="accent6">
                    <a:lumMod val="50000"/>
                  </a:schemeClr>
                </a:solidFill>
                <a:latin typeface="Avenir Book" panose="02000503020000020003" pitchFamily="2" charset="0"/>
              </a:rPr>
              <a:t>We will be discussing data representativeness next week, and thinking about biases in your data. We want you to talk about this in your report, so make sure you come to class! (We’ll allow some time for report updating)</a:t>
            </a:r>
          </a:p>
          <a:p>
            <a:endParaRPr lang="en-US" sz="2000" dirty="0">
              <a:solidFill>
                <a:schemeClr val="accent6">
                  <a:lumMod val="50000"/>
                </a:schemeClr>
              </a:solidFill>
              <a:latin typeface="Avenir Book" panose="02000503020000020003" pitchFamily="2" charset="0"/>
            </a:endParaRPr>
          </a:p>
          <a:p>
            <a:r>
              <a:rPr lang="en-US" sz="2000" dirty="0">
                <a:solidFill>
                  <a:schemeClr val="accent6">
                    <a:lumMod val="50000"/>
                  </a:schemeClr>
                </a:solidFill>
                <a:latin typeface="Avenir Book" panose="02000503020000020003" pitchFamily="2" charset="0"/>
              </a:rPr>
              <a:t>I’ll extend repos that have extensions, good to let me know to be safe</a:t>
            </a:r>
          </a:p>
        </p:txBody>
      </p:sp>
    </p:spTree>
    <p:extLst>
      <p:ext uri="{BB962C8B-B14F-4D97-AF65-F5344CB8AC3E}">
        <p14:creationId xmlns:p14="http://schemas.microsoft.com/office/powerpoint/2010/main" val="232533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8782</TotalTime>
  <Words>4532</Words>
  <Application>Microsoft Macintosh PowerPoint</Application>
  <PresentationFormat>Widescreen</PresentationFormat>
  <Paragraphs>1293</Paragraphs>
  <Slides>64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Avenir</vt:lpstr>
      <vt:lpstr>Avenir Book</vt:lpstr>
      <vt:lpstr>Avenir Heavy</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Wauchope, Hannah</dc:creator>
  <cp:lastModifiedBy>Hannah Wauchope</cp:lastModifiedBy>
  <cp:revision>34</cp:revision>
  <cp:lastPrinted>2024-11-07T14:20:12Z</cp:lastPrinted>
  <dcterms:created xsi:type="dcterms:W3CDTF">2023-10-12T09:30:13Z</dcterms:created>
  <dcterms:modified xsi:type="dcterms:W3CDTF">2025-10-31T16:41:51Z</dcterms:modified>
</cp:coreProperties>
</file>