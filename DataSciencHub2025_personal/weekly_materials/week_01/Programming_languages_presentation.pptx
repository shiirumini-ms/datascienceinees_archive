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66" r:id="rId5"/>
    <p:sldId id="272" r:id="rId6"/>
    <p:sldId id="262" r:id="rId7"/>
    <p:sldId id="273" r:id="rId8"/>
    <p:sldId id="265" r:id="rId9"/>
    <p:sldId id="260" r:id="rId10"/>
    <p:sldId id="261" r:id="rId11"/>
    <p:sldId id="258" r:id="rId12"/>
    <p:sldId id="269" r:id="rId13"/>
    <p:sldId id="257" r:id="rId14"/>
    <p:sldId id="263" r:id="rId15"/>
    <p:sldId id="268" r:id="rId16"/>
    <p:sldId id="259" r:id="rId17"/>
    <p:sldId id="27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12AAD-24DF-41C6-9753-96A00DB6B70D}" v="1370" dt="2025-09-18T10:56:21.646"/>
    <p1510:client id="{638C5F09-E6E8-45C1-9A4D-397842F3C064}" v="29" dt="2025-09-16T12:56:42.864"/>
    <p1510:client id="{85865EFA-5983-4F23-8E6E-8CB2F18E21E8}" v="2" dt="2025-09-17T16:36:15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637"/>
  </p:normalViewPr>
  <p:slideViewPr>
    <p:cSldViewPr snapToGrid="0" snapToObjects="1">
      <p:cViewPr varScale="1">
        <p:scale>
          <a:sx n="152" d="100"/>
          <a:sy n="152" d="100"/>
        </p:scale>
        <p:origin x="61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F6997-7651-4E4B-819D-23B28C6BA0F4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F5541-34CD-4406-9EC3-DAED95DA96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841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1960s–1970s: Birth of High-Level Programming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1960s</a:t>
            </a:r>
            <a:r>
              <a:rPr lang="en-GB" dirty="0"/>
              <a:t>: The advent of high-level languages like </a:t>
            </a:r>
            <a:r>
              <a:rPr lang="en-GB" b="1" dirty="0"/>
              <a:t>FORTRAN</a:t>
            </a:r>
            <a:r>
              <a:rPr lang="en-GB" dirty="0"/>
              <a:t> and </a:t>
            </a:r>
            <a:r>
              <a:rPr lang="en-GB" b="1" dirty="0"/>
              <a:t>COBOL</a:t>
            </a:r>
            <a:r>
              <a:rPr lang="en-GB" dirty="0"/>
              <a:t> marked a significant shift from machine code and assembly languages. FORTRAN facilitated scientific computing, while COBOL was tailored for business applications.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1970s</a:t>
            </a:r>
            <a:r>
              <a:rPr lang="en-GB" dirty="0"/>
              <a:t>: The introduction of </a:t>
            </a:r>
            <a:r>
              <a:rPr lang="en-GB" b="1" dirty="0"/>
              <a:t>C</a:t>
            </a:r>
            <a:r>
              <a:rPr lang="en-GB" dirty="0"/>
              <a:t> and </a:t>
            </a:r>
            <a:r>
              <a:rPr lang="en-GB" b="1" dirty="0"/>
              <a:t>Pascal</a:t>
            </a:r>
            <a:r>
              <a:rPr lang="en-GB" dirty="0"/>
              <a:t> brought structured programming paradigms, emphasizing readability and maintainability.</a:t>
            </a:r>
          </a:p>
          <a:p>
            <a:r>
              <a:rPr lang="en-GB" b="1" dirty="0"/>
              <a:t>💻 1980s–1990s: Object-Oriented Programming and the Rise of the Web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1980s</a:t>
            </a:r>
            <a:r>
              <a:rPr lang="en-GB" dirty="0"/>
              <a:t>: Object-Oriented Programming (OOP) gained prominence with languages like </a:t>
            </a:r>
            <a:r>
              <a:rPr lang="en-GB" b="1" dirty="0"/>
              <a:t>C++</a:t>
            </a:r>
            <a:r>
              <a:rPr lang="en-GB" dirty="0"/>
              <a:t> and </a:t>
            </a:r>
            <a:r>
              <a:rPr lang="en-GB" b="1" dirty="0"/>
              <a:t>Smalltalk</a:t>
            </a:r>
            <a:r>
              <a:rPr lang="en-GB" dirty="0"/>
              <a:t>, promoting code reuse and modularity.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1990s</a:t>
            </a:r>
            <a:r>
              <a:rPr lang="en-GB" dirty="0"/>
              <a:t>: The emergence of the World Wide Web led to the popularity of </a:t>
            </a:r>
            <a:r>
              <a:rPr lang="en-GB" b="1" dirty="0"/>
              <a:t>JavaScript</a:t>
            </a:r>
            <a:r>
              <a:rPr lang="en-GB" dirty="0"/>
              <a:t> for client-side scripting and </a:t>
            </a:r>
            <a:r>
              <a:rPr lang="en-GB" b="1" dirty="0"/>
              <a:t>Java</a:t>
            </a:r>
            <a:r>
              <a:rPr lang="en-GB" dirty="0"/>
              <a:t> for server-side applications, emphasizing portability and scalability.</a:t>
            </a:r>
          </a:p>
          <a:p>
            <a:r>
              <a:rPr lang="en-GB" b="1" dirty="0"/>
              <a:t>🌐 2000s–2010s: Dynamic Languages and Open Source Movement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2000s</a:t>
            </a:r>
            <a:r>
              <a:rPr lang="en-GB" dirty="0"/>
              <a:t>: Languages like </a:t>
            </a:r>
            <a:r>
              <a:rPr lang="en-GB" b="1" dirty="0"/>
              <a:t>Python</a:t>
            </a:r>
            <a:r>
              <a:rPr lang="en-GB" dirty="0"/>
              <a:t>, </a:t>
            </a:r>
            <a:r>
              <a:rPr lang="en-GB" b="1" dirty="0"/>
              <a:t>Ruby</a:t>
            </a:r>
            <a:r>
              <a:rPr lang="en-GB" dirty="0"/>
              <a:t>, and </a:t>
            </a:r>
            <a:r>
              <a:rPr lang="en-GB" b="1" dirty="0"/>
              <a:t>PHP</a:t>
            </a:r>
            <a:r>
              <a:rPr lang="en-GB" dirty="0"/>
              <a:t> gained traction due to their simplicity and effectiveness in web development. The open-source movement flourished, with communities contributing to the growth of these languages.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2010s</a:t>
            </a:r>
            <a:r>
              <a:rPr lang="en-GB" dirty="0"/>
              <a:t>: </a:t>
            </a:r>
            <a:r>
              <a:rPr lang="en-GB" b="1" dirty="0"/>
              <a:t>JavaScript</a:t>
            </a:r>
            <a:r>
              <a:rPr lang="en-GB" dirty="0"/>
              <a:t> solidified its dominance with frameworks like React and Node.js, enabling full-stack development. </a:t>
            </a:r>
            <a:r>
              <a:rPr lang="en-GB" b="1" dirty="0"/>
              <a:t>Go</a:t>
            </a:r>
            <a:r>
              <a:rPr lang="en-GB" dirty="0"/>
              <a:t> and </a:t>
            </a:r>
            <a:r>
              <a:rPr lang="en-GB" b="1" dirty="0"/>
              <a:t>Rust</a:t>
            </a:r>
            <a:r>
              <a:rPr lang="en-GB" dirty="0"/>
              <a:t> emerged, focusing on performance and concurrency.</a:t>
            </a:r>
          </a:p>
          <a:p>
            <a:r>
              <a:rPr lang="en-GB" b="1" dirty="0"/>
              <a:t>🤖 2020s: AI Integration and Natural Language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2020s</a:t>
            </a:r>
            <a:r>
              <a:rPr lang="en-GB" dirty="0"/>
              <a:t>: The integration of Artificial Intelligence (AI) into programming tools became more prevalent. For instance, GitHub </a:t>
            </a:r>
            <a:r>
              <a:rPr lang="en-GB" dirty="0" err="1"/>
              <a:t>Copilot</a:t>
            </a:r>
            <a:r>
              <a:rPr lang="en-GB" dirty="0"/>
              <a:t>, powered by </a:t>
            </a:r>
            <a:r>
              <a:rPr lang="en-GB" dirty="0" err="1"/>
              <a:t>OpenAI's</a:t>
            </a:r>
            <a:r>
              <a:rPr lang="en-GB" dirty="0"/>
              <a:t> Codex, assists developers by suggesting code snippets.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Nvidia CEO Jensen Huang</a:t>
            </a:r>
            <a:r>
              <a:rPr lang="en-GB" dirty="0"/>
              <a:t> highlighted the transformative impact of AI on computing, emphasizing that AI simplifies interaction with technology by enabling programming through natural human language rather than traditional coding languages.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F5541-34CD-4406-9EC3-DAED95DA96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3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5DBA9-4BCF-2A49-AD3B-68080B7EC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56E6B-3F0A-2847-8748-AEAA5CC869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184E6-ACC6-D74D-A1E5-81EF12216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0DCF5-C9D0-B645-841F-8E8902241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1D22B-CF9D-2248-933A-BB3148CC4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7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232F-5CC4-444B-B26B-1ADEBC3DC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A18D1-F052-F345-ABF3-C092B8E3A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D1333-C3BC-DA45-90C4-4995F2BD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09C7E-B27A-6445-9776-21E70953D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631F-5DC0-7A49-B5D4-21A1F1CCD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29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718C7-CC53-D04A-9B29-A5763958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2A9EC-4873-C642-8055-8BC4D3628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C017C2-F4AB-4B48-A103-46E387B2A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96129-BF76-554D-9AF9-7305969E4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9DD0E-F7E0-314C-8956-6052C39D0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741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5496-0B05-7348-AC1F-8D57597A4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23ACD-349B-3D43-8C22-37EC2E203C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4841-171E-9F4A-829C-F10768A94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86E569-2735-7C4A-951D-B0EB26435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004D3-6C5C-3A44-A6AC-D162BA5F8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72A981-554E-5E48-8ED7-5B0502A87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356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1F6F3-3C00-CB47-8F87-944F8A09B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AFE93-CEF6-5B4A-AD4D-FCDF7C803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2A8F14-8B49-7147-B8AC-ECEB031154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97996-EF01-C648-9012-0397752D8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76A937-CC1A-364E-B781-586636E42C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888F7F-7BB7-3147-9003-6873EED66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8C3893-7FE4-EB45-84DC-DD645DF57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4CACE3-5C2A-C94F-8A58-F853562C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418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D4928-B81D-E845-B66F-82BF1AB15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1380AD-6323-E043-B02A-B58F20F87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33A4E-8AE4-4442-95EE-1D7E9B384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F191D3-2EAA-BA40-A51F-D5133DEC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2377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2F8466-586C-0844-A79D-A050C1B92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6D9F46-EF71-7E44-A931-7796933E0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6567-CE99-8643-833F-EE39378C9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87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D150D3-BB2D-A144-8A72-5BC0E90D8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EFB31-C30C-5F4C-A980-657CE88EA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1DE8DE-B420-0345-97C5-0F7742764E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077D26-16C5-7B42-9693-0FDC2E4F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B434C-E893-C945-8B53-35F808E70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75A58-401E-0242-9967-61BAB9B79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9277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03A69-C5A7-5D42-A809-23A9BDE1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E59E14-2FE0-F440-BA3A-4C70DBB80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DA0E8-4236-034E-A0E6-7D1CD55C2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F1ACE7-F086-AD4E-8C99-488AB62D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E0E3-0AC3-B346-A390-F3F0232B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2DEAD2-8BC5-2741-A514-222FD8D4C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977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A8A98-62F7-0F4F-A090-B8A174B2C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8DCC3C-E4B7-D445-81EB-C3BE5262D3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8DA55-21A0-7C44-B00B-248EDDB9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6E902-C7C2-DD43-81DF-40FA01B36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89645-35FA-9345-8B41-31C5EF7E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8520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CCBDCB-9427-FA4F-8FAA-7E4B9CDE69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9B89BA-A391-8C4B-9F7E-0E6EC6353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617FF-EF57-7C4D-99A1-1B6B791A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75C67-6C0E-8D4E-918D-1E80CA69A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B67B2-4A06-4349-8908-DD60C4872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5481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BAFCC4-A7EC-3245-815C-7D9D14537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58EB8D-9756-9C44-8F69-4BC4B51394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4F12E-659A-4840-9F00-405CFCB0F5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A72BE-E4B3-8B49-A49F-214F9F16323C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383F4-AEFA-884E-91F7-1381408A2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8B5556-1C19-AC41-B41B-38BD4489BA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51459-7DE1-134A-B7CA-C4543419534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0941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xOW3Cehg_qg?feature=oembed" TargetMode="Externa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hub.blog/news-insights/octoverse/octoverse-2024/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medium.com/datadriveninvestor/top-6-data-science-programming-languages-for-2019-39ba1b6819a8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tackshare.io/stackups/javascript-vs-python-vs-r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share.io/stackups/javascript-vs-python-vs-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722D2-516D-3344-B4FC-0A263A4C3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sz="4800" dirty="0">
                <a:latin typeface="Helvetica Light" panose="020B0403020202020204" pitchFamily="34" charset="0"/>
              </a:rPr>
              <a:t>Object Oriented Programming (OOP)</a:t>
            </a:r>
            <a:br>
              <a:rPr lang="en-GB" sz="4800" dirty="0">
                <a:latin typeface="Helvetica Light" panose="020B0403020202020204" pitchFamily="34" charset="0"/>
              </a:rPr>
            </a:br>
            <a:r>
              <a:rPr lang="en-GB" sz="4800" dirty="0">
                <a:latin typeface="Helvetica Light" panose="020B0403020202020204" pitchFamily="34" charset="0"/>
              </a:rPr>
              <a:t>and</a:t>
            </a:r>
            <a:br>
              <a:rPr lang="en-GB" sz="4800" dirty="0">
                <a:latin typeface="Helvetica Light" panose="020B0403020202020204" pitchFamily="34" charset="0"/>
              </a:rPr>
            </a:br>
            <a:r>
              <a:rPr lang="en-GB" sz="4800" dirty="0">
                <a:latin typeface="Helvetica Light" panose="020B0403020202020204" pitchFamily="34" charset="0"/>
              </a:rPr>
              <a:t>Programming Languages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9AFDBB-C866-C444-8530-E14C8B1396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sz="3200" dirty="0">
              <a:latin typeface="Helvetica Light" panose="020B0403020202020204" pitchFamily="34" charset="0"/>
            </a:endParaRPr>
          </a:p>
          <a:p>
            <a:r>
              <a:rPr lang="en-GB" sz="3200" dirty="0">
                <a:latin typeface="Helvetica Light"/>
              </a:rPr>
              <a:t>Data Science Week 1</a:t>
            </a:r>
          </a:p>
        </p:txBody>
      </p:sp>
    </p:spTree>
    <p:extLst>
      <p:ext uri="{BB962C8B-B14F-4D97-AF65-F5344CB8AC3E}">
        <p14:creationId xmlns:p14="http://schemas.microsoft.com/office/powerpoint/2010/main" val="8203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8C0C-CC46-08D1-4AA0-8D4832549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28" y="106333"/>
            <a:ext cx="10515600" cy="1325563"/>
          </a:xfrm>
        </p:spPr>
        <p:txBody>
          <a:bodyPr/>
          <a:lstStyle/>
          <a:p>
            <a:r>
              <a:rPr lang="en-GB" dirty="0">
                <a:ea typeface="Calibri Light"/>
                <a:cs typeface="Calibri Light"/>
              </a:rPr>
              <a:t>We've come along way...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89791D-1317-E239-AA4B-E50DE4725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425962"/>
            <a:ext cx="5600700" cy="4229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8620826-3645-8C00-8EC7-CB2460992985}"/>
              </a:ext>
            </a:extLst>
          </p:cNvPr>
          <p:cNvSpPr txBox="1"/>
          <p:nvPr/>
        </p:nvSpPr>
        <p:spPr>
          <a:xfrm>
            <a:off x="459409" y="5755888"/>
            <a:ext cx="4842294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Univac I - First American Commercial Computer</a:t>
            </a:r>
            <a:endParaRPr lang="en-US" dirty="0"/>
          </a:p>
          <a:p>
            <a:r>
              <a:rPr lang="en-US" dirty="0">
                <a:ea typeface="Calibri"/>
                <a:cs typeface="Calibri"/>
              </a:rPr>
              <a:t>Used magnetic tape and punch cards for code</a:t>
            </a: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7410D5-3B54-E535-02B5-5EE3C6CF9C1D}"/>
              </a:ext>
            </a:extLst>
          </p:cNvPr>
          <p:cNvSpPr txBox="1"/>
          <p:nvPr/>
        </p:nvSpPr>
        <p:spPr>
          <a:xfrm>
            <a:off x="247886" y="1397948"/>
            <a:ext cx="28211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ea typeface="Calibri"/>
                <a:cs typeface="Calibri"/>
              </a:rPr>
              <a:t>1952</a:t>
            </a:r>
            <a:endParaRPr lang="en-GB" sz="4000" dirty="0">
              <a:solidFill>
                <a:schemeClr val="bg1"/>
              </a:solidFill>
            </a:endParaRPr>
          </a:p>
        </p:txBody>
      </p:sp>
      <p:pic>
        <p:nvPicPr>
          <p:cNvPr id="7" name="Picture 6" descr="HP's 2025 PC Lineup: New CPUs And GPUs Showcased In Updates Galore">
            <a:extLst>
              <a:ext uri="{FF2B5EF4-FFF2-40B4-BE49-F238E27FC236}">
                <a16:creationId xmlns:a16="http://schemas.microsoft.com/office/drawing/2014/main" id="{C4890302-172D-D07B-C904-A4AC151E7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230" y="1423056"/>
            <a:ext cx="6071557" cy="42347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D1C20-86A8-80F8-DB3A-8B3F7DD407B9}"/>
              </a:ext>
            </a:extLst>
          </p:cNvPr>
          <p:cNvSpPr txBox="1"/>
          <p:nvPr/>
        </p:nvSpPr>
        <p:spPr>
          <a:xfrm>
            <a:off x="6591352" y="5755887"/>
            <a:ext cx="484229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ea typeface="Calibri"/>
                <a:cs typeface="Calibri"/>
              </a:rPr>
              <a:t>Standard work PC  – A 2019 estimate puts </a:t>
            </a:r>
            <a:r>
              <a:rPr lang="en-US" dirty="0" err="1">
                <a:ea typeface="Calibri"/>
                <a:cs typeface="Calibri"/>
              </a:rPr>
              <a:t>aprox</a:t>
            </a:r>
            <a:r>
              <a:rPr lang="en-US" dirty="0">
                <a:ea typeface="Calibri"/>
                <a:cs typeface="Calibri"/>
              </a:rPr>
              <a:t>. 2 billion (desktops, servers and laptops) globally (</a:t>
            </a:r>
            <a:r>
              <a:rPr lang="en-US" dirty="0">
                <a:ea typeface="+mn-lt"/>
                <a:cs typeface="+mn-lt"/>
              </a:rPr>
              <a:t>https://www.scmo.net/)</a:t>
            </a:r>
            <a:endParaRPr lang="en-US" dirty="0"/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854CDE-BBE9-0DE4-5FF4-8255C02C97D0}"/>
              </a:ext>
            </a:extLst>
          </p:cNvPr>
          <p:cNvSpPr txBox="1"/>
          <p:nvPr/>
        </p:nvSpPr>
        <p:spPr>
          <a:xfrm>
            <a:off x="10189829" y="1426702"/>
            <a:ext cx="282111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4000" dirty="0">
                <a:solidFill>
                  <a:schemeClr val="bg1"/>
                </a:solidFill>
                <a:ea typeface="Calibri"/>
                <a:cs typeface="Calibri"/>
              </a:rPr>
              <a:t>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967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Most Popular Programming Languages - 1965/2024">
            <a:hlinkClick r:id="" action="ppaction://noaction"/>
            <a:extLst>
              <a:ext uri="{FF2B5EF4-FFF2-40B4-BE49-F238E27FC236}">
                <a16:creationId xmlns:a16="http://schemas.microsoft.com/office/drawing/2014/main" id="{A36B01CC-9A79-BF19-3A0A-2E7C03F1FD8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241425" y="685800"/>
            <a:ext cx="9710738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77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4" descr="Differences Between Procedural &amp; Object Oriented Programming">
            <a:extLst>
              <a:ext uri="{FF2B5EF4-FFF2-40B4-BE49-F238E27FC236}">
                <a16:creationId xmlns:a16="http://schemas.microsoft.com/office/drawing/2014/main" id="{9EB0A9B2-FB87-4983-B97E-9FB6F37E73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44E8F6-A09B-4961-B85A-E60B06527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4290"/>
            <a:ext cx="12192000" cy="566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49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object oriented programming class">
            <a:extLst>
              <a:ext uri="{FF2B5EF4-FFF2-40B4-BE49-F238E27FC236}">
                <a16:creationId xmlns:a16="http://schemas.microsoft.com/office/drawing/2014/main" id="{6F9D8F27-2AE7-7E43-8315-C4189A6F9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790222" y="643466"/>
            <a:ext cx="10611556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3701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5B3DC8A-41BE-8B44-876F-DADAB09136AB}"/>
              </a:ext>
            </a:extLst>
          </p:cNvPr>
          <p:cNvSpPr txBox="1"/>
          <p:nvPr/>
        </p:nvSpPr>
        <p:spPr>
          <a:xfrm>
            <a:off x="1999438" y="6340145"/>
            <a:ext cx="8846781" cy="33855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GB" sz="1600" dirty="0">
                <a:ea typeface="+mn-lt"/>
                <a:cs typeface="+mn-lt"/>
                <a:hlinkClick r:id="rId2"/>
              </a:rPr>
              <a:t>Octoverse: AI leads Python to top language as the number of global developers surges - The GitHub Blog</a:t>
            </a:r>
            <a:endParaRPr lang="en-US"/>
          </a:p>
        </p:txBody>
      </p:sp>
      <p:pic>
        <p:nvPicPr>
          <p:cNvPr id="2" name="Picture 1" descr="Graph from GitHub's Octoverse 2024 report showing the top programming languages from 2014-2024. In 2024, the top languages include Python (1), JavaScript (2), TypeScript (3), Java (4), C# (5), C++ (6), PHP (7), Shell (8), C (9), and Go (10).">
            <a:extLst>
              <a:ext uri="{FF2B5EF4-FFF2-40B4-BE49-F238E27FC236}">
                <a16:creationId xmlns:a16="http://schemas.microsoft.com/office/drawing/2014/main" id="{4EA149AD-2020-60C7-F49F-29870B8AC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0504" y="179717"/>
            <a:ext cx="6096000" cy="614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02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FFC966D-E8A4-184D-99D7-B48900A63E51}"/>
              </a:ext>
            </a:extLst>
          </p:cNvPr>
          <p:cNvSpPr txBox="1"/>
          <p:nvPr/>
        </p:nvSpPr>
        <p:spPr>
          <a:xfrm>
            <a:off x="1781148" y="6369524"/>
            <a:ext cx="10206640" cy="2797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Helvetica Light" panose="020B0403020202020204" pitchFamily="34" charset="0"/>
                <a:hlinkClick r:id="rId2"/>
              </a:rPr>
              <a:t>https://medium.com/datadriveninvestor/top-6-data-science-programming-languages-for-2019-39ba1b6819a8</a:t>
            </a:r>
            <a:endParaRPr lang="en-GB" sz="1600" dirty="0">
              <a:latin typeface="Helvetica Light" panose="020B0403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47E0D2-A7FF-9F4F-B7F1-39CD8E2793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57984" y="790602"/>
            <a:ext cx="10076033" cy="5276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422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633E42A-24EC-C94A-B93E-369A8894F87D}"/>
              </a:ext>
            </a:extLst>
          </p:cNvPr>
          <p:cNvSpPr txBox="1"/>
          <p:nvPr/>
        </p:nvSpPr>
        <p:spPr>
          <a:xfrm>
            <a:off x="2009353" y="3092921"/>
            <a:ext cx="8168308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800" dirty="0">
                <a:latin typeface="Helvetica Light"/>
                <a:hlinkClick r:id="rId2"/>
              </a:rPr>
              <a:t>https://stackshare.io/stackups/javascript-vs-python-vs-r</a:t>
            </a:r>
            <a:endParaRPr lang="en-GB" sz="2800" dirty="0">
              <a:latin typeface="Helvetica Light" panose="020B0403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511F16-8226-17F5-DCD6-85A0CF3A0F9E}"/>
              </a:ext>
            </a:extLst>
          </p:cNvPr>
          <p:cNvSpPr txBox="1"/>
          <p:nvPr/>
        </p:nvSpPr>
        <p:spPr>
          <a:xfrm>
            <a:off x="337089" y="1006942"/>
            <a:ext cx="721996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200" dirty="0">
                <a:ea typeface="Calibri"/>
                <a:cs typeface="Calibri"/>
              </a:rPr>
              <a:t>Ok....so what does R have going for it?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937899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90684" y="6488668"/>
            <a:ext cx="11897032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GB" dirty="0">
                <a:ea typeface="+mn-lt"/>
                <a:cs typeface="+mn-lt"/>
              </a:rPr>
              <a:t>https://redmonk.com/sogrady/2025/06/18/language-rankings-1-25/</a:t>
            </a:r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0001B-FD9A-433A-7328-61D04491D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657" y="107829"/>
            <a:ext cx="7743782" cy="638354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281822" y="776007"/>
            <a:ext cx="393291" cy="40312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4344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900F03-4DCC-6849-AE4C-86FDCF6C3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750" y="984250"/>
            <a:ext cx="10350500" cy="4889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33664FA-6EF3-3443-B3EE-180F2E904473}"/>
              </a:ext>
            </a:extLst>
          </p:cNvPr>
          <p:cNvSpPr txBox="1"/>
          <p:nvPr/>
        </p:nvSpPr>
        <p:spPr>
          <a:xfrm>
            <a:off x="6710362" y="6340145"/>
            <a:ext cx="52517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Helvetica Light" panose="020B0403020202020204" pitchFamily="34" charset="0"/>
                <a:hlinkClick r:id="rId3"/>
              </a:rPr>
              <a:t>https://stackshare.io/stackups/javascript-vs-python-vs-r</a:t>
            </a:r>
            <a:endParaRPr lang="en-GB" sz="1600" dirty="0"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04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how to choose a programming language">
            <a:extLst>
              <a:ext uri="{FF2B5EF4-FFF2-40B4-BE49-F238E27FC236}">
                <a16:creationId xmlns:a16="http://schemas.microsoft.com/office/drawing/2014/main" id="{D03D66F1-1D05-164E-8DF7-572A301E6E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50000"/>
          <a:stretch/>
        </p:blipFill>
        <p:spPr bwMode="auto">
          <a:xfrm>
            <a:off x="1690667" y="996366"/>
            <a:ext cx="8807378" cy="486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9109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4">
            <a:extLst>
              <a:ext uri="{FF2B5EF4-FFF2-40B4-BE49-F238E27FC236}">
                <a16:creationId xmlns:a16="http://schemas.microsoft.com/office/drawing/2014/main" id="{D798D072-A2A8-CC49-970D-0C07E2A2A98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>
                <a:latin typeface="Helvetica Light" panose="020B0403020202020204" pitchFamily="34" charset="0"/>
              </a:rPr>
              <a:t>Guess the programming language?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1D7BA-B2D2-5441-A673-CC78AE9F248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67" y="1675056"/>
            <a:ext cx="5291667" cy="433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90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CC48C4F-2BD2-C443-A5C9-E99643B0865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0167" y="1342814"/>
            <a:ext cx="5291666" cy="4643437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D798D072-A2A8-CC49-970D-0C07E2A2A983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3600" dirty="0">
                <a:latin typeface="Helvetica Light" panose="020B0403020202020204" pitchFamily="34" charset="0"/>
              </a:rPr>
              <a:t>Guess the programming language?</a:t>
            </a:r>
          </a:p>
        </p:txBody>
      </p:sp>
    </p:spTree>
    <p:extLst>
      <p:ext uri="{BB962C8B-B14F-4D97-AF65-F5344CB8AC3E}">
        <p14:creationId xmlns:p14="http://schemas.microsoft.com/office/powerpoint/2010/main" val="35287646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82D0C3-04B3-8411-0169-71F3643AA5B5}"/>
              </a:ext>
            </a:extLst>
          </p:cNvPr>
          <p:cNvSpPr txBox="1"/>
          <p:nvPr/>
        </p:nvSpPr>
        <p:spPr>
          <a:xfrm>
            <a:off x="819323" y="263454"/>
            <a:ext cx="10555280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4400" dirty="0">
                <a:latin typeface="Impact"/>
                <a:ea typeface="Calibri"/>
                <a:cs typeface="Calibri"/>
              </a:rPr>
              <a:t>OK, NOW LET'S GET STARTED AND PRACTICE SOME OOP!</a:t>
            </a:r>
            <a:endParaRPr lang="en-GB" sz="4400">
              <a:latin typeface="Impac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DFA7F2-3AF6-9749-F6C8-D55047C824CC}"/>
              </a:ext>
            </a:extLst>
          </p:cNvPr>
          <p:cNvSpPr txBox="1"/>
          <p:nvPr/>
        </p:nvSpPr>
        <p:spPr>
          <a:xfrm>
            <a:off x="1769954" y="2525329"/>
            <a:ext cx="865587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dirty="0">
                <a:ea typeface="Calibri"/>
                <a:cs typeface="Calibri"/>
              </a:rPr>
              <a:t>Login to </a:t>
            </a:r>
            <a:r>
              <a:rPr lang="en-GB" sz="2800" err="1">
                <a:ea typeface="Calibri"/>
                <a:cs typeface="Calibri"/>
              </a:rPr>
              <a:t>Github</a:t>
            </a:r>
            <a:r>
              <a:rPr lang="en-GB" sz="2800" dirty="0">
                <a:ea typeface="Calibri"/>
                <a:cs typeface="Calibri"/>
              </a:rPr>
              <a:t> – and access the refresher script in weekly materials / week 1</a:t>
            </a:r>
            <a:endParaRPr lang="en-US">
              <a:ea typeface="Calibri"/>
              <a:cs typeface="Calibri"/>
            </a:endParaRPr>
          </a:p>
          <a:p>
            <a:pPr algn="ctr"/>
            <a:endParaRPr lang="en-GB" sz="2800" dirty="0">
              <a:ea typeface="Calibri"/>
              <a:cs typeface="Calibri"/>
            </a:endParaRPr>
          </a:p>
          <a:p>
            <a:pPr algn="ctr"/>
            <a:endParaRPr lang="en-GB" sz="2800" dirty="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4551C6-4BC3-5FCB-9A51-5123B7278D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32" t="3188" r="6118" b="4384"/>
          <a:stretch>
            <a:fillRect/>
          </a:stretch>
        </p:blipFill>
        <p:spPr>
          <a:xfrm>
            <a:off x="8531379" y="3433227"/>
            <a:ext cx="3108821" cy="31805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310184-08A0-E299-E4B1-0C63F9AD9147}"/>
              </a:ext>
            </a:extLst>
          </p:cNvPr>
          <p:cNvSpPr txBox="1"/>
          <p:nvPr/>
        </p:nvSpPr>
        <p:spPr>
          <a:xfrm>
            <a:off x="238451" y="4158784"/>
            <a:ext cx="6214525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latin typeface="Impact"/>
                <a:ea typeface="Calibri"/>
                <a:cs typeface="Calibri"/>
              </a:rPr>
              <a:t>FLIPPED CLASSROOM</a:t>
            </a:r>
          </a:p>
          <a:p>
            <a:endParaRPr lang="en-GB" dirty="0">
              <a:ea typeface="Calibri"/>
              <a:cs typeface="Calibri"/>
            </a:endParaRPr>
          </a:p>
          <a:p>
            <a:r>
              <a:rPr lang="en-GB" dirty="0">
                <a:ea typeface="Calibri"/>
                <a:cs typeface="Calibri"/>
              </a:rPr>
              <a:t>This refresher is based around the material covered by the coding club tutorials and data camp material set before class</a:t>
            </a:r>
          </a:p>
          <a:p>
            <a:endParaRPr lang="en-GB" dirty="0">
              <a:ea typeface="Calibri"/>
              <a:cs typeface="Calibri"/>
            </a:endParaRPr>
          </a:p>
          <a:p>
            <a:r>
              <a:rPr lang="en-GB" dirty="0">
                <a:ea typeface="Calibri"/>
                <a:cs typeface="Calibri"/>
              </a:rPr>
              <a:t>Feel free to look back over the materials or ask the teaching teach to help,  and remember...Train your brain!</a:t>
            </a:r>
          </a:p>
        </p:txBody>
      </p:sp>
    </p:spTree>
    <p:extLst>
      <p:ext uri="{BB962C8B-B14F-4D97-AF65-F5344CB8AC3E}">
        <p14:creationId xmlns:p14="http://schemas.microsoft.com/office/powerpoint/2010/main" val="131402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5C80FE8CBF1C418C1EA8E354CDF6AD" ma:contentTypeVersion="13" ma:contentTypeDescription="Create a new document." ma:contentTypeScope="" ma:versionID="fd814c42cfd542d4d6041ab1759b0510">
  <xsd:schema xmlns:xsd="http://www.w3.org/2001/XMLSchema" xmlns:xs="http://www.w3.org/2001/XMLSchema" xmlns:p="http://schemas.microsoft.com/office/2006/metadata/properties" xmlns:ns2="eac188de-e11d-479e-9328-cd32a563e33c" xmlns:ns3="bc3dee9d-47a0-41a4-b904-722df4dca603" targetNamespace="http://schemas.microsoft.com/office/2006/metadata/properties" ma:root="true" ma:fieldsID="6c54bc9aab7a222bdd18618fb709275b" ns2:_="" ns3:_="">
    <xsd:import namespace="eac188de-e11d-479e-9328-cd32a563e33c"/>
    <xsd:import namespace="bc3dee9d-47a0-41a4-b904-722df4dca60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c188de-e11d-479e-9328-cd32a563e33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d54eff52-6b6d-4e5f-a3b0-187f185b1db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3dee9d-47a0-41a4-b904-722df4dca603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ba1db868-5bb5-4216-a6b8-9dce41e521cb}" ma:internalName="TaxCatchAll" ma:showField="CatchAllData" ma:web="bc3dee9d-47a0-41a4-b904-722df4dca60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c188de-e11d-479e-9328-cd32a563e33c">
      <Terms xmlns="http://schemas.microsoft.com/office/infopath/2007/PartnerControls"/>
    </lcf76f155ced4ddcb4097134ff3c332f>
    <TaxCatchAll xmlns="bc3dee9d-47a0-41a4-b904-722df4dca603" xsi:nil="true"/>
  </documentManagement>
</p:properties>
</file>

<file path=customXml/itemProps1.xml><?xml version="1.0" encoding="utf-8"?>
<ds:datastoreItem xmlns:ds="http://schemas.openxmlformats.org/officeDocument/2006/customXml" ds:itemID="{0962863B-51E2-4FD0-8507-5F36AE4DDB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EBA26B-8695-4E99-9406-3CCBF79380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c188de-e11d-479e-9328-cd32a563e33c"/>
    <ds:schemaRef ds:uri="bc3dee9d-47a0-41a4-b904-722df4dca60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4A2714F-E782-415E-B71F-1FE96312C627}">
  <ds:schemaRefs>
    <ds:schemaRef ds:uri="http://schemas.microsoft.com/office/2006/metadata/properties"/>
    <ds:schemaRef ds:uri="http://schemas.microsoft.com/office/infopath/2007/PartnerControls"/>
    <ds:schemaRef ds:uri="eac188de-e11d-479e-9328-cd32a563e33c"/>
    <ds:schemaRef ds:uri="bc3dee9d-47a0-41a4-b904-722df4dca6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498</Words>
  <Application>Microsoft Office PowerPoint</Application>
  <PresentationFormat>Widescreen</PresentationFormat>
  <Paragraphs>37</Paragraphs>
  <Slides>14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Helvetica Light</vt:lpstr>
      <vt:lpstr>Impact</vt:lpstr>
      <vt:lpstr>Office Theme</vt:lpstr>
      <vt:lpstr>Object Oriented Programming (OOP) and Programming Languages</vt:lpstr>
      <vt:lpstr>We've come along way...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Programming and Programming Languages</dc:title>
  <dc:creator>Isla Myers-Smith</dc:creator>
  <cp:lastModifiedBy>James Watt</cp:lastModifiedBy>
  <cp:revision>206</cp:revision>
  <cp:lastPrinted>2019-10-04T15:49:41Z</cp:lastPrinted>
  <dcterms:created xsi:type="dcterms:W3CDTF">2019-10-03T09:26:55Z</dcterms:created>
  <dcterms:modified xsi:type="dcterms:W3CDTF">2025-09-19T12:39:30Z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0x0101004D5C80FE8CBF1C418C1EA8E354CDF6AD</vt:lpwstr>
  </property>
  <property fmtid="{D5CDD505-2E9C-101B-9397-08002B2CF9AE}" pid="3" name="Order">
    <vt:r8>1800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  <property fmtid="{D5CDD505-2E9C-101B-9397-08002B2CF9AE}" pid="12" name="MediaServiceImageTags">
    <vt:lpwstr/>
  </property>
</Properties>
</file>